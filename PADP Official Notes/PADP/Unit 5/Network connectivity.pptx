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5"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CCDDDF-8660-4F29-BF2A-40216294D3E3}" type="datetimeFigureOut">
              <a:rPr lang="en-IN" smtClean="0"/>
              <a:t>02-05-2021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3774426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CCDDDF-8660-4F29-BF2A-40216294D3E3}" type="datetimeFigureOut">
              <a:rPr lang="en-IN" smtClean="0"/>
              <a:t>02-05-2021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259396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CCDDDF-8660-4F29-BF2A-40216294D3E3}" type="datetimeFigureOut">
              <a:rPr lang="en-IN" smtClean="0"/>
              <a:t>02-05-2021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1255193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CCDDDF-8660-4F29-BF2A-40216294D3E3}" type="datetimeFigureOut">
              <a:rPr lang="en-IN" smtClean="0"/>
              <a:t>02-05-2021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191644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CCDDDF-8660-4F29-BF2A-40216294D3E3}" type="datetimeFigureOut">
              <a:rPr lang="en-IN" smtClean="0"/>
              <a:t>02-05-2021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1960842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CCDDDF-8660-4F29-BF2A-40216294D3E3}" type="datetimeFigureOut">
              <a:rPr lang="en-IN" smtClean="0"/>
              <a:t>02-05-2021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1703944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CCDDDF-8660-4F29-BF2A-40216294D3E3}" type="datetimeFigureOut">
              <a:rPr lang="en-IN" smtClean="0"/>
              <a:t>02-05-2021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1841652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CCDDDF-8660-4F29-BF2A-40216294D3E3}" type="datetimeFigureOut">
              <a:rPr lang="en-IN" smtClean="0"/>
              <a:t>02-05-2021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3319527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CCDDDF-8660-4F29-BF2A-40216294D3E3}" type="datetimeFigureOut">
              <a:rPr lang="en-IN" smtClean="0"/>
              <a:t>02-05-2021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3621850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CCDDDF-8660-4F29-BF2A-40216294D3E3}" type="datetimeFigureOut">
              <a:rPr lang="en-IN" smtClean="0"/>
              <a:t>02-05-2021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2107239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CCDDDF-8660-4F29-BF2A-40216294D3E3}" type="datetimeFigureOut">
              <a:rPr lang="en-IN" smtClean="0"/>
              <a:t>02-05-2021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2763292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CCDDDF-8660-4F29-BF2A-40216294D3E3}" type="datetimeFigureOut">
              <a:rPr lang="en-IN" smtClean="0"/>
              <a:t>02-05-2021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B0A5AF-D2B4-46F3-A757-6ADDAF488648}"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06838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CCDDDF-8660-4F29-BF2A-40216294D3E3}" type="datetimeFigureOut">
              <a:rPr lang="en-IN" smtClean="0"/>
              <a:t>02-05-2021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29124852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4CCDDDF-8660-4F29-BF2A-40216294D3E3}" type="datetimeFigureOut">
              <a:rPr lang="en-IN" smtClean="0"/>
              <a:t>02-05-2021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790022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4CCDDDF-8660-4F29-BF2A-40216294D3E3}" type="datetimeFigureOut">
              <a:rPr lang="en-IN" smtClean="0"/>
              <a:t>02-05-2021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15024014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CCDDDF-8660-4F29-BF2A-40216294D3E3}" type="datetimeFigureOut">
              <a:rPr lang="en-IN" smtClean="0"/>
              <a:t>02-05-2021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19469544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CCDDDF-8660-4F29-BF2A-40216294D3E3}" type="datetimeFigureOut">
              <a:rPr lang="en-IN" smtClean="0"/>
              <a:t>02-05-2021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B0A5AF-D2B4-46F3-A757-6ADDAF488648}" type="slidenum">
              <a:rPr lang="en-IN" smtClean="0"/>
              <a:t>‹#›</a:t>
            </a:fld>
            <a:endParaRPr lang="en-IN"/>
          </a:p>
        </p:txBody>
      </p:sp>
    </p:spTree>
    <p:extLst>
      <p:ext uri="{BB962C8B-B14F-4D97-AF65-F5344CB8AC3E}">
        <p14:creationId xmlns:p14="http://schemas.microsoft.com/office/powerpoint/2010/main" val="1185796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4CCDDDF-8660-4F29-BF2A-40216294D3E3}" type="datetimeFigureOut">
              <a:rPr lang="en-IN" smtClean="0"/>
              <a:t>02-05-2021</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0B0A5AF-D2B4-46F3-A757-6ADDAF488648}" type="slidenum">
              <a:rPr lang="en-IN" smtClean="0"/>
              <a:t>‹#›</a:t>
            </a:fld>
            <a:endParaRPr lang="en-IN"/>
          </a:p>
        </p:txBody>
      </p:sp>
    </p:spTree>
    <p:extLst>
      <p:ext uri="{BB962C8B-B14F-4D97-AF65-F5344CB8AC3E}">
        <p14:creationId xmlns:p14="http://schemas.microsoft.com/office/powerpoint/2010/main" val="42478062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A5132-C10D-47F5-B4BA-20B9F09798ED}"/>
              </a:ext>
            </a:extLst>
          </p:cNvPr>
          <p:cNvSpPr>
            <a:spLocks noGrp="1"/>
          </p:cNvSpPr>
          <p:nvPr>
            <p:ph type="ctrTitle"/>
          </p:nvPr>
        </p:nvSpPr>
        <p:spPr/>
        <p:txBody>
          <a:bodyPr/>
          <a:lstStyle/>
          <a:p>
            <a:r>
              <a:rPr lang="en-IN" dirty="0"/>
              <a:t>Network connectivity</a:t>
            </a:r>
          </a:p>
        </p:txBody>
      </p:sp>
      <p:sp>
        <p:nvSpPr>
          <p:cNvPr id="3" name="Subtitle 2">
            <a:extLst>
              <a:ext uri="{FF2B5EF4-FFF2-40B4-BE49-F238E27FC236}">
                <a16:creationId xmlns:a16="http://schemas.microsoft.com/office/drawing/2014/main" id="{132D5A17-724B-4E54-A019-BAC86CCBF4F2}"/>
              </a:ext>
            </a:extLst>
          </p:cNvPr>
          <p:cNvSpPr>
            <a:spLocks noGrp="1"/>
          </p:cNvSpPr>
          <p:nvPr>
            <p:ph type="subTitle" idx="1"/>
          </p:nvPr>
        </p:nvSpPr>
        <p:spPr/>
        <p:txBody>
          <a:bodyPr/>
          <a:lstStyle/>
          <a:p>
            <a:r>
              <a:rPr lang="en-IN" dirty="0"/>
              <a:t>Unit 5</a:t>
            </a:r>
          </a:p>
        </p:txBody>
      </p:sp>
    </p:spTree>
    <p:extLst>
      <p:ext uri="{BB962C8B-B14F-4D97-AF65-F5344CB8AC3E}">
        <p14:creationId xmlns:p14="http://schemas.microsoft.com/office/powerpoint/2010/main" val="478762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F1CFC-1F8B-4833-B0F5-7E9400BB00D5}"/>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FD71CC83-B839-4E51-A465-F66817E506CD}"/>
              </a:ext>
            </a:extLst>
          </p:cNvPr>
          <p:cNvSpPr>
            <a:spLocks noGrp="1"/>
          </p:cNvSpPr>
          <p:nvPr>
            <p:ph idx="1"/>
          </p:nvPr>
        </p:nvSpPr>
        <p:spPr/>
        <p:txBody>
          <a:bodyPr/>
          <a:lstStyle/>
          <a:p>
            <a:r>
              <a:rPr lang="en-IN" dirty="0"/>
              <a:t>Python provides two levels of access to network services. At a low level, you can access the basic socket support in the underlying operating system, which allows you to implement clients and servers for both connection-oriented and connectionless protocols.</a:t>
            </a:r>
          </a:p>
          <a:p>
            <a:endParaRPr lang="en-IN" dirty="0"/>
          </a:p>
          <a:p>
            <a:r>
              <a:rPr lang="en-IN" dirty="0"/>
              <a:t>Python also has libraries that provide higher-level access to specific application-level network protocols, such as FTP, HTTP, and so on.</a:t>
            </a:r>
          </a:p>
        </p:txBody>
      </p:sp>
    </p:spTree>
    <p:extLst>
      <p:ext uri="{BB962C8B-B14F-4D97-AF65-F5344CB8AC3E}">
        <p14:creationId xmlns:p14="http://schemas.microsoft.com/office/powerpoint/2010/main" val="2633463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80442-75B7-4992-92FC-59CF859283F1}"/>
              </a:ext>
            </a:extLst>
          </p:cNvPr>
          <p:cNvSpPr>
            <a:spLocks noGrp="1"/>
          </p:cNvSpPr>
          <p:nvPr>
            <p:ph type="title"/>
          </p:nvPr>
        </p:nvSpPr>
        <p:spPr/>
        <p:txBody>
          <a:bodyPr/>
          <a:lstStyle/>
          <a:p>
            <a:r>
              <a:rPr lang="en-IN" dirty="0"/>
              <a:t>What is Socket?</a:t>
            </a:r>
          </a:p>
        </p:txBody>
      </p:sp>
      <p:sp>
        <p:nvSpPr>
          <p:cNvPr id="3" name="Content Placeholder 2">
            <a:extLst>
              <a:ext uri="{FF2B5EF4-FFF2-40B4-BE49-F238E27FC236}">
                <a16:creationId xmlns:a16="http://schemas.microsoft.com/office/drawing/2014/main" id="{7FC428E2-D2BC-4448-9E22-E724C612DB67}"/>
              </a:ext>
            </a:extLst>
          </p:cNvPr>
          <p:cNvSpPr>
            <a:spLocks noGrp="1"/>
          </p:cNvSpPr>
          <p:nvPr>
            <p:ph idx="1"/>
          </p:nvPr>
        </p:nvSpPr>
        <p:spPr/>
        <p:txBody>
          <a:bodyPr/>
          <a:lstStyle/>
          <a:p>
            <a:r>
              <a:rPr lang="en-IN" dirty="0"/>
              <a:t>Sockets are the endpoints of a bidirectional communications channel. Sockets may communicate within a process, between processes on the same machine, or between processes on different continents.</a:t>
            </a:r>
          </a:p>
          <a:p>
            <a:endParaRPr lang="en-IN" dirty="0"/>
          </a:p>
          <a:p>
            <a:r>
              <a:rPr lang="en-IN" dirty="0"/>
              <a:t>Sockets may be implemented over a number of different channel types: Unix domain sockets, TCP, UDP, and so on. The socket library provides specific classes for handling the common transports as well as a generic interface for handling the rest.</a:t>
            </a:r>
          </a:p>
        </p:txBody>
      </p:sp>
    </p:spTree>
    <p:extLst>
      <p:ext uri="{BB962C8B-B14F-4D97-AF65-F5344CB8AC3E}">
        <p14:creationId xmlns:p14="http://schemas.microsoft.com/office/powerpoint/2010/main" val="815790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D180329D-C8C6-4CBC-A514-63FD981B8780}"/>
              </a:ext>
            </a:extLst>
          </p:cNvPr>
          <p:cNvPicPr>
            <a:picLocks noGrp="1" noChangeAspect="1"/>
          </p:cNvPicPr>
          <p:nvPr/>
        </p:nvPicPr>
        <p:blipFill>
          <a:blip r:embed="rId2"/>
          <a:stretch>
            <a:fillRect/>
          </a:stretch>
        </p:blipFill>
        <p:spPr>
          <a:xfrm>
            <a:off x="2619828" y="172721"/>
            <a:ext cx="6952343" cy="6512559"/>
          </a:xfrm>
          <a:prstGeom prst="rect">
            <a:avLst/>
          </a:prstGeom>
        </p:spPr>
      </p:pic>
    </p:spTree>
    <p:extLst>
      <p:ext uri="{BB962C8B-B14F-4D97-AF65-F5344CB8AC3E}">
        <p14:creationId xmlns:p14="http://schemas.microsoft.com/office/powerpoint/2010/main" val="2339118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423DB-CB3B-4618-AD6C-468A07045A29}"/>
              </a:ext>
            </a:extLst>
          </p:cNvPr>
          <p:cNvSpPr>
            <a:spLocks noGrp="1"/>
          </p:cNvSpPr>
          <p:nvPr>
            <p:ph type="title"/>
          </p:nvPr>
        </p:nvSpPr>
        <p:spPr/>
        <p:txBody>
          <a:bodyPr/>
          <a:lstStyle/>
          <a:p>
            <a:r>
              <a:rPr lang="en-IN" dirty="0"/>
              <a:t>The socket Module</a:t>
            </a:r>
          </a:p>
        </p:txBody>
      </p:sp>
      <p:sp>
        <p:nvSpPr>
          <p:cNvPr id="3" name="Content Placeholder 2">
            <a:extLst>
              <a:ext uri="{FF2B5EF4-FFF2-40B4-BE49-F238E27FC236}">
                <a16:creationId xmlns:a16="http://schemas.microsoft.com/office/drawing/2014/main" id="{CA2AE752-913A-489B-9B84-6D2E6FB0C430}"/>
              </a:ext>
            </a:extLst>
          </p:cNvPr>
          <p:cNvSpPr>
            <a:spLocks noGrp="1"/>
          </p:cNvSpPr>
          <p:nvPr>
            <p:ph idx="1"/>
          </p:nvPr>
        </p:nvSpPr>
        <p:spPr>
          <a:xfrm>
            <a:off x="913795" y="2096063"/>
            <a:ext cx="10353762" cy="4410753"/>
          </a:xfrm>
        </p:spPr>
        <p:txBody>
          <a:bodyPr>
            <a:normAutofit fontScale="92500" lnSpcReduction="10000"/>
          </a:bodyPr>
          <a:lstStyle/>
          <a:p>
            <a:r>
              <a:rPr lang="en-IN" dirty="0"/>
              <a:t>To create a socket, you must use the </a:t>
            </a:r>
            <a:r>
              <a:rPr lang="en-IN" dirty="0" err="1"/>
              <a:t>socket.socket</a:t>
            </a:r>
            <a:r>
              <a:rPr lang="en-IN" dirty="0"/>
              <a:t>() function available in socket module, which has the general syntax −</a:t>
            </a:r>
          </a:p>
          <a:p>
            <a:endParaRPr lang="en-IN" dirty="0"/>
          </a:p>
          <a:p>
            <a:endParaRPr lang="en-IN" dirty="0"/>
          </a:p>
          <a:p>
            <a:r>
              <a:rPr lang="en-IN" dirty="0"/>
              <a:t>Here is the description of the parameters −</a:t>
            </a:r>
          </a:p>
          <a:p>
            <a:r>
              <a:rPr lang="en-IN" dirty="0" err="1"/>
              <a:t>socket_family</a:t>
            </a:r>
            <a:r>
              <a:rPr lang="en-IN" dirty="0"/>
              <a:t> − This is either AF_UNIX or AF_INET, as explained earlier.</a:t>
            </a:r>
          </a:p>
          <a:p>
            <a:r>
              <a:rPr lang="en-IN" dirty="0" err="1"/>
              <a:t>socket_type</a:t>
            </a:r>
            <a:r>
              <a:rPr lang="en-IN" dirty="0"/>
              <a:t> − This is either SOCK_STREAM or SOCK_DGRAM.</a:t>
            </a:r>
          </a:p>
          <a:p>
            <a:r>
              <a:rPr lang="en-IN" dirty="0"/>
              <a:t>protocol − This is usually left out, defaulting to 0.</a:t>
            </a:r>
          </a:p>
          <a:p>
            <a:r>
              <a:rPr lang="en-IN" dirty="0"/>
              <a:t>Once you have socket object, then you can use required functions to create your client or server program.</a:t>
            </a:r>
          </a:p>
          <a:p>
            <a:endParaRPr lang="en-IN" dirty="0"/>
          </a:p>
        </p:txBody>
      </p:sp>
      <p:pic>
        <p:nvPicPr>
          <p:cNvPr id="5" name="Picture 4">
            <a:extLst>
              <a:ext uri="{FF2B5EF4-FFF2-40B4-BE49-F238E27FC236}">
                <a16:creationId xmlns:a16="http://schemas.microsoft.com/office/drawing/2014/main" id="{76A51CAB-5FD3-43B9-AED3-AAE8511197BD}"/>
              </a:ext>
            </a:extLst>
          </p:cNvPr>
          <p:cNvPicPr>
            <a:picLocks noChangeAspect="1"/>
          </p:cNvPicPr>
          <p:nvPr/>
        </p:nvPicPr>
        <p:blipFill>
          <a:blip r:embed="rId2"/>
          <a:stretch>
            <a:fillRect/>
          </a:stretch>
        </p:blipFill>
        <p:spPr>
          <a:xfrm>
            <a:off x="1960079" y="3044893"/>
            <a:ext cx="7528497" cy="384107"/>
          </a:xfrm>
          <a:prstGeom prst="rect">
            <a:avLst/>
          </a:prstGeom>
        </p:spPr>
      </p:pic>
    </p:spTree>
    <p:extLst>
      <p:ext uri="{BB962C8B-B14F-4D97-AF65-F5344CB8AC3E}">
        <p14:creationId xmlns:p14="http://schemas.microsoft.com/office/powerpoint/2010/main" val="3669897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55A05-6F79-4AE0-9B40-0CE8EDBDF7E1}"/>
              </a:ext>
            </a:extLst>
          </p:cNvPr>
          <p:cNvSpPr>
            <a:spLocks noGrp="1"/>
          </p:cNvSpPr>
          <p:nvPr>
            <p:ph type="title"/>
          </p:nvPr>
        </p:nvSpPr>
        <p:spPr/>
        <p:txBody>
          <a:bodyPr/>
          <a:lstStyle/>
          <a:p>
            <a:r>
              <a:rPr lang="en-IN" dirty="0"/>
              <a:t>Server Socket Methods</a:t>
            </a:r>
          </a:p>
        </p:txBody>
      </p:sp>
      <p:pic>
        <p:nvPicPr>
          <p:cNvPr id="3" name="Content Placeholder 3">
            <a:extLst>
              <a:ext uri="{FF2B5EF4-FFF2-40B4-BE49-F238E27FC236}">
                <a16:creationId xmlns:a16="http://schemas.microsoft.com/office/drawing/2014/main" id="{E7553E28-3E86-4A73-961C-45690B9BB4CA}"/>
              </a:ext>
            </a:extLst>
          </p:cNvPr>
          <p:cNvPicPr>
            <a:picLocks noGrp="1" noChangeAspect="1"/>
          </p:cNvPicPr>
          <p:nvPr/>
        </p:nvPicPr>
        <p:blipFill>
          <a:blip r:embed="rId2"/>
          <a:stretch>
            <a:fillRect/>
          </a:stretch>
        </p:blipFill>
        <p:spPr>
          <a:xfrm>
            <a:off x="1879048" y="1935921"/>
            <a:ext cx="7877313" cy="4194628"/>
          </a:xfrm>
          <a:prstGeom prst="rect">
            <a:avLst/>
          </a:prstGeom>
        </p:spPr>
      </p:pic>
    </p:spTree>
    <p:extLst>
      <p:ext uri="{BB962C8B-B14F-4D97-AF65-F5344CB8AC3E}">
        <p14:creationId xmlns:p14="http://schemas.microsoft.com/office/powerpoint/2010/main" val="3340800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EFDF8-7BA8-4BE2-AE87-4CE618627CEC}"/>
              </a:ext>
            </a:extLst>
          </p:cNvPr>
          <p:cNvSpPr>
            <a:spLocks noGrp="1"/>
          </p:cNvSpPr>
          <p:nvPr>
            <p:ph type="title"/>
          </p:nvPr>
        </p:nvSpPr>
        <p:spPr/>
        <p:txBody>
          <a:bodyPr/>
          <a:lstStyle/>
          <a:p>
            <a:r>
              <a:rPr lang="en-IN" dirty="0"/>
              <a:t>Client Socket Methods</a:t>
            </a:r>
          </a:p>
        </p:txBody>
      </p:sp>
      <p:pic>
        <p:nvPicPr>
          <p:cNvPr id="3" name="Content Placeholder 5">
            <a:extLst>
              <a:ext uri="{FF2B5EF4-FFF2-40B4-BE49-F238E27FC236}">
                <a16:creationId xmlns:a16="http://schemas.microsoft.com/office/drawing/2014/main" id="{AA3594AB-B119-40A5-84A5-64B538B1D971}"/>
              </a:ext>
            </a:extLst>
          </p:cNvPr>
          <p:cNvPicPr>
            <a:picLocks noGrp="1" noChangeAspect="1"/>
          </p:cNvPicPr>
          <p:nvPr/>
        </p:nvPicPr>
        <p:blipFill>
          <a:blip r:embed="rId2"/>
          <a:stretch>
            <a:fillRect/>
          </a:stretch>
        </p:blipFill>
        <p:spPr>
          <a:xfrm>
            <a:off x="1318838" y="2296716"/>
            <a:ext cx="9554324" cy="2264569"/>
          </a:xfrm>
          <a:prstGeom prst="rect">
            <a:avLst/>
          </a:prstGeom>
        </p:spPr>
      </p:pic>
    </p:spTree>
    <p:extLst>
      <p:ext uri="{BB962C8B-B14F-4D97-AF65-F5344CB8AC3E}">
        <p14:creationId xmlns:p14="http://schemas.microsoft.com/office/powerpoint/2010/main" val="4064980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F68EB3-3803-40FD-B169-6D044ED24D7A}"/>
              </a:ext>
            </a:extLst>
          </p:cNvPr>
          <p:cNvPicPr>
            <a:picLocks noChangeAspect="1"/>
          </p:cNvPicPr>
          <p:nvPr/>
        </p:nvPicPr>
        <p:blipFill>
          <a:blip r:embed="rId2"/>
          <a:stretch>
            <a:fillRect/>
          </a:stretch>
        </p:blipFill>
        <p:spPr>
          <a:xfrm>
            <a:off x="1186748" y="596969"/>
            <a:ext cx="9818503" cy="5233988"/>
          </a:xfrm>
          <a:prstGeom prst="rect">
            <a:avLst/>
          </a:prstGeom>
        </p:spPr>
      </p:pic>
    </p:spTree>
    <p:extLst>
      <p:ext uri="{BB962C8B-B14F-4D97-AF65-F5344CB8AC3E}">
        <p14:creationId xmlns:p14="http://schemas.microsoft.com/office/powerpoint/2010/main" val="1938597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F4C0E-6EA6-4C90-A618-44B8E0D6786A}"/>
              </a:ext>
            </a:extLst>
          </p:cNvPr>
          <p:cNvSpPr>
            <a:spLocks noGrp="1"/>
          </p:cNvSpPr>
          <p:nvPr>
            <p:ph type="title"/>
          </p:nvPr>
        </p:nvSpPr>
        <p:spPr>
          <a:xfrm>
            <a:off x="919119" y="318054"/>
            <a:ext cx="10353761" cy="742122"/>
          </a:xfrm>
        </p:spPr>
        <p:txBody>
          <a:bodyPr/>
          <a:lstStyle/>
          <a:p>
            <a:r>
              <a:rPr lang="en-IN" dirty="0"/>
              <a:t>General Socket Methods</a:t>
            </a:r>
          </a:p>
        </p:txBody>
      </p:sp>
      <p:pic>
        <p:nvPicPr>
          <p:cNvPr id="3" name="Content Placeholder 3">
            <a:extLst>
              <a:ext uri="{FF2B5EF4-FFF2-40B4-BE49-F238E27FC236}">
                <a16:creationId xmlns:a16="http://schemas.microsoft.com/office/drawing/2014/main" id="{D1AC8D04-EA9D-4B50-85E2-BEAD7F351799}"/>
              </a:ext>
            </a:extLst>
          </p:cNvPr>
          <p:cNvPicPr>
            <a:picLocks noGrp="1" noChangeAspect="1"/>
          </p:cNvPicPr>
          <p:nvPr/>
        </p:nvPicPr>
        <p:blipFill>
          <a:blip r:embed="rId2"/>
          <a:stretch>
            <a:fillRect/>
          </a:stretch>
        </p:blipFill>
        <p:spPr>
          <a:xfrm>
            <a:off x="2060301" y="1060176"/>
            <a:ext cx="8071395" cy="5500810"/>
          </a:xfrm>
          <a:prstGeom prst="rect">
            <a:avLst/>
          </a:prstGeom>
        </p:spPr>
      </p:pic>
    </p:spTree>
    <p:extLst>
      <p:ext uri="{BB962C8B-B14F-4D97-AF65-F5344CB8AC3E}">
        <p14:creationId xmlns:p14="http://schemas.microsoft.com/office/powerpoint/2010/main" val="2266682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D9F03-938C-4AAD-9379-2300A436F7A9}"/>
              </a:ext>
            </a:extLst>
          </p:cNvPr>
          <p:cNvSpPr>
            <a:spLocks noGrp="1"/>
          </p:cNvSpPr>
          <p:nvPr>
            <p:ph type="title"/>
          </p:nvPr>
        </p:nvSpPr>
        <p:spPr/>
        <p:txBody>
          <a:bodyPr/>
          <a:lstStyle/>
          <a:p>
            <a:r>
              <a:rPr lang="en-IN" dirty="0"/>
              <a:t>What is a Server?</a:t>
            </a:r>
          </a:p>
        </p:txBody>
      </p:sp>
      <p:sp>
        <p:nvSpPr>
          <p:cNvPr id="3" name="Content Placeholder 2">
            <a:extLst>
              <a:ext uri="{FF2B5EF4-FFF2-40B4-BE49-F238E27FC236}">
                <a16:creationId xmlns:a16="http://schemas.microsoft.com/office/drawing/2014/main" id="{61E45D81-ECDE-4E12-9D65-D505DB0839FF}"/>
              </a:ext>
            </a:extLst>
          </p:cNvPr>
          <p:cNvSpPr>
            <a:spLocks noGrp="1"/>
          </p:cNvSpPr>
          <p:nvPr>
            <p:ph idx="1"/>
          </p:nvPr>
        </p:nvSpPr>
        <p:spPr/>
        <p:txBody>
          <a:bodyPr/>
          <a:lstStyle/>
          <a:p>
            <a:r>
              <a:rPr lang="en-IN" dirty="0"/>
              <a:t>A server is either a program, a computer, or a device that is devoted to managing network resources. Servers can either be on the same device or computer or locally connected to other devices and computers or even remote. There are various types of servers such as database servers, network servers, print servers, etc.</a:t>
            </a:r>
          </a:p>
          <a:p>
            <a:endParaRPr lang="en-IN" dirty="0"/>
          </a:p>
          <a:p>
            <a:r>
              <a:rPr lang="en-IN" dirty="0"/>
              <a:t>Servers commonly make use of methods like </a:t>
            </a:r>
            <a:r>
              <a:rPr lang="en-IN" dirty="0" err="1"/>
              <a:t>socket.socket</a:t>
            </a:r>
            <a:r>
              <a:rPr lang="en-IN" dirty="0"/>
              <a:t>(), </a:t>
            </a:r>
            <a:r>
              <a:rPr lang="en-IN" dirty="0" err="1"/>
              <a:t>socket.bind</a:t>
            </a:r>
            <a:r>
              <a:rPr lang="en-IN" dirty="0"/>
              <a:t>(), </a:t>
            </a:r>
            <a:r>
              <a:rPr lang="en-IN" dirty="0" err="1"/>
              <a:t>socket.listen</a:t>
            </a:r>
            <a:r>
              <a:rPr lang="en-IN" dirty="0"/>
              <a:t>(), etc to establish a connection and bind to the clients. Now let’s write a program to create a server. Consider the following example:</a:t>
            </a:r>
          </a:p>
        </p:txBody>
      </p:sp>
    </p:spTree>
    <p:extLst>
      <p:ext uri="{BB962C8B-B14F-4D97-AF65-F5344CB8AC3E}">
        <p14:creationId xmlns:p14="http://schemas.microsoft.com/office/powerpoint/2010/main" val="199605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A4141F-CF1E-4765-9468-20C6A6AA5EA1}"/>
              </a:ext>
            </a:extLst>
          </p:cNvPr>
          <p:cNvSpPr>
            <a:spLocks noGrp="1"/>
          </p:cNvSpPr>
          <p:nvPr>
            <p:ph idx="1"/>
          </p:nvPr>
        </p:nvSpPr>
        <p:spPr>
          <a:xfrm>
            <a:off x="914400" y="92765"/>
            <a:ext cx="10353157" cy="6652592"/>
          </a:xfrm>
        </p:spPr>
        <p:txBody>
          <a:bodyPr>
            <a:normAutofit fontScale="70000" lnSpcReduction="20000"/>
          </a:bodyPr>
          <a:lstStyle/>
          <a:p>
            <a:pPr marL="0" indent="0">
              <a:buNone/>
            </a:pPr>
            <a:r>
              <a:rPr lang="en-IN" sz="2000" dirty="0"/>
              <a:t>#This is server.py file</a:t>
            </a:r>
          </a:p>
          <a:p>
            <a:pPr marL="0" indent="0">
              <a:buNone/>
            </a:pPr>
            <a:r>
              <a:rPr lang="en-IN" sz="2000" dirty="0"/>
              <a:t>import socket                                         </a:t>
            </a:r>
          </a:p>
          <a:p>
            <a:pPr marL="0" indent="0">
              <a:buNone/>
            </a:pPr>
            <a:r>
              <a:rPr lang="en-IN" sz="2000" dirty="0"/>
              <a:t># create a socket object</a:t>
            </a:r>
          </a:p>
          <a:p>
            <a:pPr marL="0" indent="0">
              <a:buNone/>
            </a:pPr>
            <a:r>
              <a:rPr lang="en-IN" sz="2000" dirty="0" err="1"/>
              <a:t>serversocket</a:t>
            </a:r>
            <a:r>
              <a:rPr lang="en-IN" sz="2000" dirty="0"/>
              <a:t> = </a:t>
            </a:r>
            <a:r>
              <a:rPr lang="en-IN" sz="2000" dirty="0" err="1"/>
              <a:t>socket.socket</a:t>
            </a:r>
            <a:r>
              <a:rPr lang="en-IN" sz="2000" dirty="0"/>
              <a:t>(</a:t>
            </a:r>
            <a:r>
              <a:rPr lang="en-IN" sz="2000" dirty="0" err="1"/>
              <a:t>socket.AF_INET</a:t>
            </a:r>
            <a:r>
              <a:rPr lang="en-IN" sz="2000" dirty="0"/>
              <a:t>, </a:t>
            </a:r>
            <a:r>
              <a:rPr lang="en-IN" sz="2000" dirty="0" err="1"/>
              <a:t>socket.SOCK_STREAM</a:t>
            </a:r>
            <a:r>
              <a:rPr lang="en-IN" sz="2000" dirty="0"/>
              <a:t>) </a:t>
            </a:r>
          </a:p>
          <a:p>
            <a:pPr marL="0" indent="0">
              <a:buNone/>
            </a:pPr>
            <a:r>
              <a:rPr lang="en-IN" sz="2000" dirty="0"/>
              <a:t># get local machine name</a:t>
            </a:r>
          </a:p>
          <a:p>
            <a:pPr marL="0" indent="0">
              <a:buNone/>
            </a:pPr>
            <a:r>
              <a:rPr lang="en-IN" sz="2000" dirty="0"/>
              <a:t>host = </a:t>
            </a:r>
            <a:r>
              <a:rPr lang="en-IN" sz="2000" dirty="0" err="1"/>
              <a:t>socket.gethostname</a:t>
            </a:r>
            <a:r>
              <a:rPr lang="en-IN" sz="2000" dirty="0"/>
              <a:t>()</a:t>
            </a:r>
          </a:p>
          <a:p>
            <a:pPr marL="0" indent="0">
              <a:buNone/>
            </a:pPr>
            <a:r>
              <a:rPr lang="en-IN" sz="2000" dirty="0"/>
              <a:t>print(host)</a:t>
            </a:r>
          </a:p>
          <a:p>
            <a:pPr marL="0" indent="0">
              <a:buNone/>
            </a:pPr>
            <a:r>
              <a:rPr lang="en-IN" sz="2000" dirty="0"/>
              <a:t>port = 9999                                           </a:t>
            </a:r>
          </a:p>
          <a:p>
            <a:pPr marL="0" indent="0">
              <a:buNone/>
            </a:pPr>
            <a:r>
              <a:rPr lang="en-IN" sz="2000" dirty="0"/>
              <a:t># bind to the port</a:t>
            </a:r>
          </a:p>
          <a:p>
            <a:pPr marL="0" indent="0">
              <a:buNone/>
            </a:pPr>
            <a:r>
              <a:rPr lang="en-IN" sz="2000" dirty="0" err="1"/>
              <a:t>serversocket.bind</a:t>
            </a:r>
            <a:r>
              <a:rPr lang="en-IN" sz="2000" dirty="0"/>
              <a:t>((host, port))                                  </a:t>
            </a:r>
          </a:p>
          <a:p>
            <a:pPr marL="0" indent="0">
              <a:buNone/>
            </a:pPr>
            <a:r>
              <a:rPr lang="en-IN" sz="2000" dirty="0"/>
              <a:t># queue up to 5 requests</a:t>
            </a:r>
          </a:p>
          <a:p>
            <a:pPr marL="0" indent="0">
              <a:buNone/>
            </a:pPr>
            <a:r>
              <a:rPr lang="en-IN" sz="2000" dirty="0" err="1"/>
              <a:t>serversocket.listen</a:t>
            </a:r>
            <a:r>
              <a:rPr lang="en-IN" sz="2000" dirty="0"/>
              <a:t>(5)                                           </a:t>
            </a:r>
          </a:p>
          <a:p>
            <a:pPr marL="0" indent="0">
              <a:buNone/>
            </a:pPr>
            <a:r>
              <a:rPr lang="en-IN" sz="2000" dirty="0"/>
              <a:t>while True:</a:t>
            </a:r>
          </a:p>
          <a:p>
            <a:pPr marL="0" indent="0">
              <a:buNone/>
            </a:pPr>
            <a:r>
              <a:rPr lang="en-IN" sz="2000" dirty="0"/>
              <a:t>   # establish a connection</a:t>
            </a:r>
          </a:p>
          <a:p>
            <a:pPr marL="0" indent="0">
              <a:buNone/>
            </a:pPr>
            <a:r>
              <a:rPr lang="en-IN" sz="2000" dirty="0"/>
              <a:t>   </a:t>
            </a:r>
            <a:r>
              <a:rPr lang="en-IN" sz="2000" dirty="0" err="1"/>
              <a:t>clientsocket,addr</a:t>
            </a:r>
            <a:r>
              <a:rPr lang="en-IN" sz="2000" dirty="0"/>
              <a:t> = </a:t>
            </a:r>
            <a:r>
              <a:rPr lang="en-IN" sz="2000" dirty="0" err="1"/>
              <a:t>serversocket.accept</a:t>
            </a:r>
            <a:r>
              <a:rPr lang="en-IN" sz="2000" dirty="0"/>
              <a:t>()      </a:t>
            </a:r>
          </a:p>
          <a:p>
            <a:pPr marL="0" indent="0">
              <a:buNone/>
            </a:pPr>
            <a:r>
              <a:rPr lang="en-IN" sz="2000" dirty="0"/>
              <a:t>   print("Got a connection from %s" % str(</a:t>
            </a:r>
            <a:r>
              <a:rPr lang="en-IN" sz="2000" dirty="0" err="1"/>
              <a:t>addr</a:t>
            </a:r>
            <a:r>
              <a:rPr lang="en-IN" sz="2000" dirty="0"/>
              <a:t>))</a:t>
            </a:r>
          </a:p>
          <a:p>
            <a:pPr marL="0" indent="0">
              <a:buNone/>
            </a:pPr>
            <a:r>
              <a:rPr lang="en-IN" sz="2000" dirty="0"/>
              <a:t>   </a:t>
            </a:r>
            <a:r>
              <a:rPr lang="en-IN" sz="2000" dirty="0" err="1"/>
              <a:t>msg</a:t>
            </a:r>
            <a:r>
              <a:rPr lang="en-IN" sz="2000" dirty="0"/>
              <a:t> = 'Thank you for connecting'+ "\r\n"</a:t>
            </a:r>
          </a:p>
          <a:p>
            <a:pPr marL="0" indent="0">
              <a:buNone/>
            </a:pPr>
            <a:r>
              <a:rPr lang="en-IN" sz="2000" dirty="0"/>
              <a:t>   </a:t>
            </a:r>
            <a:r>
              <a:rPr lang="en-IN" sz="2000" dirty="0" err="1"/>
              <a:t>clientsocket.send</a:t>
            </a:r>
            <a:r>
              <a:rPr lang="en-IN" sz="2000" dirty="0"/>
              <a:t>(</a:t>
            </a:r>
            <a:r>
              <a:rPr lang="en-IN" sz="2000" dirty="0" err="1"/>
              <a:t>msg.encode</a:t>
            </a:r>
            <a:r>
              <a:rPr lang="en-IN" sz="2000" dirty="0"/>
              <a:t>('ascii'))</a:t>
            </a:r>
          </a:p>
          <a:p>
            <a:pPr marL="0" indent="0">
              <a:buNone/>
            </a:pPr>
            <a:r>
              <a:rPr lang="en-IN" sz="2000" dirty="0"/>
              <a:t>   </a:t>
            </a:r>
            <a:r>
              <a:rPr lang="en-IN" sz="2000" dirty="0" err="1"/>
              <a:t>clientsocket.close</a:t>
            </a:r>
            <a:r>
              <a:rPr lang="en-IN" sz="2000" dirty="0"/>
              <a:t>()</a:t>
            </a:r>
          </a:p>
        </p:txBody>
      </p:sp>
    </p:spTree>
    <p:extLst>
      <p:ext uri="{BB962C8B-B14F-4D97-AF65-F5344CB8AC3E}">
        <p14:creationId xmlns:p14="http://schemas.microsoft.com/office/powerpoint/2010/main" val="3195034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2D9383-3F01-4086-B572-573BD104A1F4}"/>
              </a:ext>
            </a:extLst>
          </p:cNvPr>
          <p:cNvSpPr>
            <a:spLocks noGrp="1"/>
          </p:cNvSpPr>
          <p:nvPr>
            <p:ph idx="1"/>
          </p:nvPr>
        </p:nvSpPr>
        <p:spPr>
          <a:xfrm>
            <a:off x="887897" y="238539"/>
            <a:ext cx="10190920" cy="6109252"/>
          </a:xfrm>
        </p:spPr>
        <p:txBody>
          <a:bodyPr>
            <a:normAutofit fontScale="92500" lnSpcReduction="10000"/>
          </a:bodyPr>
          <a:lstStyle/>
          <a:p>
            <a:r>
              <a:rPr lang="en-IN" dirty="0"/>
              <a:t>NOTE:</a:t>
            </a:r>
          </a:p>
          <a:p>
            <a:r>
              <a:rPr lang="en-IN" dirty="0"/>
              <a:t>AF_INET refers to Address from the Internet and it requires a pair of (host, port) where the host can either be a URL of some particular website or its address and the port number is an integer. SOCK_STREAM is used to create TCP Protocols.</a:t>
            </a:r>
          </a:p>
          <a:p>
            <a:r>
              <a:rPr lang="en-IN" dirty="0"/>
              <a:t>The bind() method accepts two parameters as a tuple (host, port). However, it’s better to use 4-digit port numbers as the lower ones are usually occupied. The listen() method allows the server to accept connections. Here, 5 is the queue for multiple connections that come up simultaneously. The minimum value that can be specified here is 0 (If you give a lesser value, it’s changed to 0).  In case no parameter is specified, it takes a default suitable one.</a:t>
            </a:r>
          </a:p>
          <a:p>
            <a:r>
              <a:rPr lang="en-IN" dirty="0"/>
              <a:t>The while loop allows accepting connections forever. ‘</a:t>
            </a:r>
            <a:r>
              <a:rPr lang="en-IN" sz="2000" dirty="0" err="1"/>
              <a:t>clientsocket,addr</a:t>
            </a:r>
            <a:r>
              <a:rPr lang="en-IN" sz="2000" dirty="0"/>
              <a:t> ‘ </a:t>
            </a:r>
            <a:r>
              <a:rPr lang="en-IN" dirty="0"/>
              <a:t>are the client object and address. The print statement just prints out the address and the port number of the client socket. Finally, </a:t>
            </a:r>
            <a:r>
              <a:rPr lang="en-IN" sz="2000" dirty="0" err="1"/>
              <a:t>clientsocket</a:t>
            </a:r>
            <a:r>
              <a:rPr lang="en-IN" dirty="0" err="1"/>
              <a:t>.send</a:t>
            </a:r>
            <a:r>
              <a:rPr lang="en-IN" dirty="0"/>
              <a:t> is used to send the data in bytes.</a:t>
            </a:r>
          </a:p>
          <a:p>
            <a:r>
              <a:rPr lang="en-IN" dirty="0"/>
              <a:t>We can obtain host address by using </a:t>
            </a:r>
            <a:r>
              <a:rPr lang="en-IN" b="0" i="0" dirty="0" err="1">
                <a:solidFill>
                  <a:srgbClr val="FFFFFF"/>
                </a:solidFill>
                <a:effectLst/>
                <a:latin typeface="Fira Mono"/>
              </a:rPr>
              <a:t>socket.gethostname</a:t>
            </a:r>
            <a:r>
              <a:rPr lang="en-IN" b="0" i="0" dirty="0">
                <a:solidFill>
                  <a:srgbClr val="FFFFFF"/>
                </a:solidFill>
                <a:effectLst/>
                <a:latin typeface="Fira Mono"/>
              </a:rPr>
              <a:t>() </a:t>
            </a:r>
            <a:r>
              <a:rPr lang="en-IN" b="0" i="0" dirty="0">
                <a:solidFill>
                  <a:srgbClr val="FFFFFF"/>
                </a:solidFill>
                <a:effectLst/>
              </a:rPr>
              <a:t>function. It is recommended to user port address above 1024 because port number lesser than 1024 are reserved for standard internet protocol.</a:t>
            </a:r>
            <a:endParaRPr lang="en-IN" dirty="0"/>
          </a:p>
          <a:p>
            <a:endParaRPr lang="en-IN" dirty="0"/>
          </a:p>
          <a:p>
            <a:endParaRPr lang="en-IN" dirty="0"/>
          </a:p>
        </p:txBody>
      </p:sp>
    </p:spTree>
    <p:extLst>
      <p:ext uri="{BB962C8B-B14F-4D97-AF65-F5344CB8AC3E}">
        <p14:creationId xmlns:p14="http://schemas.microsoft.com/office/powerpoint/2010/main" val="3459693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F33C4-F079-4E4D-9B83-EB124FE2E291}"/>
              </a:ext>
            </a:extLst>
          </p:cNvPr>
          <p:cNvSpPr>
            <a:spLocks noGrp="1"/>
          </p:cNvSpPr>
          <p:nvPr>
            <p:ph type="title"/>
          </p:nvPr>
        </p:nvSpPr>
        <p:spPr/>
        <p:txBody>
          <a:bodyPr/>
          <a:lstStyle/>
          <a:p>
            <a:r>
              <a:rPr lang="en-IN" dirty="0"/>
              <a:t>What is a Client?</a:t>
            </a:r>
          </a:p>
        </p:txBody>
      </p:sp>
      <p:sp>
        <p:nvSpPr>
          <p:cNvPr id="3" name="Content Placeholder 2">
            <a:extLst>
              <a:ext uri="{FF2B5EF4-FFF2-40B4-BE49-F238E27FC236}">
                <a16:creationId xmlns:a16="http://schemas.microsoft.com/office/drawing/2014/main" id="{D2F17A5C-BA9F-4D74-8C16-92D82D69790D}"/>
              </a:ext>
            </a:extLst>
          </p:cNvPr>
          <p:cNvSpPr>
            <a:spLocks noGrp="1"/>
          </p:cNvSpPr>
          <p:nvPr>
            <p:ph idx="1"/>
          </p:nvPr>
        </p:nvSpPr>
        <p:spPr/>
        <p:txBody>
          <a:bodyPr/>
          <a:lstStyle/>
          <a:p>
            <a:r>
              <a:rPr lang="en-IN" dirty="0"/>
              <a:t>A client is either a computer or software that receives information or services from the server. In a client-server module, clients requests for services from servers. The best example is a web browser such as Google Chrome, Firefox, etc. These web browsers request web servers for the required web pages and services as directed by the user. Other examples include online games, online chats, etc.</a:t>
            </a:r>
          </a:p>
        </p:txBody>
      </p:sp>
    </p:spTree>
    <p:extLst>
      <p:ext uri="{BB962C8B-B14F-4D97-AF65-F5344CB8AC3E}">
        <p14:creationId xmlns:p14="http://schemas.microsoft.com/office/powerpoint/2010/main" val="1650121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090207-06C1-43AA-AEC1-A3AD2A7260E3}"/>
              </a:ext>
            </a:extLst>
          </p:cNvPr>
          <p:cNvSpPr>
            <a:spLocks noGrp="1"/>
          </p:cNvSpPr>
          <p:nvPr>
            <p:ph idx="1"/>
          </p:nvPr>
        </p:nvSpPr>
        <p:spPr>
          <a:xfrm>
            <a:off x="808383" y="410817"/>
            <a:ext cx="10459174" cy="5976731"/>
          </a:xfrm>
        </p:spPr>
        <p:txBody>
          <a:bodyPr>
            <a:normAutofit fontScale="92500" lnSpcReduction="20000"/>
          </a:bodyPr>
          <a:lstStyle/>
          <a:p>
            <a:pPr marL="0" indent="0">
              <a:buNone/>
            </a:pPr>
            <a:r>
              <a:rPr lang="en-US" dirty="0"/>
              <a:t>        # This is client.py file</a:t>
            </a:r>
          </a:p>
          <a:p>
            <a:pPr marL="0" indent="0">
              <a:buNone/>
            </a:pPr>
            <a:r>
              <a:rPr lang="en-US" dirty="0"/>
              <a:t>import socket</a:t>
            </a:r>
          </a:p>
          <a:p>
            <a:pPr marL="0" indent="0">
              <a:buNone/>
            </a:pPr>
            <a:r>
              <a:rPr lang="en-US" dirty="0"/>
              <a:t># create a socket object</a:t>
            </a:r>
          </a:p>
          <a:p>
            <a:pPr marL="0" indent="0">
              <a:buNone/>
            </a:pPr>
            <a:r>
              <a:rPr lang="en-US" dirty="0"/>
              <a:t>s = </a:t>
            </a:r>
            <a:r>
              <a:rPr lang="en-US" dirty="0" err="1"/>
              <a:t>socket.socket</a:t>
            </a:r>
            <a:r>
              <a:rPr lang="en-US" dirty="0"/>
              <a:t>(</a:t>
            </a:r>
            <a:r>
              <a:rPr lang="en-US" dirty="0" err="1"/>
              <a:t>socket.AF_INET</a:t>
            </a:r>
            <a:r>
              <a:rPr lang="en-US" dirty="0"/>
              <a:t>, </a:t>
            </a:r>
            <a:r>
              <a:rPr lang="en-US" dirty="0" err="1"/>
              <a:t>socket.SOCK_STREAM</a:t>
            </a:r>
            <a:r>
              <a:rPr lang="en-US" dirty="0"/>
              <a:t>) </a:t>
            </a:r>
          </a:p>
          <a:p>
            <a:pPr marL="0" indent="0">
              <a:buNone/>
            </a:pPr>
            <a:r>
              <a:rPr lang="en-US" dirty="0"/>
              <a:t># get local machine name</a:t>
            </a:r>
          </a:p>
          <a:p>
            <a:pPr marL="0" indent="0">
              <a:buNone/>
            </a:pPr>
            <a:r>
              <a:rPr lang="en-US" dirty="0"/>
              <a:t>host = </a:t>
            </a:r>
            <a:r>
              <a:rPr lang="en-US" dirty="0" err="1"/>
              <a:t>socket.gethostname</a:t>
            </a:r>
            <a:r>
              <a:rPr lang="en-US" dirty="0"/>
              <a:t>()</a:t>
            </a:r>
          </a:p>
          <a:p>
            <a:pPr marL="0" indent="0">
              <a:buNone/>
            </a:pPr>
            <a:r>
              <a:rPr lang="en-US" dirty="0"/>
              <a:t>print(host)</a:t>
            </a:r>
          </a:p>
          <a:p>
            <a:pPr marL="0" indent="0">
              <a:buNone/>
            </a:pPr>
            <a:r>
              <a:rPr lang="en-US" dirty="0"/>
              <a:t>port = 9999</a:t>
            </a:r>
          </a:p>
          <a:p>
            <a:pPr marL="0" indent="0">
              <a:buNone/>
            </a:pPr>
            <a:r>
              <a:rPr lang="en-US" dirty="0"/>
              <a:t># connection to hostname on the port.</a:t>
            </a:r>
          </a:p>
          <a:p>
            <a:pPr marL="0" indent="0">
              <a:buNone/>
            </a:pPr>
            <a:r>
              <a:rPr lang="en-US" dirty="0" err="1"/>
              <a:t>s.connect</a:t>
            </a:r>
            <a:r>
              <a:rPr lang="en-US" dirty="0"/>
              <a:t>((host, port))                               </a:t>
            </a:r>
          </a:p>
          <a:p>
            <a:pPr marL="0" indent="0">
              <a:buNone/>
            </a:pPr>
            <a:r>
              <a:rPr lang="en-US" dirty="0"/>
              <a:t># Receive no more than 1024 bytes</a:t>
            </a:r>
          </a:p>
          <a:p>
            <a:pPr marL="0" indent="0">
              <a:buNone/>
            </a:pPr>
            <a:r>
              <a:rPr lang="en-US" dirty="0"/>
              <a:t>msg = </a:t>
            </a:r>
            <a:r>
              <a:rPr lang="en-US" dirty="0" err="1"/>
              <a:t>s.recv</a:t>
            </a:r>
            <a:r>
              <a:rPr lang="en-US" dirty="0"/>
              <a:t>(1024)                                     </a:t>
            </a:r>
          </a:p>
          <a:p>
            <a:pPr marL="0" indent="0">
              <a:buNone/>
            </a:pPr>
            <a:r>
              <a:rPr lang="en-US" dirty="0" err="1"/>
              <a:t>s.close</a:t>
            </a:r>
            <a:r>
              <a:rPr lang="en-US" dirty="0"/>
              <a:t>()</a:t>
            </a:r>
          </a:p>
          <a:p>
            <a:pPr marL="0" indent="0">
              <a:buNone/>
            </a:pPr>
            <a:r>
              <a:rPr lang="en-US" dirty="0"/>
              <a:t>print (</a:t>
            </a:r>
            <a:r>
              <a:rPr lang="en-US" dirty="0" err="1"/>
              <a:t>msg.decode</a:t>
            </a:r>
            <a:r>
              <a:rPr lang="en-US" dirty="0"/>
              <a:t>('ascii'))</a:t>
            </a:r>
          </a:p>
          <a:p>
            <a:pPr marL="0" indent="0">
              <a:buNone/>
            </a:pPr>
            <a:endParaRPr lang="en-US" dirty="0"/>
          </a:p>
          <a:p>
            <a:endParaRPr lang="en-IN" dirty="0"/>
          </a:p>
        </p:txBody>
      </p:sp>
    </p:spTree>
    <p:extLst>
      <p:ext uri="{BB962C8B-B14F-4D97-AF65-F5344CB8AC3E}">
        <p14:creationId xmlns:p14="http://schemas.microsoft.com/office/powerpoint/2010/main" val="2861564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E3967E-789F-45DA-AED7-62591E776EDA}"/>
              </a:ext>
            </a:extLst>
          </p:cNvPr>
          <p:cNvSpPr>
            <a:spLocks noGrp="1"/>
          </p:cNvSpPr>
          <p:nvPr>
            <p:ph idx="1"/>
          </p:nvPr>
        </p:nvSpPr>
        <p:spPr>
          <a:xfrm>
            <a:off x="821635" y="450574"/>
            <a:ext cx="10445922" cy="5340626"/>
          </a:xfrm>
        </p:spPr>
        <p:txBody>
          <a:bodyPr/>
          <a:lstStyle/>
          <a:p>
            <a:r>
              <a:rPr lang="en-IN" dirty="0"/>
              <a:t>Here, the client wants to receive some information from the server and for this, you need to use the </a:t>
            </a:r>
            <a:r>
              <a:rPr lang="en-IN" dirty="0" err="1"/>
              <a:t>recv</a:t>
            </a:r>
            <a:r>
              <a:rPr lang="en-IN" dirty="0"/>
              <a:t>() method and the information is stored in another variable msg. Just keep in mind that the information being passed will be in bytes and in the client in the above program can receive up to 1024 bytes (buffer size) in a single transfer. It can be specified to any amount depending on the amount of information being transferred.</a:t>
            </a:r>
          </a:p>
          <a:p>
            <a:endParaRPr lang="en-IN" dirty="0"/>
          </a:p>
          <a:p>
            <a:r>
              <a:rPr lang="en-IN" dirty="0"/>
              <a:t>Finally, the message being transferred should be decoded and printed.</a:t>
            </a:r>
          </a:p>
        </p:txBody>
      </p:sp>
    </p:spTree>
    <p:extLst>
      <p:ext uri="{BB962C8B-B14F-4D97-AF65-F5344CB8AC3E}">
        <p14:creationId xmlns:p14="http://schemas.microsoft.com/office/powerpoint/2010/main" val="1890818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DADE1-8519-461B-9412-2366318D0BAC}"/>
              </a:ext>
            </a:extLst>
          </p:cNvPr>
          <p:cNvSpPr>
            <a:spLocks noGrp="1"/>
          </p:cNvSpPr>
          <p:nvPr>
            <p:ph type="title"/>
          </p:nvPr>
        </p:nvSpPr>
        <p:spPr/>
        <p:txBody>
          <a:bodyPr/>
          <a:lstStyle/>
          <a:p>
            <a:r>
              <a:rPr lang="en-IN" dirty="0"/>
              <a:t>reading from URL</a:t>
            </a:r>
          </a:p>
        </p:txBody>
      </p:sp>
      <p:sp>
        <p:nvSpPr>
          <p:cNvPr id="6" name="TextBox 5">
            <a:extLst>
              <a:ext uri="{FF2B5EF4-FFF2-40B4-BE49-F238E27FC236}">
                <a16:creationId xmlns:a16="http://schemas.microsoft.com/office/drawing/2014/main" id="{AD3A339F-F9E2-4E4D-A33B-91D9C117E3D7}"/>
              </a:ext>
            </a:extLst>
          </p:cNvPr>
          <p:cNvSpPr txBox="1"/>
          <p:nvPr/>
        </p:nvSpPr>
        <p:spPr>
          <a:xfrm>
            <a:off x="1046920" y="1714286"/>
            <a:ext cx="10220635" cy="1754326"/>
          </a:xfrm>
          <a:prstGeom prst="rect">
            <a:avLst/>
          </a:prstGeom>
          <a:noFill/>
        </p:spPr>
        <p:txBody>
          <a:bodyPr wrap="square">
            <a:spAutoFit/>
          </a:bodyPr>
          <a:lstStyle/>
          <a:p>
            <a:r>
              <a:rPr lang="en-IN" dirty="0"/>
              <a:t>What is </a:t>
            </a:r>
            <a:r>
              <a:rPr lang="en-IN" dirty="0" err="1"/>
              <a:t>urllib</a:t>
            </a:r>
            <a:r>
              <a:rPr lang="en-IN" dirty="0"/>
              <a:t>?</a:t>
            </a:r>
          </a:p>
          <a:p>
            <a:endParaRPr lang="en-IN" dirty="0"/>
          </a:p>
          <a:p>
            <a:r>
              <a:rPr lang="en-IN" dirty="0" err="1"/>
              <a:t>urllib</a:t>
            </a:r>
            <a:r>
              <a:rPr lang="en-IN" dirty="0"/>
              <a:t> is a Python module that can be used for opening URLs. It defines functions and classes to help in URL actions.</a:t>
            </a:r>
          </a:p>
          <a:p>
            <a:endParaRPr lang="en-IN" dirty="0"/>
          </a:p>
          <a:p>
            <a:r>
              <a:rPr lang="en-IN" dirty="0"/>
              <a:t>With Python you can also access and retrieve data from the internet like XML, HTML, JSON, etc.</a:t>
            </a:r>
          </a:p>
        </p:txBody>
      </p:sp>
    </p:spTree>
    <p:extLst>
      <p:ext uri="{BB962C8B-B14F-4D97-AF65-F5344CB8AC3E}">
        <p14:creationId xmlns:p14="http://schemas.microsoft.com/office/powerpoint/2010/main" val="651787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772FB1-A448-4730-A43C-255D4C5F4ABA}"/>
              </a:ext>
            </a:extLst>
          </p:cNvPr>
          <p:cNvSpPr txBox="1"/>
          <p:nvPr/>
        </p:nvSpPr>
        <p:spPr>
          <a:xfrm>
            <a:off x="901148" y="1585654"/>
            <a:ext cx="10972800" cy="3139321"/>
          </a:xfrm>
          <a:prstGeom prst="rect">
            <a:avLst/>
          </a:prstGeom>
          <a:noFill/>
        </p:spPr>
        <p:txBody>
          <a:bodyPr wrap="square">
            <a:spAutoFit/>
          </a:bodyPr>
          <a:lstStyle/>
          <a:p>
            <a:r>
              <a:rPr lang="en-IN" dirty="0"/>
              <a:t>import </a:t>
            </a:r>
            <a:r>
              <a:rPr lang="en-IN" dirty="0" err="1"/>
              <a:t>urllib.request</a:t>
            </a:r>
            <a:endParaRPr lang="en-IN" dirty="0"/>
          </a:p>
          <a:p>
            <a:r>
              <a:rPr lang="en-IN" dirty="0"/>
              <a:t># open a connection to a URL using </a:t>
            </a:r>
            <a:r>
              <a:rPr lang="en-IN" dirty="0" err="1"/>
              <a:t>urllib</a:t>
            </a:r>
            <a:endParaRPr lang="en-IN" dirty="0"/>
          </a:p>
          <a:p>
            <a:r>
              <a:rPr lang="en-IN" dirty="0" err="1"/>
              <a:t>webUrl</a:t>
            </a:r>
            <a:r>
              <a:rPr lang="en-IN" dirty="0"/>
              <a:t>  = </a:t>
            </a:r>
            <a:r>
              <a:rPr lang="en-IN" dirty="0" err="1"/>
              <a:t>urllib.request.urlopen</a:t>
            </a:r>
            <a:r>
              <a:rPr lang="en-IN" dirty="0"/>
              <a:t>('https://www.programiz.com/python-programming/first-program')</a:t>
            </a:r>
          </a:p>
          <a:p>
            <a:endParaRPr lang="en-IN" dirty="0"/>
          </a:p>
          <a:p>
            <a:r>
              <a:rPr lang="en-IN" dirty="0"/>
              <a:t>#get the result code and print it</a:t>
            </a:r>
          </a:p>
          <a:p>
            <a:r>
              <a:rPr lang="en-IN" dirty="0"/>
              <a:t>print ("result code: " + str(</a:t>
            </a:r>
            <a:r>
              <a:rPr lang="en-IN" dirty="0" err="1"/>
              <a:t>webUrl.getcode</a:t>
            </a:r>
            <a:r>
              <a:rPr lang="en-IN" dirty="0"/>
              <a:t>()))</a:t>
            </a:r>
          </a:p>
          <a:p>
            <a:endParaRPr lang="en-IN" dirty="0"/>
          </a:p>
          <a:p>
            <a:r>
              <a:rPr lang="en-IN" dirty="0"/>
              <a:t># read the data from the URL and print it</a:t>
            </a:r>
          </a:p>
          <a:p>
            <a:r>
              <a:rPr lang="en-IN" dirty="0"/>
              <a:t>data = </a:t>
            </a:r>
            <a:r>
              <a:rPr lang="en-IN" dirty="0" err="1"/>
              <a:t>webUrl.read</a:t>
            </a:r>
            <a:r>
              <a:rPr lang="en-IN" dirty="0"/>
              <a:t>()</a:t>
            </a:r>
          </a:p>
          <a:p>
            <a:r>
              <a:rPr lang="en-IN" dirty="0"/>
              <a:t>print (data)</a:t>
            </a:r>
          </a:p>
          <a:p>
            <a:endParaRPr lang="en-IN" dirty="0"/>
          </a:p>
        </p:txBody>
      </p:sp>
    </p:spTree>
    <p:extLst>
      <p:ext uri="{BB962C8B-B14F-4D97-AF65-F5344CB8AC3E}">
        <p14:creationId xmlns:p14="http://schemas.microsoft.com/office/powerpoint/2010/main" val="2866626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00775-574F-433C-B447-75DB9623D1F0}"/>
              </a:ext>
            </a:extLst>
          </p:cNvPr>
          <p:cNvSpPr>
            <a:spLocks noGrp="1"/>
          </p:cNvSpPr>
          <p:nvPr>
            <p:ph type="title"/>
          </p:nvPr>
        </p:nvSpPr>
        <p:spPr>
          <a:xfrm>
            <a:off x="919119" y="185531"/>
            <a:ext cx="10353761" cy="795130"/>
          </a:xfrm>
        </p:spPr>
        <p:txBody>
          <a:bodyPr/>
          <a:lstStyle/>
          <a:p>
            <a:r>
              <a:rPr lang="en-IN" dirty="0"/>
              <a:t>How to Open URL using </a:t>
            </a:r>
            <a:r>
              <a:rPr lang="en-IN" dirty="0" err="1"/>
              <a:t>Urllib</a:t>
            </a:r>
            <a:endParaRPr lang="en-IN" dirty="0"/>
          </a:p>
        </p:txBody>
      </p:sp>
      <p:pic>
        <p:nvPicPr>
          <p:cNvPr id="4" name="Picture 3">
            <a:extLst>
              <a:ext uri="{FF2B5EF4-FFF2-40B4-BE49-F238E27FC236}">
                <a16:creationId xmlns:a16="http://schemas.microsoft.com/office/drawing/2014/main" id="{5B39FFE9-C47E-4746-9071-BCE44EE08144}"/>
              </a:ext>
            </a:extLst>
          </p:cNvPr>
          <p:cNvPicPr>
            <a:picLocks noChangeAspect="1"/>
          </p:cNvPicPr>
          <p:nvPr/>
        </p:nvPicPr>
        <p:blipFill>
          <a:blip r:embed="rId2"/>
          <a:stretch>
            <a:fillRect/>
          </a:stretch>
        </p:blipFill>
        <p:spPr>
          <a:xfrm>
            <a:off x="1443244" y="980661"/>
            <a:ext cx="7979052" cy="5593893"/>
          </a:xfrm>
          <a:prstGeom prst="rect">
            <a:avLst/>
          </a:prstGeom>
        </p:spPr>
      </p:pic>
    </p:spTree>
    <p:extLst>
      <p:ext uri="{BB962C8B-B14F-4D97-AF65-F5344CB8AC3E}">
        <p14:creationId xmlns:p14="http://schemas.microsoft.com/office/powerpoint/2010/main" val="3996111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691104-C965-48C9-9AD9-F736C5740F8A}"/>
              </a:ext>
            </a:extLst>
          </p:cNvPr>
          <p:cNvSpPr txBox="1"/>
          <p:nvPr/>
        </p:nvSpPr>
        <p:spPr>
          <a:xfrm>
            <a:off x="609599" y="675861"/>
            <a:ext cx="10787271" cy="2585323"/>
          </a:xfrm>
          <a:prstGeom prst="rect">
            <a:avLst/>
          </a:prstGeom>
          <a:noFill/>
        </p:spPr>
        <p:txBody>
          <a:bodyPr wrap="square">
            <a:spAutoFit/>
          </a:bodyPr>
          <a:lstStyle/>
          <a:p>
            <a:pPr marL="285750" indent="-285750">
              <a:buFont typeface="Arial" panose="020B0604020202020204" pitchFamily="34" charset="0"/>
              <a:buChar char="•"/>
            </a:pPr>
            <a:r>
              <a:rPr lang="en-IN" dirty="0"/>
              <a:t>Import </a:t>
            </a:r>
            <a:r>
              <a:rPr lang="en-IN" dirty="0" err="1"/>
              <a:t>urllib</a:t>
            </a:r>
            <a:endParaRPr lang="en-IN" dirty="0"/>
          </a:p>
          <a:p>
            <a:pPr marL="285750" indent="-285750">
              <a:buFont typeface="Arial" panose="020B0604020202020204" pitchFamily="34" charset="0"/>
              <a:buChar char="•"/>
            </a:pPr>
            <a:r>
              <a:rPr lang="en-IN" dirty="0"/>
              <a:t>Define your main function</a:t>
            </a:r>
          </a:p>
          <a:p>
            <a:pPr marL="285750" indent="-285750">
              <a:buFont typeface="Arial" panose="020B0604020202020204" pitchFamily="34" charset="0"/>
              <a:buChar char="•"/>
            </a:pPr>
            <a:r>
              <a:rPr lang="en-IN" dirty="0"/>
              <a:t>Declare the variable </a:t>
            </a:r>
            <a:r>
              <a:rPr lang="en-IN" dirty="0" err="1"/>
              <a:t>webUrl</a:t>
            </a:r>
            <a:endParaRPr lang="en-IN" dirty="0"/>
          </a:p>
          <a:p>
            <a:pPr marL="285750" indent="-285750">
              <a:buFont typeface="Arial" panose="020B0604020202020204" pitchFamily="34" charset="0"/>
              <a:buChar char="•"/>
            </a:pPr>
            <a:r>
              <a:rPr lang="en-IN" dirty="0"/>
              <a:t>Then call the </a:t>
            </a:r>
            <a:r>
              <a:rPr lang="en-IN" dirty="0" err="1"/>
              <a:t>urlopen</a:t>
            </a:r>
            <a:r>
              <a:rPr lang="en-IN" dirty="0"/>
              <a:t> function on the URL lib library</a:t>
            </a:r>
          </a:p>
          <a:p>
            <a:pPr marL="285750" indent="-285750">
              <a:buFont typeface="Arial" panose="020B0604020202020204" pitchFamily="34" charset="0"/>
              <a:buChar char="•"/>
            </a:pPr>
            <a:r>
              <a:rPr lang="en-IN" dirty="0"/>
              <a:t>The URL we are opening is guru99 tutorial on </a:t>
            </a:r>
            <a:r>
              <a:rPr lang="en-IN" dirty="0" err="1"/>
              <a:t>youtube</a:t>
            </a:r>
            <a:endParaRPr lang="en-IN" dirty="0"/>
          </a:p>
          <a:p>
            <a:pPr marL="285750" indent="-285750">
              <a:buFont typeface="Arial" panose="020B0604020202020204" pitchFamily="34" charset="0"/>
              <a:buChar char="•"/>
            </a:pPr>
            <a:r>
              <a:rPr lang="en-IN" dirty="0"/>
              <a:t>Next, we going to print the result code</a:t>
            </a:r>
          </a:p>
          <a:p>
            <a:pPr marL="285750" indent="-285750">
              <a:buFont typeface="Arial" panose="020B0604020202020204" pitchFamily="34" charset="0"/>
              <a:buChar char="•"/>
            </a:pPr>
            <a:r>
              <a:rPr lang="en-IN" dirty="0"/>
              <a:t>Result code is retrieved by calling the </a:t>
            </a:r>
            <a:r>
              <a:rPr lang="en-IN" dirty="0" err="1"/>
              <a:t>getcode</a:t>
            </a:r>
            <a:r>
              <a:rPr lang="en-IN" dirty="0"/>
              <a:t> function on the </a:t>
            </a:r>
            <a:r>
              <a:rPr lang="en-IN" dirty="0" err="1"/>
              <a:t>webUrl</a:t>
            </a:r>
            <a:r>
              <a:rPr lang="en-IN" dirty="0"/>
              <a:t> variable we have created</a:t>
            </a:r>
          </a:p>
          <a:p>
            <a:pPr marL="285750" indent="-285750">
              <a:buFont typeface="Arial" panose="020B0604020202020204" pitchFamily="34" charset="0"/>
              <a:buChar char="•"/>
            </a:pPr>
            <a:r>
              <a:rPr lang="en-IN" dirty="0"/>
              <a:t>We going to convert that to a string, so that it can be concatenated with our string "result code"</a:t>
            </a:r>
          </a:p>
          <a:p>
            <a:pPr marL="285750" indent="-285750">
              <a:buFont typeface="Arial" panose="020B0604020202020204" pitchFamily="34" charset="0"/>
              <a:buChar char="•"/>
            </a:pPr>
            <a:r>
              <a:rPr lang="en-IN" dirty="0"/>
              <a:t>This will be a regular HTTP code "200", indicating http request is processed successfully</a:t>
            </a:r>
          </a:p>
        </p:txBody>
      </p:sp>
      <p:sp>
        <p:nvSpPr>
          <p:cNvPr id="7" name="TextBox 6">
            <a:extLst>
              <a:ext uri="{FF2B5EF4-FFF2-40B4-BE49-F238E27FC236}">
                <a16:creationId xmlns:a16="http://schemas.microsoft.com/office/drawing/2014/main" id="{806D376B-5F41-4BD2-ADC3-F1B3730792EF}"/>
              </a:ext>
            </a:extLst>
          </p:cNvPr>
          <p:cNvSpPr txBox="1"/>
          <p:nvPr/>
        </p:nvSpPr>
        <p:spPr>
          <a:xfrm>
            <a:off x="609599" y="3429000"/>
            <a:ext cx="8905462" cy="1200329"/>
          </a:xfrm>
          <a:prstGeom prst="rect">
            <a:avLst/>
          </a:prstGeom>
          <a:noFill/>
        </p:spPr>
        <p:txBody>
          <a:bodyPr wrap="square">
            <a:spAutoFit/>
          </a:bodyPr>
          <a:lstStyle/>
          <a:p>
            <a:pPr marL="285750" indent="-285750">
              <a:buFont typeface="Arial" panose="020B0604020202020204" pitchFamily="34" charset="0"/>
              <a:buChar char="•"/>
            </a:pPr>
            <a:r>
              <a:rPr lang="en-IN" dirty="0"/>
              <a:t>Call the read function on the </a:t>
            </a:r>
            <a:r>
              <a:rPr lang="en-IN" dirty="0" err="1"/>
              <a:t>webURL</a:t>
            </a:r>
            <a:r>
              <a:rPr lang="en-IN" dirty="0"/>
              <a:t> variable</a:t>
            </a:r>
          </a:p>
          <a:p>
            <a:pPr marL="285750" indent="-285750">
              <a:buFont typeface="Arial" panose="020B0604020202020204" pitchFamily="34" charset="0"/>
              <a:buChar char="•"/>
            </a:pPr>
            <a:r>
              <a:rPr lang="en-IN" dirty="0"/>
              <a:t>Read variable allows to read the contents of data files</a:t>
            </a:r>
          </a:p>
          <a:p>
            <a:pPr marL="285750" indent="-285750">
              <a:buFont typeface="Arial" panose="020B0604020202020204" pitchFamily="34" charset="0"/>
              <a:buChar char="•"/>
            </a:pPr>
            <a:r>
              <a:rPr lang="en-IN" dirty="0"/>
              <a:t>Read the entire content of the URL into a variable called data</a:t>
            </a:r>
          </a:p>
          <a:p>
            <a:pPr marL="285750" indent="-285750">
              <a:buFont typeface="Arial" panose="020B0604020202020204" pitchFamily="34" charset="0"/>
              <a:buChar char="•"/>
            </a:pPr>
            <a:r>
              <a:rPr lang="en-IN" dirty="0"/>
              <a:t>Run the code- It will print the data into HTML format</a:t>
            </a:r>
          </a:p>
        </p:txBody>
      </p:sp>
    </p:spTree>
    <p:extLst>
      <p:ext uri="{BB962C8B-B14F-4D97-AF65-F5344CB8AC3E}">
        <p14:creationId xmlns:p14="http://schemas.microsoft.com/office/powerpoint/2010/main" val="1635371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D164-9D34-40FA-BEED-DC0728BE2CAC}"/>
              </a:ext>
            </a:extLst>
          </p:cNvPr>
          <p:cNvSpPr>
            <a:spLocks noGrp="1"/>
          </p:cNvSpPr>
          <p:nvPr>
            <p:ph type="title"/>
          </p:nvPr>
        </p:nvSpPr>
        <p:spPr>
          <a:xfrm>
            <a:off x="1" y="132523"/>
            <a:ext cx="11267556" cy="689112"/>
          </a:xfrm>
        </p:spPr>
        <p:txBody>
          <a:bodyPr/>
          <a:lstStyle/>
          <a:p>
            <a:r>
              <a:rPr lang="en-IN" dirty="0"/>
              <a:t>How to get HTML file form URL in Python</a:t>
            </a:r>
          </a:p>
        </p:txBody>
      </p:sp>
      <p:pic>
        <p:nvPicPr>
          <p:cNvPr id="4" name="Picture 3">
            <a:extLst>
              <a:ext uri="{FF2B5EF4-FFF2-40B4-BE49-F238E27FC236}">
                <a16:creationId xmlns:a16="http://schemas.microsoft.com/office/drawing/2014/main" id="{3F5A6759-A8D9-4700-B988-529B86F678EC}"/>
              </a:ext>
            </a:extLst>
          </p:cNvPr>
          <p:cNvPicPr>
            <a:picLocks noChangeAspect="1"/>
          </p:cNvPicPr>
          <p:nvPr/>
        </p:nvPicPr>
        <p:blipFill>
          <a:blip r:embed="rId2"/>
          <a:stretch>
            <a:fillRect/>
          </a:stretch>
        </p:blipFill>
        <p:spPr>
          <a:xfrm>
            <a:off x="1288565" y="821635"/>
            <a:ext cx="8199991" cy="5996041"/>
          </a:xfrm>
          <a:prstGeom prst="rect">
            <a:avLst/>
          </a:prstGeom>
        </p:spPr>
      </p:pic>
    </p:spTree>
    <p:extLst>
      <p:ext uri="{BB962C8B-B14F-4D97-AF65-F5344CB8AC3E}">
        <p14:creationId xmlns:p14="http://schemas.microsoft.com/office/powerpoint/2010/main" val="3744364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AB90A-E9C3-4F8F-BE4F-ED8BEBE7012A}"/>
              </a:ext>
            </a:extLst>
          </p:cNvPr>
          <p:cNvSpPr>
            <a:spLocks noGrp="1"/>
          </p:cNvSpPr>
          <p:nvPr>
            <p:ph type="title"/>
          </p:nvPr>
        </p:nvSpPr>
        <p:spPr/>
        <p:txBody>
          <a:bodyPr/>
          <a:lstStyle/>
          <a:p>
            <a:r>
              <a:rPr lang="en-IN" dirty="0"/>
              <a:t>sending Email</a:t>
            </a:r>
          </a:p>
        </p:txBody>
      </p:sp>
      <p:sp>
        <p:nvSpPr>
          <p:cNvPr id="3" name="Content Placeholder 2">
            <a:extLst>
              <a:ext uri="{FF2B5EF4-FFF2-40B4-BE49-F238E27FC236}">
                <a16:creationId xmlns:a16="http://schemas.microsoft.com/office/drawing/2014/main" id="{53222A35-76E5-4991-ABB9-2F1D06B60D27}"/>
              </a:ext>
            </a:extLst>
          </p:cNvPr>
          <p:cNvSpPr>
            <a:spLocks noGrp="1"/>
          </p:cNvSpPr>
          <p:nvPr>
            <p:ph idx="1"/>
          </p:nvPr>
        </p:nvSpPr>
        <p:spPr/>
        <p:txBody>
          <a:bodyPr/>
          <a:lstStyle/>
          <a:p>
            <a:r>
              <a:rPr lang="en-IN" dirty="0"/>
              <a:t>What is SMTP Server?</a:t>
            </a:r>
          </a:p>
          <a:p>
            <a:r>
              <a:rPr lang="en-IN" dirty="0"/>
              <a:t>Simple Mail Transfer Protocol is an application layer protocol in the OSI model. It lets a user send mail to another. Since this is a push protocol, we can use it to send a mail. At the receiver, this mail is retrieved using protocols POP (Post Office Protocol)and IMAP (Internet Message Access Protocol).</a:t>
            </a:r>
          </a:p>
        </p:txBody>
      </p:sp>
      <p:sp>
        <p:nvSpPr>
          <p:cNvPr id="5" name="TextBox 4">
            <a:extLst>
              <a:ext uri="{FF2B5EF4-FFF2-40B4-BE49-F238E27FC236}">
                <a16:creationId xmlns:a16="http://schemas.microsoft.com/office/drawing/2014/main" id="{A090CDF3-C2A8-4C02-80C3-050CF87F2ACB}"/>
              </a:ext>
            </a:extLst>
          </p:cNvPr>
          <p:cNvSpPr txBox="1"/>
          <p:nvPr/>
        </p:nvSpPr>
        <p:spPr>
          <a:xfrm>
            <a:off x="1179444" y="4513879"/>
            <a:ext cx="9515060" cy="369332"/>
          </a:xfrm>
          <a:prstGeom prst="rect">
            <a:avLst/>
          </a:prstGeom>
          <a:noFill/>
        </p:spPr>
        <p:txBody>
          <a:bodyPr wrap="square">
            <a:spAutoFit/>
          </a:bodyPr>
          <a:lstStyle/>
          <a:p>
            <a:r>
              <a:rPr lang="en-IN" dirty="0"/>
              <a:t>https://medium.com/@rinu.gour123/python-send-email-via-smtp-ad2d259d7240</a:t>
            </a:r>
          </a:p>
        </p:txBody>
      </p:sp>
    </p:spTree>
    <p:extLst>
      <p:ext uri="{BB962C8B-B14F-4D97-AF65-F5344CB8AC3E}">
        <p14:creationId xmlns:p14="http://schemas.microsoft.com/office/powerpoint/2010/main" val="3320354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2F821B6-9D66-47A3-83DC-FAE55FB89C41}"/>
              </a:ext>
            </a:extLst>
          </p:cNvPr>
          <p:cNvSpPr txBox="1"/>
          <p:nvPr/>
        </p:nvSpPr>
        <p:spPr>
          <a:xfrm>
            <a:off x="768626" y="596348"/>
            <a:ext cx="9713844" cy="2862322"/>
          </a:xfrm>
          <a:prstGeom prst="rect">
            <a:avLst/>
          </a:prstGeom>
          <a:noFill/>
        </p:spPr>
        <p:txBody>
          <a:bodyPr wrap="square">
            <a:spAutoFit/>
          </a:bodyPr>
          <a:lstStyle/>
          <a:p>
            <a:r>
              <a:rPr lang="en-IN" dirty="0"/>
              <a:t>import </a:t>
            </a:r>
            <a:r>
              <a:rPr lang="en-IN" dirty="0" err="1"/>
              <a:t>smtplib,ssl</a:t>
            </a:r>
            <a:endParaRPr lang="en-IN" dirty="0"/>
          </a:p>
          <a:p>
            <a:endParaRPr lang="en-IN" dirty="0"/>
          </a:p>
          <a:p>
            <a:r>
              <a:rPr lang="en-IN" dirty="0"/>
              <a:t>content="</a:t>
            </a:r>
            <a:r>
              <a:rPr lang="en-IN" dirty="0" err="1"/>
              <a:t>hello,sending</a:t>
            </a:r>
            <a:r>
              <a:rPr lang="en-IN" dirty="0"/>
              <a:t> mail from python code"</a:t>
            </a:r>
          </a:p>
          <a:p>
            <a:r>
              <a:rPr lang="en-IN" dirty="0"/>
              <a:t># Create a secure SSL context</a:t>
            </a:r>
          </a:p>
          <a:p>
            <a:r>
              <a:rPr lang="en-IN" dirty="0"/>
              <a:t>context = </a:t>
            </a:r>
            <a:r>
              <a:rPr lang="en-IN" dirty="0" err="1"/>
              <a:t>ssl.create_default_context</a:t>
            </a:r>
            <a:r>
              <a:rPr lang="en-IN" dirty="0"/>
              <a:t>()</a:t>
            </a:r>
          </a:p>
          <a:p>
            <a:r>
              <a:rPr lang="en-IN" dirty="0"/>
              <a:t>mail=</a:t>
            </a:r>
            <a:r>
              <a:rPr lang="en-IN" dirty="0" err="1"/>
              <a:t>smtplib.SMTP_SSL</a:t>
            </a:r>
            <a:r>
              <a:rPr lang="en-IN" dirty="0"/>
              <a:t>("smtp.gmail.com",465, context=context)</a:t>
            </a:r>
          </a:p>
          <a:p>
            <a:r>
              <a:rPr lang="en-IN" dirty="0" err="1"/>
              <a:t>mail.login</a:t>
            </a:r>
            <a:r>
              <a:rPr lang="en-IN" dirty="0"/>
              <a:t>(“</a:t>
            </a:r>
            <a:r>
              <a:rPr lang="en-IN" dirty="0" err="1"/>
              <a:t>senderaddress</a:t>
            </a:r>
            <a:r>
              <a:rPr lang="en-IN" dirty="0"/>
              <a:t>",“password")</a:t>
            </a:r>
          </a:p>
          <a:p>
            <a:r>
              <a:rPr lang="en-IN" dirty="0" err="1"/>
              <a:t>mail.sendmail</a:t>
            </a:r>
            <a:r>
              <a:rPr lang="en-IN" dirty="0"/>
              <a:t>(“</a:t>
            </a:r>
            <a:r>
              <a:rPr lang="en-IN" dirty="0" err="1"/>
              <a:t>senderaddress</a:t>
            </a:r>
            <a:r>
              <a:rPr lang="en-IN" dirty="0"/>
              <a:t>",“</a:t>
            </a:r>
            <a:r>
              <a:rPr lang="en-IN" dirty="0" err="1"/>
              <a:t>receiveraddress</a:t>
            </a:r>
            <a:r>
              <a:rPr lang="en-IN" dirty="0"/>
              <a:t>",content)</a:t>
            </a:r>
          </a:p>
          <a:p>
            <a:r>
              <a:rPr lang="en-IN" dirty="0"/>
              <a:t>print("email sent")</a:t>
            </a:r>
          </a:p>
          <a:p>
            <a:r>
              <a:rPr lang="en-IN" dirty="0" err="1"/>
              <a:t>mail.quit</a:t>
            </a:r>
            <a:r>
              <a:rPr lang="en-IN" dirty="0"/>
              <a:t>()</a:t>
            </a:r>
          </a:p>
        </p:txBody>
      </p:sp>
    </p:spTree>
    <p:extLst>
      <p:ext uri="{BB962C8B-B14F-4D97-AF65-F5344CB8AC3E}">
        <p14:creationId xmlns:p14="http://schemas.microsoft.com/office/powerpoint/2010/main" val="42502369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696</TotalTime>
  <Words>1452</Words>
  <Application>Microsoft Office PowerPoint</Application>
  <PresentationFormat>Widescreen</PresentationFormat>
  <Paragraphs>114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Bookman Old Style</vt:lpstr>
      <vt:lpstr>Fira Mono</vt:lpstr>
      <vt:lpstr>Rockwell</vt:lpstr>
      <vt:lpstr>Damask</vt:lpstr>
      <vt:lpstr>Network connectivity</vt:lpstr>
      <vt:lpstr>introduction</vt:lpstr>
      <vt:lpstr>What is Socket?</vt:lpstr>
      <vt:lpstr>PowerPoint Presentation</vt:lpstr>
      <vt:lpstr>The socket Module</vt:lpstr>
      <vt:lpstr>Server Socket Methods</vt:lpstr>
      <vt:lpstr>Client Socket Methods</vt:lpstr>
      <vt:lpstr>PowerPoint Presentation</vt:lpstr>
      <vt:lpstr>General Socket Methods</vt:lpstr>
      <vt:lpstr>What is a Server?</vt:lpstr>
      <vt:lpstr>PowerPoint Presentation</vt:lpstr>
      <vt:lpstr>PowerPoint Presentation</vt:lpstr>
      <vt:lpstr>What is a Client?</vt:lpstr>
      <vt:lpstr>PowerPoint Presentation</vt:lpstr>
      <vt:lpstr>PowerPoint Presentation</vt:lpstr>
      <vt:lpstr>reading from URL</vt:lpstr>
      <vt:lpstr>PowerPoint Presentation</vt:lpstr>
      <vt:lpstr>How to Open URL using Urllib</vt:lpstr>
      <vt:lpstr>PowerPoint Presentation</vt:lpstr>
      <vt:lpstr>How to get HTML file form URL in Python</vt:lpstr>
      <vt:lpstr>sending Email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connectivity</dc:title>
  <dc:creator>Prathamesh Bagwe</dc:creator>
  <cp:lastModifiedBy>Prathamesh Bagwe</cp:lastModifiedBy>
  <cp:revision>24</cp:revision>
  <dcterms:created xsi:type="dcterms:W3CDTF">2021-04-05T01:51:21Z</dcterms:created>
  <dcterms:modified xsi:type="dcterms:W3CDTF">2021-05-02T10:35:18Z</dcterms:modified>
</cp:coreProperties>
</file>