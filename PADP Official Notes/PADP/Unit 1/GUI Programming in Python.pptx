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99"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63FA3D-FEFC-4A48-802A-3A2F9F9AFEB6}" type="datetimeFigureOut">
              <a:rPr lang="en-IN" smtClean="0"/>
              <a:t>02-01-2023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43B3E64C-FF1A-4ABF-9234-976E670EF595}"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716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3FA3D-FEFC-4A48-802A-3A2F9F9AFEB6}" type="datetimeFigureOut">
              <a:rPr lang="en-IN" smtClean="0"/>
              <a:t>02-01-2023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B3E64C-FF1A-4ABF-9234-976E670EF595}"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188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63FA3D-FEFC-4A48-802A-3A2F9F9AFEB6}" type="datetimeFigureOut">
              <a:rPr lang="en-IN" smtClean="0"/>
              <a:t>02-01-2023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B3E64C-FF1A-4ABF-9234-976E670EF595}"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3388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63FA3D-FEFC-4A48-802A-3A2F9F9AFEB6}" type="datetimeFigureOut">
              <a:rPr lang="en-IN" smtClean="0"/>
              <a:t>02-01-2023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B3E64C-FF1A-4ABF-9234-976E670EF595}"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1089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63FA3D-FEFC-4A48-802A-3A2F9F9AFEB6}" type="datetimeFigureOut">
              <a:rPr lang="en-IN" smtClean="0"/>
              <a:t>02-01-2023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B3E64C-FF1A-4ABF-9234-976E670EF595}"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0555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63FA3D-FEFC-4A48-802A-3A2F9F9AFEB6}" type="datetimeFigureOut">
              <a:rPr lang="en-IN" smtClean="0"/>
              <a:t>02-01-2023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B3E64C-FF1A-4ABF-9234-976E670EF595}"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043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63FA3D-FEFC-4A48-802A-3A2F9F9AFEB6}" type="datetimeFigureOut">
              <a:rPr lang="en-IN" smtClean="0"/>
              <a:t>02-01-2023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B3E64C-FF1A-4ABF-9234-976E670EF595}" type="slidenum">
              <a:rPr lang="en-IN" smtClean="0"/>
              <a:t>‹#›</a:t>
            </a:fld>
            <a:endParaRPr lang="en-IN"/>
          </a:p>
        </p:txBody>
      </p:sp>
    </p:spTree>
    <p:extLst>
      <p:ext uri="{BB962C8B-B14F-4D97-AF65-F5344CB8AC3E}">
        <p14:creationId xmlns:p14="http://schemas.microsoft.com/office/powerpoint/2010/main" val="2090942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63FA3D-FEFC-4A48-802A-3A2F9F9AFEB6}" type="datetimeFigureOut">
              <a:rPr lang="en-IN" smtClean="0"/>
              <a:t>02-01-2023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B3E64C-FF1A-4ABF-9234-976E670EF595}"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11427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563FA3D-FEFC-4A48-802A-3A2F9F9AFEB6}" type="datetimeFigureOut">
              <a:rPr lang="en-IN" smtClean="0"/>
              <a:t>02-01-2023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43B3E64C-FF1A-4ABF-9234-976E670EF595}"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8248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3FA3D-FEFC-4A48-802A-3A2F9F9AFEB6}" type="datetimeFigureOut">
              <a:rPr lang="en-IN" smtClean="0"/>
              <a:t>02-01-2023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B3E64C-FF1A-4ABF-9234-976E670EF595}"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551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63FA3D-FEFC-4A48-802A-3A2F9F9AFEB6}" type="datetimeFigureOut">
              <a:rPr lang="en-IN" smtClean="0"/>
              <a:t>02-01-2023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B3E64C-FF1A-4ABF-9234-976E670EF595}"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4944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563FA3D-FEFC-4A48-802A-3A2F9F9AFEB6}" type="datetimeFigureOut">
              <a:rPr lang="en-IN" smtClean="0"/>
              <a:t>02-01-2023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3B3E64C-FF1A-4ABF-9234-976E670EF59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542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4165C-2C2C-4C03-9B31-BEA6EEF6CE6F}"/>
              </a:ext>
            </a:extLst>
          </p:cNvPr>
          <p:cNvSpPr>
            <a:spLocks noGrp="1"/>
          </p:cNvSpPr>
          <p:nvPr>
            <p:ph type="ctrTitle"/>
          </p:nvPr>
        </p:nvSpPr>
        <p:spPr/>
        <p:txBody>
          <a:bodyPr/>
          <a:lstStyle/>
          <a:p>
            <a:r>
              <a:rPr lang="en-IN" dirty="0"/>
              <a:t>GUI Programming in Python</a:t>
            </a:r>
          </a:p>
        </p:txBody>
      </p:sp>
      <p:sp>
        <p:nvSpPr>
          <p:cNvPr id="3" name="Subtitle 2">
            <a:extLst>
              <a:ext uri="{FF2B5EF4-FFF2-40B4-BE49-F238E27FC236}">
                <a16:creationId xmlns:a16="http://schemas.microsoft.com/office/drawing/2014/main" id="{F6B8E405-8701-4212-ABFC-CBCABE0E1805}"/>
              </a:ext>
            </a:extLst>
          </p:cNvPr>
          <p:cNvSpPr>
            <a:spLocks noGrp="1"/>
          </p:cNvSpPr>
          <p:nvPr>
            <p:ph type="subTitle" idx="1"/>
          </p:nvPr>
        </p:nvSpPr>
        <p:spPr/>
        <p:txBody>
          <a:bodyPr/>
          <a:lstStyle/>
          <a:p>
            <a:r>
              <a:rPr lang="en-IN" dirty="0"/>
              <a:t>Unit 1</a:t>
            </a:r>
          </a:p>
        </p:txBody>
      </p:sp>
    </p:spTree>
    <p:extLst>
      <p:ext uri="{BB962C8B-B14F-4D97-AF65-F5344CB8AC3E}">
        <p14:creationId xmlns:p14="http://schemas.microsoft.com/office/powerpoint/2010/main" val="4001282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7EBAB-4FE2-439E-AEEC-E2F6C875ECA5}"/>
              </a:ext>
            </a:extLst>
          </p:cNvPr>
          <p:cNvSpPr>
            <a:spLocks noGrp="1"/>
          </p:cNvSpPr>
          <p:nvPr>
            <p:ph type="title"/>
          </p:nvPr>
        </p:nvSpPr>
        <p:spPr/>
        <p:txBody>
          <a:bodyPr/>
          <a:lstStyle/>
          <a:p>
            <a:r>
              <a:rPr lang="en-IN" dirty="0"/>
              <a:t>What is GUI?</a:t>
            </a:r>
          </a:p>
        </p:txBody>
      </p:sp>
      <p:sp>
        <p:nvSpPr>
          <p:cNvPr id="3" name="Content Placeholder 2">
            <a:extLst>
              <a:ext uri="{FF2B5EF4-FFF2-40B4-BE49-F238E27FC236}">
                <a16:creationId xmlns:a16="http://schemas.microsoft.com/office/drawing/2014/main" id="{20E9991C-2929-48FE-A441-8973FB293728}"/>
              </a:ext>
            </a:extLst>
          </p:cNvPr>
          <p:cNvSpPr>
            <a:spLocks noGrp="1"/>
          </p:cNvSpPr>
          <p:nvPr>
            <p:ph idx="1"/>
          </p:nvPr>
        </p:nvSpPr>
        <p:spPr/>
        <p:txBody>
          <a:bodyPr>
            <a:normAutofit fontScale="92500"/>
          </a:bodyPr>
          <a:lstStyle/>
          <a:p>
            <a:r>
              <a:rPr lang="en-IN" b="0" i="0" dirty="0">
                <a:solidFill>
                  <a:srgbClr val="202124"/>
                </a:solidFill>
                <a:effectLst/>
                <a:latin typeface="arial" panose="020B0604020202020204" pitchFamily="34" charset="0"/>
              </a:rPr>
              <a:t>A graphical user interface is an application that has buttons, windows, and lots of other widgets that the user can use to interact with your application.</a:t>
            </a:r>
          </a:p>
          <a:p>
            <a:r>
              <a:rPr lang="en-IN" dirty="0"/>
              <a:t>Advantages of GUI:-</a:t>
            </a:r>
          </a:p>
          <a:p>
            <a:r>
              <a:rPr lang="en-IN" b="0" i="0" dirty="0">
                <a:solidFill>
                  <a:srgbClr val="555555"/>
                </a:solidFill>
                <a:effectLst/>
                <a:latin typeface="Arial" panose="020B0604020202020204" pitchFamily="34" charset="0"/>
              </a:rPr>
              <a:t>It requires just a click on the simple picture or image in order to use its functionalities.</a:t>
            </a:r>
          </a:p>
          <a:p>
            <a:r>
              <a:rPr lang="en-IN" b="0" i="0" dirty="0">
                <a:solidFill>
                  <a:srgbClr val="555555"/>
                </a:solidFill>
                <a:effectLst/>
                <a:latin typeface="Arial" panose="020B0604020202020204" pitchFamily="34" charset="0"/>
              </a:rPr>
              <a:t>It is very easy to use by novice as it is user friendly.</a:t>
            </a:r>
          </a:p>
          <a:p>
            <a:r>
              <a:rPr lang="en-IN" b="0" i="0" dirty="0">
                <a:solidFill>
                  <a:srgbClr val="555555"/>
                </a:solidFill>
                <a:effectLst/>
                <a:latin typeface="Arial" panose="020B0604020202020204" pitchFamily="34" charset="0"/>
              </a:rPr>
              <a:t>Simple icon in GUI interface uses multiple instructions in the back end. Hence it is easy for the programmer to code in GUI languages compare to other non GUI based programming languages.</a:t>
            </a:r>
            <a:endParaRPr lang="en-IN" dirty="0"/>
          </a:p>
        </p:txBody>
      </p:sp>
    </p:spTree>
    <p:extLst>
      <p:ext uri="{BB962C8B-B14F-4D97-AF65-F5344CB8AC3E}">
        <p14:creationId xmlns:p14="http://schemas.microsoft.com/office/powerpoint/2010/main" val="289746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8557-86C5-4ADA-BBBD-1BE9684B2963}"/>
              </a:ext>
            </a:extLst>
          </p:cNvPr>
          <p:cNvSpPr>
            <a:spLocks noGrp="1"/>
          </p:cNvSpPr>
          <p:nvPr>
            <p:ph type="title"/>
          </p:nvPr>
        </p:nvSpPr>
        <p:spPr/>
        <p:txBody>
          <a:bodyPr/>
          <a:lstStyle/>
          <a:p>
            <a:r>
              <a:rPr lang="en-IN" dirty="0"/>
              <a:t>Introduction to GUI library</a:t>
            </a:r>
          </a:p>
        </p:txBody>
      </p:sp>
      <p:sp>
        <p:nvSpPr>
          <p:cNvPr id="3" name="Content Placeholder 2">
            <a:extLst>
              <a:ext uri="{FF2B5EF4-FFF2-40B4-BE49-F238E27FC236}">
                <a16:creationId xmlns:a16="http://schemas.microsoft.com/office/drawing/2014/main" id="{9176343F-FC36-4E08-8470-0DAB3BE0AEE7}"/>
              </a:ext>
            </a:extLst>
          </p:cNvPr>
          <p:cNvSpPr>
            <a:spLocks noGrp="1"/>
          </p:cNvSpPr>
          <p:nvPr>
            <p:ph idx="1"/>
          </p:nvPr>
        </p:nvSpPr>
        <p:spPr>
          <a:xfrm>
            <a:off x="1451579" y="2015732"/>
            <a:ext cx="9603275" cy="3934494"/>
          </a:xfrm>
        </p:spPr>
        <p:txBody>
          <a:bodyPr>
            <a:normAutofit/>
          </a:bodyPr>
          <a:lstStyle/>
          <a:p>
            <a:r>
              <a:rPr lang="en-IN" dirty="0"/>
              <a:t>Python provides various options for developing graphical user interfaces (GUIs). Most important are listed below.</a:t>
            </a:r>
          </a:p>
          <a:p>
            <a:r>
              <a:rPr lang="en-IN" b="1" i="0" u="sng" dirty="0" err="1">
                <a:solidFill>
                  <a:srgbClr val="222222"/>
                </a:solidFill>
                <a:effectLst/>
                <a:latin typeface="source sans pro" panose="020B0503030403020204" pitchFamily="34" charset="0"/>
              </a:rPr>
              <a:t>Tkinter</a:t>
            </a:r>
            <a:r>
              <a:rPr lang="en-IN" b="0" i="0" dirty="0">
                <a:solidFill>
                  <a:srgbClr val="222222"/>
                </a:solidFill>
                <a:effectLst/>
                <a:latin typeface="source sans pro" panose="020B0503030403020204" pitchFamily="34" charset="0"/>
              </a:rPr>
              <a:t>- Python has a lot of </a:t>
            </a:r>
            <a:r>
              <a:rPr lang="en-IN" dirty="0">
                <a:latin typeface="source sans pro" panose="020B0503030403020204" pitchFamily="34" charset="0"/>
              </a:rPr>
              <a:t>GUI frameworks</a:t>
            </a:r>
            <a:r>
              <a:rPr lang="en-IN" b="0" i="0" dirty="0">
                <a:solidFill>
                  <a:srgbClr val="222222"/>
                </a:solidFill>
                <a:effectLst/>
                <a:latin typeface="source sans pro" panose="020B0503030403020204" pitchFamily="34" charset="0"/>
              </a:rPr>
              <a:t>, but </a:t>
            </a:r>
            <a:r>
              <a:rPr lang="en-IN" dirty="0" err="1">
                <a:solidFill>
                  <a:srgbClr val="3676AB"/>
                </a:solidFill>
                <a:latin typeface="source sans pro" panose="020B0503030403020204" pitchFamily="34" charset="0"/>
              </a:rPr>
              <a:t>Tkinter</a:t>
            </a:r>
            <a:r>
              <a:rPr lang="en-IN" b="0" i="0" dirty="0">
                <a:solidFill>
                  <a:srgbClr val="222222"/>
                </a:solidFill>
                <a:effectLst/>
                <a:latin typeface="source sans pro" panose="020B0503030403020204" pitchFamily="34" charset="0"/>
              </a:rPr>
              <a:t> is the only framework that’s built into the Python standard library. </a:t>
            </a:r>
            <a:r>
              <a:rPr lang="en-IN" b="0" i="0" dirty="0" err="1">
                <a:solidFill>
                  <a:srgbClr val="222222"/>
                </a:solidFill>
                <a:effectLst/>
                <a:latin typeface="source sans pro" panose="020B0503030403020204" pitchFamily="34" charset="0"/>
              </a:rPr>
              <a:t>Tkinter</a:t>
            </a:r>
            <a:r>
              <a:rPr lang="en-IN" b="0" i="0" dirty="0">
                <a:solidFill>
                  <a:srgbClr val="222222"/>
                </a:solidFill>
                <a:effectLst/>
                <a:latin typeface="source sans pro" panose="020B0503030403020204" pitchFamily="34" charset="0"/>
              </a:rPr>
              <a:t> has several strengths. It’s </a:t>
            </a:r>
            <a:r>
              <a:rPr lang="en-IN" b="1" i="0" dirty="0">
                <a:solidFill>
                  <a:srgbClr val="222222"/>
                </a:solidFill>
                <a:effectLst/>
                <a:latin typeface="source sans pro" panose="020B0503030403020204" pitchFamily="34" charset="0"/>
              </a:rPr>
              <a:t>cross-platform</a:t>
            </a:r>
            <a:r>
              <a:rPr lang="en-IN" b="0" i="0" dirty="0">
                <a:solidFill>
                  <a:srgbClr val="222222"/>
                </a:solidFill>
                <a:effectLst/>
                <a:latin typeface="source sans pro" panose="020B0503030403020204" pitchFamily="34" charset="0"/>
              </a:rPr>
              <a:t>, so the same code works on Windows, macOS, and Linux. </a:t>
            </a:r>
          </a:p>
          <a:p>
            <a:r>
              <a:rPr lang="en-IN" b="0" i="0" dirty="0" err="1">
                <a:solidFill>
                  <a:srgbClr val="222222"/>
                </a:solidFill>
                <a:effectLst/>
                <a:latin typeface="source sans pro" panose="020B0503030403020204" pitchFamily="34" charset="0"/>
              </a:rPr>
              <a:t>Tkinter</a:t>
            </a:r>
            <a:r>
              <a:rPr lang="en-IN" b="0" i="0" dirty="0">
                <a:solidFill>
                  <a:srgbClr val="222222"/>
                </a:solidFill>
                <a:effectLst/>
                <a:latin typeface="source sans pro" panose="020B0503030403020204" pitchFamily="34" charset="0"/>
              </a:rPr>
              <a:t> is lightweight and relatively painless to use compared to other frameworks. This makes it a compelling choice for building GUI applications in Python, especially for applications where a modern sheen is unnecessary, and the top priority is to build something that’s functional and cross-platform quickly.</a:t>
            </a:r>
            <a:endParaRPr lang="en-IN" dirty="0"/>
          </a:p>
        </p:txBody>
      </p:sp>
    </p:spTree>
    <p:extLst>
      <p:ext uri="{BB962C8B-B14F-4D97-AF65-F5344CB8AC3E}">
        <p14:creationId xmlns:p14="http://schemas.microsoft.com/office/powerpoint/2010/main" val="3937505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8EE9-CC2F-4F13-8D2E-2284CFD7E2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5BBA6F-8DC1-4FB1-8DD4-A7E71E1D954F}"/>
              </a:ext>
            </a:extLst>
          </p:cNvPr>
          <p:cNvSpPr>
            <a:spLocks noGrp="1"/>
          </p:cNvSpPr>
          <p:nvPr>
            <p:ph idx="1"/>
          </p:nvPr>
        </p:nvSpPr>
        <p:spPr/>
        <p:txBody>
          <a:bodyPr/>
          <a:lstStyle/>
          <a:p>
            <a:r>
              <a:rPr lang="en-IN" b="0" i="0" dirty="0">
                <a:solidFill>
                  <a:srgbClr val="555555"/>
                </a:solidFill>
                <a:effectLst/>
                <a:latin typeface="Helvetica Neue"/>
              </a:rPr>
              <a:t> </a:t>
            </a:r>
            <a:r>
              <a:rPr lang="en-IN" b="1" u="sng" dirty="0" err="1">
                <a:latin typeface="Helvetica Neue"/>
              </a:rPr>
              <a:t>wxPython</a:t>
            </a:r>
            <a:r>
              <a:rPr lang="en-IN" b="1" u="sng" dirty="0">
                <a:latin typeface="Helvetica Neue"/>
              </a:rPr>
              <a:t> – </a:t>
            </a:r>
            <a:r>
              <a:rPr lang="en-IN" dirty="0">
                <a:latin typeface="Helvetica Neue"/>
              </a:rPr>
              <a:t>It </a:t>
            </a:r>
            <a:r>
              <a:rPr lang="en-IN" b="0" i="0" dirty="0">
                <a:effectLst/>
                <a:latin typeface="Helvetica Neue"/>
              </a:rPr>
              <a:t>is a cross-platform </a:t>
            </a:r>
            <a:r>
              <a:rPr lang="en-IN" b="1" i="0" dirty="0">
                <a:effectLst/>
                <a:latin typeface="Helvetica Neue"/>
              </a:rPr>
              <a:t>GUI toolkit</a:t>
            </a:r>
            <a:r>
              <a:rPr lang="en-IN" b="0" i="0" dirty="0">
                <a:effectLst/>
                <a:latin typeface="Helvetica Neue"/>
              </a:rPr>
              <a:t> for the </a:t>
            </a:r>
            <a:r>
              <a:rPr lang="en-IN" dirty="0">
                <a:latin typeface="Helvetica Neue"/>
              </a:rPr>
              <a:t>Python</a:t>
            </a:r>
            <a:r>
              <a:rPr lang="en-IN" b="0" i="0" dirty="0">
                <a:effectLst/>
                <a:latin typeface="Helvetica Neue"/>
              </a:rPr>
              <a:t> programming language. It allows Python programmers to create programs with a robust, highly functional graphical user interface, simply and easily. It is implemented as a set of Python extension modules. </a:t>
            </a:r>
            <a:r>
              <a:rPr lang="en-IN" b="0" i="0" dirty="0" err="1">
                <a:effectLst/>
                <a:latin typeface="Helvetica Neue"/>
              </a:rPr>
              <a:t>wxPython</a:t>
            </a:r>
            <a:r>
              <a:rPr lang="en-IN" b="0" i="0" dirty="0">
                <a:effectLst/>
                <a:latin typeface="Helvetica Neue"/>
              </a:rPr>
              <a:t> is Open Source, which means that it is free for anyone to use. </a:t>
            </a:r>
            <a:endParaRPr lang="en-IN" dirty="0"/>
          </a:p>
        </p:txBody>
      </p:sp>
    </p:spTree>
    <p:extLst>
      <p:ext uri="{BB962C8B-B14F-4D97-AF65-F5344CB8AC3E}">
        <p14:creationId xmlns:p14="http://schemas.microsoft.com/office/powerpoint/2010/main" val="3258378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C27CA-E521-46A2-A05E-4F7846DE38DF}"/>
              </a:ext>
            </a:extLst>
          </p:cNvPr>
          <p:cNvSpPr>
            <a:spLocks noGrp="1"/>
          </p:cNvSpPr>
          <p:nvPr>
            <p:ph type="title"/>
          </p:nvPr>
        </p:nvSpPr>
        <p:spPr/>
        <p:txBody>
          <a:bodyPr/>
          <a:lstStyle/>
          <a:p>
            <a:r>
              <a:rPr lang="en-IN" dirty="0"/>
              <a:t>Advantages of </a:t>
            </a:r>
            <a:r>
              <a:rPr lang="en-IN" dirty="0" err="1"/>
              <a:t>tkinter</a:t>
            </a:r>
            <a:endParaRPr lang="en-IN" dirty="0"/>
          </a:p>
        </p:txBody>
      </p:sp>
      <p:sp>
        <p:nvSpPr>
          <p:cNvPr id="3" name="Content Placeholder 2">
            <a:extLst>
              <a:ext uri="{FF2B5EF4-FFF2-40B4-BE49-F238E27FC236}">
                <a16:creationId xmlns:a16="http://schemas.microsoft.com/office/drawing/2014/main" id="{565A79E2-AB8E-4B2A-B2AA-1FE66EFA7466}"/>
              </a:ext>
            </a:extLst>
          </p:cNvPr>
          <p:cNvSpPr>
            <a:spLocks noGrp="1"/>
          </p:cNvSpPr>
          <p:nvPr>
            <p:ph idx="1"/>
          </p:nvPr>
        </p:nvSpPr>
        <p:spPr/>
        <p:txBody>
          <a:bodyPr/>
          <a:lstStyle/>
          <a:p>
            <a:r>
              <a:rPr lang="en-IN" b="0" i="0" dirty="0">
                <a:effectLst/>
              </a:rPr>
              <a:t>part of python, nothing extra to download. Very simple syntax. </a:t>
            </a:r>
          </a:p>
          <a:p>
            <a:r>
              <a:rPr lang="en-IN" sz="2000" dirty="0"/>
              <a:t>For most GUIs, functionality is more important than form (</a:t>
            </a:r>
            <a:r>
              <a:rPr lang="en-IN" sz="2000" dirty="0" err="1"/>
              <a:t>ie</a:t>
            </a:r>
            <a:r>
              <a:rPr lang="en-IN" sz="2000" dirty="0"/>
              <a:t>: eye candy is not top priority). Even then, it's possible to make very nice looking GUIs with </a:t>
            </a:r>
            <a:r>
              <a:rPr lang="en-IN" sz="2000" dirty="0" err="1"/>
              <a:t>Tkinter</a:t>
            </a:r>
            <a:r>
              <a:rPr lang="en-IN" sz="2000" dirty="0"/>
              <a:t>.</a:t>
            </a:r>
          </a:p>
          <a:p>
            <a:endParaRPr lang="en-IN" dirty="0"/>
          </a:p>
        </p:txBody>
      </p:sp>
    </p:spTree>
    <p:extLst>
      <p:ext uri="{BB962C8B-B14F-4D97-AF65-F5344CB8AC3E}">
        <p14:creationId xmlns:p14="http://schemas.microsoft.com/office/powerpoint/2010/main" val="899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E06D-44F2-4561-8491-9EB06810B644}"/>
              </a:ext>
            </a:extLst>
          </p:cNvPr>
          <p:cNvSpPr>
            <a:spLocks noGrp="1"/>
          </p:cNvSpPr>
          <p:nvPr>
            <p:ph type="title"/>
          </p:nvPr>
        </p:nvSpPr>
        <p:spPr/>
        <p:txBody>
          <a:bodyPr/>
          <a:lstStyle/>
          <a:p>
            <a:r>
              <a:rPr lang="en-IN" dirty="0" err="1"/>
              <a:t>Tkinter</a:t>
            </a:r>
            <a:r>
              <a:rPr lang="en-IN" dirty="0"/>
              <a:t> programming(library)</a:t>
            </a:r>
          </a:p>
        </p:txBody>
      </p:sp>
      <p:sp>
        <p:nvSpPr>
          <p:cNvPr id="3" name="Content Placeholder 2">
            <a:extLst>
              <a:ext uri="{FF2B5EF4-FFF2-40B4-BE49-F238E27FC236}">
                <a16:creationId xmlns:a16="http://schemas.microsoft.com/office/drawing/2014/main" id="{54907290-E7FB-4D2A-AD2B-22CE99EA2867}"/>
              </a:ext>
            </a:extLst>
          </p:cNvPr>
          <p:cNvSpPr>
            <a:spLocks noGrp="1"/>
          </p:cNvSpPr>
          <p:nvPr>
            <p:ph idx="1"/>
          </p:nvPr>
        </p:nvSpPr>
        <p:spPr>
          <a:xfrm>
            <a:off x="1451579" y="2015732"/>
            <a:ext cx="9603275" cy="4199538"/>
          </a:xfrm>
        </p:spPr>
        <p:txBody>
          <a:bodyPr>
            <a:normAutofit lnSpcReduction="10000"/>
          </a:bodyPr>
          <a:lstStyle/>
          <a:p>
            <a:pPr algn="just"/>
            <a:r>
              <a:rPr lang="en-IN" b="0" i="0" dirty="0" err="1">
                <a:solidFill>
                  <a:srgbClr val="000000"/>
                </a:solidFill>
                <a:effectLst/>
                <a:latin typeface="Arial" panose="020B0604020202020204" pitchFamily="34" charset="0"/>
              </a:rPr>
              <a:t>Tkinter</a:t>
            </a:r>
            <a:r>
              <a:rPr lang="en-IN" b="0" i="0" dirty="0">
                <a:solidFill>
                  <a:srgbClr val="000000"/>
                </a:solidFill>
                <a:effectLst/>
                <a:latin typeface="Arial" panose="020B0604020202020204" pitchFamily="34" charset="0"/>
              </a:rPr>
              <a:t> is the standard GUI library for Python. Python when combined with </a:t>
            </a:r>
            <a:r>
              <a:rPr lang="en-IN" b="0" i="0" dirty="0" err="1">
                <a:solidFill>
                  <a:srgbClr val="000000"/>
                </a:solidFill>
                <a:effectLst/>
                <a:latin typeface="Arial" panose="020B0604020202020204" pitchFamily="34" charset="0"/>
              </a:rPr>
              <a:t>Tkinter</a:t>
            </a:r>
            <a:r>
              <a:rPr lang="en-IN" b="0" i="0" dirty="0">
                <a:solidFill>
                  <a:srgbClr val="000000"/>
                </a:solidFill>
                <a:effectLst/>
                <a:latin typeface="Arial" panose="020B0604020202020204" pitchFamily="34" charset="0"/>
              </a:rPr>
              <a:t> provides a fast and easy way to create GUI applications. </a:t>
            </a:r>
            <a:r>
              <a:rPr lang="en-IN" b="0" i="0" dirty="0" err="1">
                <a:solidFill>
                  <a:srgbClr val="000000"/>
                </a:solidFill>
                <a:effectLst/>
                <a:latin typeface="Arial" panose="020B0604020202020204" pitchFamily="34" charset="0"/>
              </a:rPr>
              <a:t>Tkinter</a:t>
            </a:r>
            <a:r>
              <a:rPr lang="en-IN" b="0" i="0" dirty="0">
                <a:solidFill>
                  <a:srgbClr val="000000"/>
                </a:solidFill>
                <a:effectLst/>
                <a:latin typeface="Arial" panose="020B0604020202020204" pitchFamily="34" charset="0"/>
              </a:rPr>
              <a:t> provides a powerful object-oriented interface to the Tk GUI toolkit.</a:t>
            </a:r>
          </a:p>
          <a:p>
            <a:pPr algn="just"/>
            <a:r>
              <a:rPr lang="en-IN" b="0" i="0" dirty="0">
                <a:solidFill>
                  <a:srgbClr val="000000"/>
                </a:solidFill>
                <a:effectLst/>
                <a:latin typeface="Arial" panose="020B0604020202020204" pitchFamily="34" charset="0"/>
              </a:rPr>
              <a:t>Creating a GUI application using </a:t>
            </a:r>
            <a:r>
              <a:rPr lang="en-IN" b="0" i="0" dirty="0" err="1">
                <a:solidFill>
                  <a:srgbClr val="000000"/>
                </a:solidFill>
                <a:effectLst/>
                <a:latin typeface="Arial" panose="020B0604020202020204" pitchFamily="34" charset="0"/>
              </a:rPr>
              <a:t>Tkinter</a:t>
            </a:r>
            <a:r>
              <a:rPr lang="en-IN" b="0" i="0" dirty="0">
                <a:solidFill>
                  <a:srgbClr val="000000"/>
                </a:solidFill>
                <a:effectLst/>
                <a:latin typeface="Arial" panose="020B0604020202020204" pitchFamily="34" charset="0"/>
              </a:rPr>
              <a:t> is an easy task. All you need to do is perform the following steps −</a:t>
            </a:r>
          </a:p>
          <a:p>
            <a:pPr marL="457200" indent="-457200" algn="just">
              <a:buAutoNum type="arabicPeriod"/>
            </a:pPr>
            <a:r>
              <a:rPr lang="en-IN" b="0" i="0" dirty="0">
                <a:solidFill>
                  <a:srgbClr val="000000"/>
                </a:solidFill>
                <a:effectLst/>
                <a:latin typeface="Arial" panose="020B0604020202020204" pitchFamily="34" charset="0"/>
              </a:rPr>
              <a:t>Import the </a:t>
            </a:r>
            <a:r>
              <a:rPr lang="en-IN" b="0" i="1" dirty="0" err="1">
                <a:solidFill>
                  <a:srgbClr val="000000"/>
                </a:solidFill>
                <a:effectLst/>
                <a:latin typeface="Arial" panose="020B0604020202020204" pitchFamily="34" charset="0"/>
              </a:rPr>
              <a:t>Tkinter</a:t>
            </a:r>
            <a:r>
              <a:rPr lang="en-IN" b="0" i="0" dirty="0">
                <a:solidFill>
                  <a:srgbClr val="000000"/>
                </a:solidFill>
                <a:effectLst/>
                <a:latin typeface="Arial" panose="020B0604020202020204" pitchFamily="34" charset="0"/>
              </a:rPr>
              <a:t> module.</a:t>
            </a:r>
          </a:p>
          <a:p>
            <a:pPr marL="457200" indent="-457200" algn="just">
              <a:buAutoNum type="arabicPeriod"/>
            </a:pPr>
            <a:r>
              <a:rPr lang="en-IN" b="0" i="0" dirty="0">
                <a:solidFill>
                  <a:srgbClr val="000000"/>
                </a:solidFill>
                <a:effectLst/>
                <a:latin typeface="Arial" panose="020B0604020202020204" pitchFamily="34" charset="0"/>
              </a:rPr>
              <a:t>Create the GUI application main window.</a:t>
            </a:r>
          </a:p>
          <a:p>
            <a:pPr marL="457200" indent="-457200" algn="just">
              <a:buAutoNum type="arabicPeriod"/>
            </a:pPr>
            <a:r>
              <a:rPr lang="en-IN" b="0" i="0" dirty="0">
                <a:solidFill>
                  <a:srgbClr val="000000"/>
                </a:solidFill>
                <a:effectLst/>
                <a:latin typeface="Arial" panose="020B0604020202020204" pitchFamily="34" charset="0"/>
              </a:rPr>
              <a:t>Add one or more of the above-mentioned widgets to the GUI application.</a:t>
            </a:r>
          </a:p>
          <a:p>
            <a:pPr marL="457200" indent="-457200" algn="just">
              <a:buAutoNum type="arabicPeriod"/>
            </a:pPr>
            <a:r>
              <a:rPr lang="en-IN" b="0" i="0" dirty="0">
                <a:solidFill>
                  <a:srgbClr val="000000"/>
                </a:solidFill>
                <a:effectLst/>
                <a:latin typeface="Arial" panose="020B0604020202020204" pitchFamily="34" charset="0"/>
              </a:rPr>
              <a:t>Enter the main event loop to take action against each event triggered by the user.</a:t>
            </a:r>
          </a:p>
          <a:p>
            <a:endParaRPr lang="en-IN" dirty="0"/>
          </a:p>
        </p:txBody>
      </p:sp>
    </p:spTree>
    <p:extLst>
      <p:ext uri="{BB962C8B-B14F-4D97-AF65-F5344CB8AC3E}">
        <p14:creationId xmlns:p14="http://schemas.microsoft.com/office/powerpoint/2010/main" val="6752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B47B9-5B1C-43F8-AE48-E80EBFD493B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A1DD45D-8337-477D-B226-7506C9395496}"/>
              </a:ext>
            </a:extLst>
          </p:cNvPr>
          <p:cNvSpPr>
            <a:spLocks noGrp="1"/>
          </p:cNvSpPr>
          <p:nvPr>
            <p:ph idx="1"/>
          </p:nvPr>
        </p:nvSpPr>
        <p:spPr/>
        <p:txBody>
          <a:bodyPr/>
          <a:lstStyle/>
          <a:p>
            <a:pPr marL="0" indent="0">
              <a:buNone/>
            </a:pPr>
            <a:r>
              <a:rPr lang="en-IN" dirty="0"/>
              <a:t>import </a:t>
            </a:r>
            <a:r>
              <a:rPr lang="en-IN" dirty="0" err="1"/>
              <a:t>tkinter</a:t>
            </a:r>
            <a:r>
              <a:rPr lang="en-IN" dirty="0"/>
              <a:t> as </a:t>
            </a:r>
            <a:r>
              <a:rPr lang="en-IN" dirty="0" err="1"/>
              <a:t>tk</a:t>
            </a:r>
            <a:r>
              <a:rPr lang="en-IN" dirty="0"/>
              <a:t> # 1</a:t>
            </a:r>
          </a:p>
          <a:p>
            <a:pPr marL="0" indent="0">
              <a:buNone/>
            </a:pPr>
            <a:r>
              <a:rPr lang="en-IN" dirty="0"/>
              <a:t>win = </a:t>
            </a:r>
            <a:r>
              <a:rPr lang="en-IN" dirty="0" err="1"/>
              <a:t>tk.Tk</a:t>
            </a:r>
            <a:r>
              <a:rPr lang="en-IN" dirty="0"/>
              <a:t>() # 2</a:t>
            </a:r>
          </a:p>
          <a:p>
            <a:pPr marL="0" indent="0">
              <a:buNone/>
            </a:pPr>
            <a:r>
              <a:rPr lang="en-US" dirty="0" err="1"/>
              <a:t>win.title</a:t>
            </a:r>
            <a:r>
              <a:rPr lang="en-US" dirty="0"/>
              <a:t>("Python GUI") # 3</a:t>
            </a:r>
          </a:p>
          <a:p>
            <a:pPr marL="0" indent="0">
              <a:buNone/>
            </a:pPr>
            <a:r>
              <a:rPr lang="en-IN" dirty="0" err="1"/>
              <a:t>win.mainloop</a:t>
            </a:r>
            <a:r>
              <a:rPr lang="en-IN" dirty="0"/>
              <a:t>() # 4</a:t>
            </a:r>
          </a:p>
          <a:p>
            <a:endParaRPr lang="en-IN" dirty="0"/>
          </a:p>
        </p:txBody>
      </p:sp>
      <p:pic>
        <p:nvPicPr>
          <p:cNvPr id="5" name="Picture 4">
            <a:extLst>
              <a:ext uri="{FF2B5EF4-FFF2-40B4-BE49-F238E27FC236}">
                <a16:creationId xmlns:a16="http://schemas.microsoft.com/office/drawing/2014/main" id="{4DE6DF93-ED2D-44B7-85F5-FC52272A2181}"/>
              </a:ext>
            </a:extLst>
          </p:cNvPr>
          <p:cNvPicPr>
            <a:picLocks noChangeAspect="1"/>
          </p:cNvPicPr>
          <p:nvPr/>
        </p:nvPicPr>
        <p:blipFill>
          <a:blip r:embed="rId2"/>
          <a:stretch>
            <a:fillRect/>
          </a:stretch>
        </p:blipFill>
        <p:spPr>
          <a:xfrm>
            <a:off x="6253216" y="2015731"/>
            <a:ext cx="2811271" cy="3272823"/>
          </a:xfrm>
          <a:prstGeom prst="rect">
            <a:avLst/>
          </a:prstGeom>
        </p:spPr>
      </p:pic>
    </p:spTree>
    <p:extLst>
      <p:ext uri="{BB962C8B-B14F-4D97-AF65-F5344CB8AC3E}">
        <p14:creationId xmlns:p14="http://schemas.microsoft.com/office/powerpoint/2010/main" val="181404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361D8-8FE2-4CB2-9085-5B600EC5D5D6}"/>
              </a:ext>
            </a:extLst>
          </p:cNvPr>
          <p:cNvSpPr>
            <a:spLocks noGrp="1"/>
          </p:cNvSpPr>
          <p:nvPr>
            <p:ph idx="1"/>
          </p:nvPr>
        </p:nvSpPr>
        <p:spPr>
          <a:xfrm>
            <a:off x="1294362" y="1279623"/>
            <a:ext cx="9603275" cy="3450613"/>
          </a:xfrm>
        </p:spPr>
        <p:txBody>
          <a:bodyPr>
            <a:noAutofit/>
          </a:bodyPr>
          <a:lstStyle/>
          <a:p>
            <a:r>
              <a:rPr lang="en-US" sz="1800" dirty="0"/>
              <a:t>We are preventing the GUI from being resized.</a:t>
            </a:r>
          </a:p>
          <a:p>
            <a:endParaRPr lang="en-US" sz="1800" dirty="0"/>
          </a:p>
          <a:p>
            <a:pPr marL="0" indent="0">
              <a:buNone/>
            </a:pPr>
            <a:r>
              <a:rPr lang="en-IN" sz="1800" dirty="0"/>
              <a:t>import </a:t>
            </a:r>
            <a:r>
              <a:rPr lang="en-IN" sz="1800" dirty="0" err="1"/>
              <a:t>tkinter</a:t>
            </a:r>
            <a:r>
              <a:rPr lang="en-IN" sz="1800" dirty="0"/>
              <a:t> as </a:t>
            </a:r>
            <a:r>
              <a:rPr lang="en-IN" sz="1800" dirty="0" err="1"/>
              <a:t>tk</a:t>
            </a:r>
            <a:r>
              <a:rPr lang="en-IN" sz="1800" dirty="0"/>
              <a:t> # 1 imports</a:t>
            </a:r>
          </a:p>
          <a:p>
            <a:pPr marL="0" indent="0">
              <a:buNone/>
            </a:pPr>
            <a:r>
              <a:rPr lang="en-US" sz="1800" dirty="0"/>
              <a:t>win = </a:t>
            </a:r>
            <a:r>
              <a:rPr lang="en-US" sz="1800" dirty="0" err="1"/>
              <a:t>tk.Tk</a:t>
            </a:r>
            <a:r>
              <a:rPr lang="en-US" sz="1800" dirty="0"/>
              <a:t>() # 2 Create instance</a:t>
            </a:r>
          </a:p>
          <a:p>
            <a:pPr marL="0" indent="0">
              <a:buNone/>
            </a:pPr>
            <a:r>
              <a:rPr lang="en-US" sz="1800" dirty="0" err="1"/>
              <a:t>win.title</a:t>
            </a:r>
            <a:r>
              <a:rPr lang="en-US" sz="1800" dirty="0"/>
              <a:t>("Python GUI") # 3 Add a title</a:t>
            </a:r>
          </a:p>
          <a:p>
            <a:pPr marL="0" indent="0">
              <a:buNone/>
            </a:pPr>
            <a:r>
              <a:rPr lang="en-US" sz="1800" dirty="0" err="1"/>
              <a:t>win.resizable</a:t>
            </a:r>
            <a:r>
              <a:rPr lang="en-US" sz="1800" dirty="0"/>
              <a:t>(0, 0) # 4 Disable resizing the GUI</a:t>
            </a:r>
          </a:p>
          <a:p>
            <a:pPr marL="0" indent="0">
              <a:buNone/>
            </a:pPr>
            <a:r>
              <a:rPr lang="en-IN" sz="1800" dirty="0" err="1"/>
              <a:t>win.mainloop</a:t>
            </a:r>
            <a:r>
              <a:rPr lang="en-IN" sz="1800" dirty="0"/>
              <a:t>() # 5 Start GUI</a:t>
            </a:r>
          </a:p>
          <a:p>
            <a:pPr marL="0" indent="0">
              <a:buNone/>
            </a:pPr>
            <a:endParaRPr lang="en-IN" sz="1800" dirty="0"/>
          </a:p>
          <a:p>
            <a:pPr marL="0" indent="0">
              <a:buNone/>
            </a:pPr>
            <a:r>
              <a:rPr lang="en-US" sz="1800" dirty="0"/>
              <a:t>Why is this important? Because, once we add widgets to our form, resizing can make our GUI look not as good as we want it to be.</a:t>
            </a:r>
            <a:endParaRPr lang="en-IN" sz="1800" dirty="0"/>
          </a:p>
          <a:p>
            <a:endParaRPr lang="en-IN" sz="1800" dirty="0"/>
          </a:p>
        </p:txBody>
      </p:sp>
    </p:spTree>
    <p:extLst>
      <p:ext uri="{BB962C8B-B14F-4D97-AF65-F5344CB8AC3E}">
        <p14:creationId xmlns:p14="http://schemas.microsoft.com/office/powerpoint/2010/main" val="2847467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D4AF5-1461-4692-B43A-68F30E4905FE}"/>
              </a:ext>
            </a:extLst>
          </p:cNvPr>
          <p:cNvSpPr>
            <a:spLocks noGrp="1"/>
          </p:cNvSpPr>
          <p:nvPr>
            <p:ph type="title"/>
          </p:nvPr>
        </p:nvSpPr>
        <p:spPr/>
        <p:txBody>
          <a:bodyPr/>
          <a:lstStyle/>
          <a:p>
            <a:r>
              <a:rPr lang="en-IN" dirty="0"/>
              <a:t>Geometry management</a:t>
            </a:r>
          </a:p>
        </p:txBody>
      </p:sp>
      <p:sp>
        <p:nvSpPr>
          <p:cNvPr id="3" name="Content Placeholder 2">
            <a:extLst>
              <a:ext uri="{FF2B5EF4-FFF2-40B4-BE49-F238E27FC236}">
                <a16:creationId xmlns:a16="http://schemas.microsoft.com/office/drawing/2014/main" id="{687E93A1-C358-4EFF-A3F7-CA5CAF63D7C3}"/>
              </a:ext>
            </a:extLst>
          </p:cNvPr>
          <p:cNvSpPr>
            <a:spLocks noGrp="1"/>
          </p:cNvSpPr>
          <p:nvPr>
            <p:ph idx="1"/>
          </p:nvPr>
        </p:nvSpPr>
        <p:spPr/>
        <p:txBody>
          <a:bodyPr/>
          <a:lstStyle/>
          <a:p>
            <a:pPr algn="l"/>
            <a:r>
              <a:rPr lang="en-IN" b="0" i="0" dirty="0">
                <a:solidFill>
                  <a:srgbClr val="000000"/>
                </a:solidFill>
                <a:effectLst/>
                <a:latin typeface="verdana" panose="020B0604030504040204" pitchFamily="34" charset="0"/>
              </a:rPr>
              <a:t>The </a:t>
            </a:r>
            <a:r>
              <a:rPr lang="en-IN" b="0" i="0" dirty="0" err="1">
                <a:solidFill>
                  <a:srgbClr val="000000"/>
                </a:solidFill>
                <a:effectLst/>
                <a:latin typeface="verdana" panose="020B0604030504040204" pitchFamily="34" charset="0"/>
              </a:rPr>
              <a:t>Tkinter</a:t>
            </a:r>
            <a:r>
              <a:rPr lang="en-IN" b="0" i="0" dirty="0">
                <a:solidFill>
                  <a:srgbClr val="000000"/>
                </a:solidFill>
                <a:effectLst/>
                <a:latin typeface="verdana" panose="020B0604030504040204" pitchFamily="34" charset="0"/>
              </a:rPr>
              <a:t> geometry specifies the method by using which, the widgets are represented on display. The python </a:t>
            </a:r>
            <a:r>
              <a:rPr lang="en-IN" b="0" i="0" dirty="0" err="1">
                <a:solidFill>
                  <a:srgbClr val="000000"/>
                </a:solidFill>
                <a:effectLst/>
                <a:latin typeface="verdana" panose="020B0604030504040204" pitchFamily="34" charset="0"/>
              </a:rPr>
              <a:t>Tkinter</a:t>
            </a:r>
            <a:r>
              <a:rPr lang="en-IN" b="0" i="0" dirty="0">
                <a:solidFill>
                  <a:srgbClr val="000000"/>
                </a:solidFill>
                <a:effectLst/>
                <a:latin typeface="verdana" panose="020B0604030504040204" pitchFamily="34" charset="0"/>
              </a:rPr>
              <a:t> provides the following geometry methods.</a:t>
            </a:r>
          </a:p>
          <a:p>
            <a:pPr algn="l">
              <a:buFont typeface="+mj-lt"/>
              <a:buAutoNum type="arabicPeriod"/>
            </a:pPr>
            <a:r>
              <a:rPr lang="en-IN" b="0" i="0" dirty="0">
                <a:solidFill>
                  <a:srgbClr val="000000"/>
                </a:solidFill>
                <a:effectLst/>
                <a:latin typeface="verdana" panose="020B0604030504040204" pitchFamily="34" charset="0"/>
              </a:rPr>
              <a:t>The pack() method</a:t>
            </a:r>
          </a:p>
          <a:p>
            <a:pPr algn="l">
              <a:buFont typeface="+mj-lt"/>
              <a:buAutoNum type="arabicPeriod"/>
            </a:pPr>
            <a:r>
              <a:rPr lang="en-IN" b="0" i="0" dirty="0">
                <a:solidFill>
                  <a:srgbClr val="000000"/>
                </a:solidFill>
                <a:effectLst/>
                <a:latin typeface="verdana" panose="020B0604030504040204" pitchFamily="34" charset="0"/>
              </a:rPr>
              <a:t>The grid() method</a:t>
            </a:r>
          </a:p>
          <a:p>
            <a:pPr algn="l">
              <a:buFont typeface="+mj-lt"/>
              <a:buAutoNum type="arabicPeriod"/>
            </a:pPr>
            <a:r>
              <a:rPr lang="en-IN" b="0" i="0" dirty="0">
                <a:solidFill>
                  <a:srgbClr val="000000"/>
                </a:solidFill>
                <a:effectLst/>
                <a:latin typeface="verdana" panose="020B0604030504040204" pitchFamily="34" charset="0"/>
              </a:rPr>
              <a:t>The place() method</a:t>
            </a:r>
          </a:p>
          <a:p>
            <a:endParaRPr lang="en-IN" dirty="0"/>
          </a:p>
        </p:txBody>
      </p:sp>
    </p:spTree>
    <p:extLst>
      <p:ext uri="{BB962C8B-B14F-4D97-AF65-F5344CB8AC3E}">
        <p14:creationId xmlns:p14="http://schemas.microsoft.com/office/powerpoint/2010/main" val="294285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675E-07D6-42ED-9A35-801A64A8FE4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EDB3526-98F0-4EC3-95CD-3D56D8AEDC5A}"/>
              </a:ext>
            </a:extLst>
          </p:cNvPr>
          <p:cNvSpPr>
            <a:spLocks noGrp="1"/>
          </p:cNvSpPr>
          <p:nvPr>
            <p:ph idx="1"/>
          </p:nvPr>
        </p:nvSpPr>
        <p:spPr>
          <a:xfrm>
            <a:off x="1451579" y="2015732"/>
            <a:ext cx="9603275" cy="4037749"/>
          </a:xfrm>
        </p:spPr>
        <p:txBody>
          <a:bodyPr>
            <a:normAutofit/>
          </a:bodyPr>
          <a:lstStyle/>
          <a:p>
            <a:r>
              <a:rPr lang="en-US" b="1" dirty="0"/>
              <a:t>pack()</a:t>
            </a:r>
            <a:r>
              <a:rPr lang="en-US" dirty="0"/>
              <a:t>:- It organizes the widgets in the block, which mean it occupies the entire available width. It's a standard method to show the widgets in the window.</a:t>
            </a:r>
          </a:p>
          <a:p>
            <a:r>
              <a:rPr lang="en-IN" b="0" i="0" dirty="0" err="1">
                <a:solidFill>
                  <a:srgbClr val="000000"/>
                </a:solidFill>
                <a:effectLst/>
                <a:latin typeface="verdana" panose="020B0604030504040204" pitchFamily="34" charset="0"/>
              </a:rPr>
              <a:t>widget.pack</a:t>
            </a:r>
            <a:r>
              <a:rPr lang="en-IN" b="0" i="0" dirty="0">
                <a:solidFill>
                  <a:srgbClr val="000000"/>
                </a:solidFill>
                <a:effectLst/>
                <a:latin typeface="verdana" panose="020B0604030504040204" pitchFamily="34" charset="0"/>
              </a:rPr>
              <a:t>(options)  </a:t>
            </a:r>
            <a:endParaRPr lang="en-US" dirty="0"/>
          </a:p>
          <a:p>
            <a:r>
              <a:rPr lang="en-US" b="1" dirty="0"/>
              <a:t>grid()</a:t>
            </a:r>
            <a:r>
              <a:rPr lang="en-US" dirty="0"/>
              <a:t>:- It organizes the widgets in table-like structure.</a:t>
            </a:r>
            <a:r>
              <a:rPr lang="en-IN" dirty="0"/>
              <a:t> We can specify the rows and columns as the options in the method call.</a:t>
            </a:r>
            <a:endParaRPr lang="en-US" dirty="0"/>
          </a:p>
          <a:p>
            <a:r>
              <a:rPr lang="en-IN" b="0" i="0" dirty="0" err="1">
                <a:solidFill>
                  <a:srgbClr val="000000"/>
                </a:solidFill>
                <a:effectLst/>
                <a:latin typeface="verdana" panose="020B0604030504040204" pitchFamily="34" charset="0"/>
              </a:rPr>
              <a:t>widget.grid</a:t>
            </a:r>
            <a:r>
              <a:rPr lang="en-IN" b="0" i="0" dirty="0">
                <a:solidFill>
                  <a:srgbClr val="000000"/>
                </a:solidFill>
                <a:effectLst/>
                <a:latin typeface="verdana" panose="020B0604030504040204" pitchFamily="34" charset="0"/>
              </a:rPr>
              <a:t>(options)  </a:t>
            </a:r>
            <a:endParaRPr lang="en-US" dirty="0"/>
          </a:p>
          <a:p>
            <a:r>
              <a:rPr lang="en-US" b="1" dirty="0"/>
              <a:t>place()</a:t>
            </a:r>
            <a:r>
              <a:rPr lang="en-US" dirty="0"/>
              <a:t>:- It's used to place the widgets at a specific position you want.</a:t>
            </a:r>
          </a:p>
          <a:p>
            <a:r>
              <a:rPr lang="en-IN" b="0" i="0" dirty="0" err="1">
                <a:solidFill>
                  <a:srgbClr val="000000"/>
                </a:solidFill>
                <a:effectLst/>
                <a:latin typeface="verdana" panose="020B0604030504040204" pitchFamily="34" charset="0"/>
              </a:rPr>
              <a:t>widget.place</a:t>
            </a:r>
            <a:r>
              <a:rPr lang="en-IN" b="0" i="0" dirty="0">
                <a:solidFill>
                  <a:srgbClr val="000000"/>
                </a:solidFill>
                <a:effectLst/>
                <a:latin typeface="verdana" panose="020B0604030504040204" pitchFamily="34" charset="0"/>
              </a:rPr>
              <a:t>(options) </a:t>
            </a:r>
            <a:endParaRPr lang="en-US" dirty="0"/>
          </a:p>
          <a:p>
            <a:endParaRPr lang="en-IN" dirty="0"/>
          </a:p>
        </p:txBody>
      </p:sp>
    </p:spTree>
    <p:extLst>
      <p:ext uri="{BB962C8B-B14F-4D97-AF65-F5344CB8AC3E}">
        <p14:creationId xmlns:p14="http://schemas.microsoft.com/office/powerpoint/2010/main" val="2393388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4FBAE1-7B2C-4C45-BA7C-4E0019E67069}"/>
              </a:ext>
            </a:extLst>
          </p:cNvPr>
          <p:cNvPicPr>
            <a:picLocks noChangeAspect="1"/>
          </p:cNvPicPr>
          <p:nvPr/>
        </p:nvPicPr>
        <p:blipFill>
          <a:blip r:embed="rId2"/>
          <a:stretch>
            <a:fillRect/>
          </a:stretch>
        </p:blipFill>
        <p:spPr>
          <a:xfrm>
            <a:off x="826190" y="658881"/>
            <a:ext cx="2059872" cy="2551726"/>
          </a:xfrm>
          <a:prstGeom prst="rect">
            <a:avLst/>
          </a:prstGeom>
        </p:spPr>
      </p:pic>
      <p:sp>
        <p:nvSpPr>
          <p:cNvPr id="4" name="TextBox 3">
            <a:extLst>
              <a:ext uri="{FF2B5EF4-FFF2-40B4-BE49-F238E27FC236}">
                <a16:creationId xmlns:a16="http://schemas.microsoft.com/office/drawing/2014/main" id="{F5F7C106-6039-4A44-B5D7-E07596739BA1}"/>
              </a:ext>
            </a:extLst>
          </p:cNvPr>
          <p:cNvSpPr txBox="1"/>
          <p:nvPr/>
        </p:nvSpPr>
        <p:spPr>
          <a:xfrm>
            <a:off x="1559477" y="3627370"/>
            <a:ext cx="609462" cy="369332"/>
          </a:xfrm>
          <a:prstGeom prst="rect">
            <a:avLst/>
          </a:prstGeom>
          <a:noFill/>
        </p:spPr>
        <p:txBody>
          <a:bodyPr wrap="none" rtlCol="0">
            <a:spAutoFit/>
          </a:bodyPr>
          <a:lstStyle/>
          <a:p>
            <a:r>
              <a:rPr lang="en-IN" dirty="0"/>
              <a:t>pack</a:t>
            </a:r>
          </a:p>
        </p:txBody>
      </p:sp>
      <p:pic>
        <p:nvPicPr>
          <p:cNvPr id="6" name="Picture 5">
            <a:extLst>
              <a:ext uri="{FF2B5EF4-FFF2-40B4-BE49-F238E27FC236}">
                <a16:creationId xmlns:a16="http://schemas.microsoft.com/office/drawing/2014/main" id="{27CD0E9B-54D3-4389-BEA8-845E7947ACD7}"/>
              </a:ext>
            </a:extLst>
          </p:cNvPr>
          <p:cNvPicPr>
            <a:picLocks noChangeAspect="1"/>
          </p:cNvPicPr>
          <p:nvPr/>
        </p:nvPicPr>
        <p:blipFill>
          <a:blip r:embed="rId3"/>
          <a:stretch>
            <a:fillRect/>
          </a:stretch>
        </p:blipFill>
        <p:spPr>
          <a:xfrm>
            <a:off x="3822424" y="658881"/>
            <a:ext cx="2273576" cy="2551726"/>
          </a:xfrm>
          <a:prstGeom prst="rect">
            <a:avLst/>
          </a:prstGeom>
        </p:spPr>
      </p:pic>
      <p:sp>
        <p:nvSpPr>
          <p:cNvPr id="7" name="TextBox 6">
            <a:extLst>
              <a:ext uri="{FF2B5EF4-FFF2-40B4-BE49-F238E27FC236}">
                <a16:creationId xmlns:a16="http://schemas.microsoft.com/office/drawing/2014/main" id="{D4FA3707-A8C7-4EB5-8D5F-E2D97C76B093}"/>
              </a:ext>
            </a:extLst>
          </p:cNvPr>
          <p:cNvSpPr txBox="1"/>
          <p:nvPr/>
        </p:nvSpPr>
        <p:spPr>
          <a:xfrm>
            <a:off x="4570287" y="3627370"/>
            <a:ext cx="660758" cy="369332"/>
          </a:xfrm>
          <a:prstGeom prst="rect">
            <a:avLst/>
          </a:prstGeom>
          <a:noFill/>
        </p:spPr>
        <p:txBody>
          <a:bodyPr wrap="none" rtlCol="0">
            <a:spAutoFit/>
          </a:bodyPr>
          <a:lstStyle/>
          <a:p>
            <a:r>
              <a:rPr lang="en-IN" dirty="0"/>
              <a:t>place</a:t>
            </a:r>
          </a:p>
        </p:txBody>
      </p:sp>
      <p:pic>
        <p:nvPicPr>
          <p:cNvPr id="9" name="Picture 8">
            <a:extLst>
              <a:ext uri="{FF2B5EF4-FFF2-40B4-BE49-F238E27FC236}">
                <a16:creationId xmlns:a16="http://schemas.microsoft.com/office/drawing/2014/main" id="{313F9D42-2069-464F-B496-E25490FACD0B}"/>
              </a:ext>
            </a:extLst>
          </p:cNvPr>
          <p:cNvPicPr>
            <a:picLocks noChangeAspect="1"/>
          </p:cNvPicPr>
          <p:nvPr/>
        </p:nvPicPr>
        <p:blipFill>
          <a:blip r:embed="rId4"/>
          <a:stretch>
            <a:fillRect/>
          </a:stretch>
        </p:blipFill>
        <p:spPr>
          <a:xfrm>
            <a:off x="7016198" y="658881"/>
            <a:ext cx="3031754" cy="2551726"/>
          </a:xfrm>
          <a:prstGeom prst="rect">
            <a:avLst/>
          </a:prstGeom>
        </p:spPr>
      </p:pic>
      <p:sp>
        <p:nvSpPr>
          <p:cNvPr id="10" name="TextBox 9">
            <a:extLst>
              <a:ext uri="{FF2B5EF4-FFF2-40B4-BE49-F238E27FC236}">
                <a16:creationId xmlns:a16="http://schemas.microsoft.com/office/drawing/2014/main" id="{05A89982-8E91-4E3F-843B-47EC67B994B2}"/>
              </a:ext>
            </a:extLst>
          </p:cNvPr>
          <p:cNvSpPr txBox="1"/>
          <p:nvPr/>
        </p:nvSpPr>
        <p:spPr>
          <a:xfrm>
            <a:off x="8083179" y="3627370"/>
            <a:ext cx="542136" cy="369332"/>
          </a:xfrm>
          <a:prstGeom prst="rect">
            <a:avLst/>
          </a:prstGeom>
          <a:noFill/>
        </p:spPr>
        <p:txBody>
          <a:bodyPr wrap="none" rtlCol="0">
            <a:spAutoFit/>
          </a:bodyPr>
          <a:lstStyle/>
          <a:p>
            <a:r>
              <a:rPr lang="en-IN" dirty="0"/>
              <a:t>grid</a:t>
            </a:r>
          </a:p>
        </p:txBody>
      </p:sp>
    </p:spTree>
    <p:extLst>
      <p:ext uri="{BB962C8B-B14F-4D97-AF65-F5344CB8AC3E}">
        <p14:creationId xmlns:p14="http://schemas.microsoft.com/office/powerpoint/2010/main" val="385942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81823-3D1A-4902-992E-5F5306ECB357}"/>
              </a:ext>
            </a:extLst>
          </p:cNvPr>
          <p:cNvSpPr>
            <a:spLocks noGrp="1"/>
          </p:cNvSpPr>
          <p:nvPr>
            <p:ph type="title"/>
          </p:nvPr>
        </p:nvSpPr>
        <p:spPr>
          <a:xfrm>
            <a:off x="1464831" y="751511"/>
            <a:ext cx="9603275" cy="1049235"/>
          </a:xfrm>
        </p:spPr>
        <p:txBody>
          <a:bodyPr/>
          <a:lstStyle/>
          <a:p>
            <a:r>
              <a:rPr lang="en-IN" dirty="0" err="1"/>
              <a:t>Tkinter</a:t>
            </a:r>
            <a:r>
              <a:rPr lang="en-IN" dirty="0"/>
              <a:t> widgets</a:t>
            </a:r>
          </a:p>
        </p:txBody>
      </p:sp>
      <p:pic>
        <p:nvPicPr>
          <p:cNvPr id="4" name="Picture 3">
            <a:extLst>
              <a:ext uri="{FF2B5EF4-FFF2-40B4-BE49-F238E27FC236}">
                <a16:creationId xmlns:a16="http://schemas.microsoft.com/office/drawing/2014/main" id="{D5FB7A90-1596-45C0-9DCE-E4B0708BDCF2}"/>
              </a:ext>
            </a:extLst>
          </p:cNvPr>
          <p:cNvPicPr>
            <a:picLocks noChangeAspect="1"/>
          </p:cNvPicPr>
          <p:nvPr/>
        </p:nvPicPr>
        <p:blipFill>
          <a:blip r:embed="rId2"/>
          <a:stretch>
            <a:fillRect/>
          </a:stretch>
        </p:blipFill>
        <p:spPr>
          <a:xfrm>
            <a:off x="1464831" y="1800746"/>
            <a:ext cx="7838195" cy="4225006"/>
          </a:xfrm>
          <a:prstGeom prst="rect">
            <a:avLst/>
          </a:prstGeom>
        </p:spPr>
      </p:pic>
    </p:spTree>
    <p:extLst>
      <p:ext uri="{BB962C8B-B14F-4D97-AF65-F5344CB8AC3E}">
        <p14:creationId xmlns:p14="http://schemas.microsoft.com/office/powerpoint/2010/main" val="233159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A097-CFD4-4DFF-9E4D-79289FCDB5BB}"/>
              </a:ext>
            </a:extLst>
          </p:cNvPr>
          <p:cNvSpPr>
            <a:spLocks noGrp="1"/>
          </p:cNvSpPr>
          <p:nvPr>
            <p:ph type="title"/>
          </p:nvPr>
        </p:nvSpPr>
        <p:spPr/>
        <p:txBody>
          <a:bodyPr/>
          <a:lstStyle/>
          <a:p>
            <a:r>
              <a:rPr lang="en-IN" dirty="0"/>
              <a:t>Displaying Text and Images With Label Widgets</a:t>
            </a:r>
          </a:p>
        </p:txBody>
      </p:sp>
      <p:sp>
        <p:nvSpPr>
          <p:cNvPr id="3" name="Content Placeholder 2">
            <a:extLst>
              <a:ext uri="{FF2B5EF4-FFF2-40B4-BE49-F238E27FC236}">
                <a16:creationId xmlns:a16="http://schemas.microsoft.com/office/drawing/2014/main" id="{2009772B-E9DC-4BFF-A1A0-D4FF91337F73}"/>
              </a:ext>
            </a:extLst>
          </p:cNvPr>
          <p:cNvSpPr>
            <a:spLocks noGrp="1"/>
          </p:cNvSpPr>
          <p:nvPr>
            <p:ph idx="1"/>
          </p:nvPr>
        </p:nvSpPr>
        <p:spPr/>
        <p:txBody>
          <a:bodyPr/>
          <a:lstStyle/>
          <a:p>
            <a:r>
              <a:rPr lang="en-IN" dirty="0"/>
              <a:t>Label widgets are used to display text or images. The text displayed by a Label widget can’t be edited by the user. It’s for display purposes only.</a:t>
            </a:r>
          </a:p>
          <a:p>
            <a:r>
              <a:rPr lang="en-IN" b="0" i="0" dirty="0">
                <a:solidFill>
                  <a:srgbClr val="000000"/>
                </a:solidFill>
                <a:effectLst/>
                <a:latin typeface="verdana" panose="020B0604030504040204" pitchFamily="34" charset="0"/>
              </a:rPr>
              <a:t>w = Label (master, options)  </a:t>
            </a:r>
          </a:p>
          <a:p>
            <a:r>
              <a:rPr lang="en-IN" dirty="0"/>
              <a:t>A list of possible options is given below.</a:t>
            </a:r>
          </a:p>
          <a:p>
            <a:endParaRPr lang="en-IN" dirty="0"/>
          </a:p>
        </p:txBody>
      </p:sp>
      <p:pic>
        <p:nvPicPr>
          <p:cNvPr id="7" name="Picture 6">
            <a:extLst>
              <a:ext uri="{FF2B5EF4-FFF2-40B4-BE49-F238E27FC236}">
                <a16:creationId xmlns:a16="http://schemas.microsoft.com/office/drawing/2014/main" id="{A83770C3-3FEF-42C3-8C23-CE2E6A084B4D}"/>
              </a:ext>
            </a:extLst>
          </p:cNvPr>
          <p:cNvPicPr>
            <a:picLocks noChangeAspect="1"/>
          </p:cNvPicPr>
          <p:nvPr/>
        </p:nvPicPr>
        <p:blipFill>
          <a:blip r:embed="rId2"/>
          <a:stretch>
            <a:fillRect/>
          </a:stretch>
        </p:blipFill>
        <p:spPr>
          <a:xfrm>
            <a:off x="1600200" y="4089331"/>
            <a:ext cx="5396948" cy="514540"/>
          </a:xfrm>
          <a:prstGeom prst="rect">
            <a:avLst/>
          </a:prstGeom>
        </p:spPr>
      </p:pic>
      <p:pic>
        <p:nvPicPr>
          <p:cNvPr id="9" name="Picture 8">
            <a:extLst>
              <a:ext uri="{FF2B5EF4-FFF2-40B4-BE49-F238E27FC236}">
                <a16:creationId xmlns:a16="http://schemas.microsoft.com/office/drawing/2014/main" id="{0A676A5F-8384-4559-B903-DF68EC95E332}"/>
              </a:ext>
            </a:extLst>
          </p:cNvPr>
          <p:cNvPicPr>
            <a:picLocks noChangeAspect="1"/>
          </p:cNvPicPr>
          <p:nvPr/>
        </p:nvPicPr>
        <p:blipFill>
          <a:blip r:embed="rId3"/>
          <a:stretch>
            <a:fillRect/>
          </a:stretch>
        </p:blipFill>
        <p:spPr>
          <a:xfrm>
            <a:off x="1596473" y="4603871"/>
            <a:ext cx="5833399" cy="1306599"/>
          </a:xfrm>
          <a:prstGeom prst="rect">
            <a:avLst/>
          </a:prstGeom>
        </p:spPr>
      </p:pic>
    </p:spTree>
    <p:extLst>
      <p:ext uri="{BB962C8B-B14F-4D97-AF65-F5344CB8AC3E}">
        <p14:creationId xmlns:p14="http://schemas.microsoft.com/office/powerpoint/2010/main" val="4196356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BB1407-D7A6-4F21-BDC4-039A75A0C0E6}"/>
              </a:ext>
            </a:extLst>
          </p:cNvPr>
          <p:cNvPicPr>
            <a:picLocks noChangeAspect="1"/>
          </p:cNvPicPr>
          <p:nvPr/>
        </p:nvPicPr>
        <p:blipFill>
          <a:blip r:embed="rId2"/>
          <a:stretch>
            <a:fillRect/>
          </a:stretch>
        </p:blipFill>
        <p:spPr>
          <a:xfrm>
            <a:off x="833437" y="2000250"/>
            <a:ext cx="10525125" cy="2857500"/>
          </a:xfrm>
          <a:prstGeom prst="rect">
            <a:avLst/>
          </a:prstGeom>
        </p:spPr>
      </p:pic>
      <p:sp>
        <p:nvSpPr>
          <p:cNvPr id="4" name="TextBox 3">
            <a:extLst>
              <a:ext uri="{FF2B5EF4-FFF2-40B4-BE49-F238E27FC236}">
                <a16:creationId xmlns:a16="http://schemas.microsoft.com/office/drawing/2014/main" id="{0D181F31-51DC-44C4-8008-BF06FF289390}"/>
              </a:ext>
            </a:extLst>
          </p:cNvPr>
          <p:cNvSpPr txBox="1"/>
          <p:nvPr/>
        </p:nvSpPr>
        <p:spPr>
          <a:xfrm>
            <a:off x="2146852" y="583096"/>
            <a:ext cx="2045753" cy="369332"/>
          </a:xfrm>
          <a:prstGeom prst="rect">
            <a:avLst/>
          </a:prstGeom>
          <a:noFill/>
        </p:spPr>
        <p:txBody>
          <a:bodyPr wrap="none" rtlCol="0">
            <a:spAutoFit/>
          </a:bodyPr>
          <a:lstStyle/>
          <a:p>
            <a:r>
              <a:rPr lang="en-IN" dirty="0"/>
              <a:t>LABEL WITH TEXT</a:t>
            </a:r>
          </a:p>
        </p:txBody>
      </p:sp>
    </p:spTree>
    <p:extLst>
      <p:ext uri="{BB962C8B-B14F-4D97-AF65-F5344CB8AC3E}">
        <p14:creationId xmlns:p14="http://schemas.microsoft.com/office/powerpoint/2010/main" val="1529551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49A301-8B80-498C-B150-745262428C21}"/>
              </a:ext>
            </a:extLst>
          </p:cNvPr>
          <p:cNvPicPr>
            <a:picLocks noChangeAspect="1"/>
          </p:cNvPicPr>
          <p:nvPr/>
        </p:nvPicPr>
        <p:blipFill>
          <a:blip r:embed="rId2"/>
          <a:stretch>
            <a:fillRect/>
          </a:stretch>
        </p:blipFill>
        <p:spPr>
          <a:xfrm>
            <a:off x="766762" y="2376487"/>
            <a:ext cx="10658475" cy="2105025"/>
          </a:xfrm>
          <a:prstGeom prst="rect">
            <a:avLst/>
          </a:prstGeom>
        </p:spPr>
      </p:pic>
      <p:sp>
        <p:nvSpPr>
          <p:cNvPr id="4" name="TextBox 3">
            <a:extLst>
              <a:ext uri="{FF2B5EF4-FFF2-40B4-BE49-F238E27FC236}">
                <a16:creationId xmlns:a16="http://schemas.microsoft.com/office/drawing/2014/main" id="{F2ADE641-88BE-44EA-B5D1-5B7B7B06EBF2}"/>
              </a:ext>
            </a:extLst>
          </p:cNvPr>
          <p:cNvSpPr txBox="1"/>
          <p:nvPr/>
        </p:nvSpPr>
        <p:spPr>
          <a:xfrm>
            <a:off x="1364974" y="808383"/>
            <a:ext cx="2185598" cy="369332"/>
          </a:xfrm>
          <a:prstGeom prst="rect">
            <a:avLst/>
          </a:prstGeom>
          <a:noFill/>
        </p:spPr>
        <p:txBody>
          <a:bodyPr wrap="none" rtlCol="0">
            <a:spAutoFit/>
          </a:bodyPr>
          <a:lstStyle/>
          <a:p>
            <a:r>
              <a:rPr lang="en-IN" dirty="0"/>
              <a:t>LABEL WITH IMAGE</a:t>
            </a:r>
          </a:p>
        </p:txBody>
      </p:sp>
    </p:spTree>
    <p:extLst>
      <p:ext uri="{BB962C8B-B14F-4D97-AF65-F5344CB8AC3E}">
        <p14:creationId xmlns:p14="http://schemas.microsoft.com/office/powerpoint/2010/main" val="3311368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57EA0-09D3-4A5C-8F54-835D3DFA2752}"/>
              </a:ext>
            </a:extLst>
          </p:cNvPr>
          <p:cNvSpPr>
            <a:spLocks noGrp="1"/>
          </p:cNvSpPr>
          <p:nvPr>
            <p:ph type="title"/>
          </p:nvPr>
        </p:nvSpPr>
        <p:spPr/>
        <p:txBody>
          <a:bodyPr/>
          <a:lstStyle/>
          <a:p>
            <a:r>
              <a:rPr lang="en-IN" dirty="0"/>
              <a:t>Displaying Clickable Buttons With Button Widgets</a:t>
            </a:r>
          </a:p>
        </p:txBody>
      </p:sp>
      <p:sp>
        <p:nvSpPr>
          <p:cNvPr id="3" name="Content Placeholder 2">
            <a:extLst>
              <a:ext uri="{FF2B5EF4-FFF2-40B4-BE49-F238E27FC236}">
                <a16:creationId xmlns:a16="http://schemas.microsoft.com/office/drawing/2014/main" id="{334D8AF2-4BC5-4058-BD3B-C101B348F22D}"/>
              </a:ext>
            </a:extLst>
          </p:cNvPr>
          <p:cNvSpPr>
            <a:spLocks noGrp="1"/>
          </p:cNvSpPr>
          <p:nvPr>
            <p:ph idx="1"/>
          </p:nvPr>
        </p:nvSpPr>
        <p:spPr>
          <a:xfrm>
            <a:off x="1137146" y="1853754"/>
            <a:ext cx="10418749" cy="4438077"/>
          </a:xfrm>
        </p:spPr>
        <p:txBody>
          <a:bodyPr>
            <a:normAutofit fontScale="85000" lnSpcReduction="10000"/>
          </a:bodyPr>
          <a:lstStyle/>
          <a:p>
            <a:r>
              <a:rPr lang="en-IN" dirty="0"/>
              <a:t>Button widgets are used to display clickable buttons. They can be configured to call a function whenever they’re clicked.  </a:t>
            </a:r>
          </a:p>
          <a:p>
            <a:r>
              <a:rPr lang="en-IN" dirty="0"/>
              <a:t>There are many similarities between Button and Label widgets. In many ways, a Button is just a Label that you can click! The same keyword arguments you use to create and style a Label will work with Button widgets.</a:t>
            </a:r>
          </a:p>
          <a:p>
            <a:r>
              <a:rPr lang="en-IN" dirty="0"/>
              <a:t>Syntax</a:t>
            </a:r>
          </a:p>
          <a:p>
            <a:pPr marL="0" indent="0">
              <a:buNone/>
            </a:pPr>
            <a:r>
              <a:rPr lang="en-IN" dirty="0"/>
              <a:t>Here is the simple syntax to create this widget −</a:t>
            </a:r>
          </a:p>
          <a:p>
            <a:pPr marL="0" indent="0">
              <a:buNone/>
            </a:pPr>
            <a:r>
              <a:rPr lang="en-IN" dirty="0"/>
              <a:t>w = Button ( master, option=value, ... )</a:t>
            </a:r>
          </a:p>
          <a:p>
            <a:pPr marL="0" indent="0">
              <a:buNone/>
            </a:pPr>
            <a:r>
              <a:rPr lang="en-IN" b="1" dirty="0"/>
              <a:t>  Parameters</a:t>
            </a:r>
          </a:p>
          <a:p>
            <a:r>
              <a:rPr lang="en-IN" b="1" dirty="0"/>
              <a:t>master:</a:t>
            </a:r>
            <a:r>
              <a:rPr lang="en-IN" dirty="0"/>
              <a:t> This represents the parent window.</a:t>
            </a:r>
          </a:p>
          <a:p>
            <a:r>
              <a:rPr lang="en-IN" b="1" dirty="0"/>
              <a:t>options: </a:t>
            </a:r>
            <a:r>
              <a:rPr lang="en-IN" dirty="0"/>
              <a:t>list of most commonly used options for this widget. These options can be used as key-value pairs separated by commas.</a:t>
            </a:r>
          </a:p>
          <a:p>
            <a:endParaRPr lang="en-IN" dirty="0"/>
          </a:p>
        </p:txBody>
      </p:sp>
    </p:spTree>
    <p:extLst>
      <p:ext uri="{BB962C8B-B14F-4D97-AF65-F5344CB8AC3E}">
        <p14:creationId xmlns:p14="http://schemas.microsoft.com/office/powerpoint/2010/main" val="3633528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E6A6AA4-7586-4832-9979-1E7384D77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8900" y="130525"/>
            <a:ext cx="6934200" cy="3445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61414CDB-B90D-4FED-955D-8B1724DDD880}"/>
              </a:ext>
            </a:extLst>
          </p:cNvPr>
          <p:cNvPicPr>
            <a:picLocks noChangeAspect="1"/>
          </p:cNvPicPr>
          <p:nvPr/>
        </p:nvPicPr>
        <p:blipFill>
          <a:blip r:embed="rId3"/>
          <a:stretch>
            <a:fillRect/>
          </a:stretch>
        </p:blipFill>
        <p:spPr>
          <a:xfrm>
            <a:off x="2628899" y="3638940"/>
            <a:ext cx="3679135" cy="692824"/>
          </a:xfrm>
          <a:prstGeom prst="rect">
            <a:avLst/>
          </a:prstGeom>
        </p:spPr>
      </p:pic>
    </p:spTree>
    <p:extLst>
      <p:ext uri="{BB962C8B-B14F-4D97-AF65-F5344CB8AC3E}">
        <p14:creationId xmlns:p14="http://schemas.microsoft.com/office/powerpoint/2010/main" val="1026546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369178-03F2-4D76-A356-7310FE304D95}"/>
              </a:ext>
            </a:extLst>
          </p:cNvPr>
          <p:cNvSpPr txBox="1"/>
          <p:nvPr/>
        </p:nvSpPr>
        <p:spPr>
          <a:xfrm>
            <a:off x="1050234" y="581872"/>
            <a:ext cx="9312965" cy="1477328"/>
          </a:xfrm>
          <a:prstGeom prst="rect">
            <a:avLst/>
          </a:prstGeom>
          <a:noFill/>
        </p:spPr>
        <p:txBody>
          <a:bodyPr wrap="square">
            <a:spAutoFit/>
          </a:bodyPr>
          <a:lstStyle/>
          <a:p>
            <a:r>
              <a:rPr lang="en-IN" dirty="0"/>
              <a:t>import </a:t>
            </a:r>
            <a:r>
              <a:rPr lang="en-IN" dirty="0" err="1"/>
              <a:t>tkinter</a:t>
            </a:r>
            <a:r>
              <a:rPr lang="en-IN" dirty="0"/>
              <a:t> as </a:t>
            </a:r>
            <a:r>
              <a:rPr lang="en-IN" dirty="0" err="1"/>
              <a:t>tk</a:t>
            </a:r>
            <a:endParaRPr lang="en-IN" dirty="0"/>
          </a:p>
          <a:p>
            <a:r>
              <a:rPr lang="en-IN" dirty="0"/>
              <a:t>top = </a:t>
            </a:r>
            <a:r>
              <a:rPr lang="en-IN" dirty="0" err="1"/>
              <a:t>tk.Tk</a:t>
            </a:r>
            <a:r>
              <a:rPr lang="en-IN" dirty="0"/>
              <a:t>()</a:t>
            </a:r>
          </a:p>
          <a:p>
            <a:r>
              <a:rPr lang="en-IN" dirty="0"/>
              <a:t>B = </a:t>
            </a:r>
            <a:r>
              <a:rPr lang="en-IN" dirty="0" err="1"/>
              <a:t>tk.Button</a:t>
            </a:r>
            <a:r>
              <a:rPr lang="en-IN" dirty="0"/>
              <a:t>(top, text ="Hello", </a:t>
            </a:r>
            <a:r>
              <a:rPr lang="en-IN" dirty="0" err="1"/>
              <a:t>activebackground</a:t>
            </a:r>
            <a:r>
              <a:rPr lang="en-IN" dirty="0"/>
              <a:t>="red",</a:t>
            </a:r>
            <a:r>
              <a:rPr lang="en-IN" dirty="0" err="1"/>
              <a:t>activeforeground</a:t>
            </a:r>
            <a:r>
              <a:rPr lang="en-IN" dirty="0"/>
              <a:t>="</a:t>
            </a:r>
            <a:r>
              <a:rPr lang="en-IN" dirty="0" err="1"/>
              <a:t>blue",bd</a:t>
            </a:r>
            <a:r>
              <a:rPr lang="en-IN" dirty="0"/>
              <a:t>=5)</a:t>
            </a:r>
          </a:p>
          <a:p>
            <a:r>
              <a:rPr lang="en-IN" dirty="0" err="1"/>
              <a:t>B.pack</a:t>
            </a:r>
            <a:r>
              <a:rPr lang="en-IN" dirty="0"/>
              <a:t>( side="right" )</a:t>
            </a:r>
          </a:p>
          <a:p>
            <a:r>
              <a:rPr lang="en-IN" dirty="0" err="1"/>
              <a:t>top.mainloop</a:t>
            </a:r>
            <a:r>
              <a:rPr lang="en-IN" dirty="0"/>
              <a:t>()</a:t>
            </a:r>
          </a:p>
        </p:txBody>
      </p:sp>
      <p:pic>
        <p:nvPicPr>
          <p:cNvPr id="5" name="Picture 4">
            <a:extLst>
              <a:ext uri="{FF2B5EF4-FFF2-40B4-BE49-F238E27FC236}">
                <a16:creationId xmlns:a16="http://schemas.microsoft.com/office/drawing/2014/main" id="{52EC37F6-456E-4945-A242-509B8EEDCA21}"/>
              </a:ext>
            </a:extLst>
          </p:cNvPr>
          <p:cNvPicPr>
            <a:picLocks noChangeAspect="1"/>
          </p:cNvPicPr>
          <p:nvPr/>
        </p:nvPicPr>
        <p:blipFill>
          <a:blip r:embed="rId2"/>
          <a:stretch>
            <a:fillRect/>
          </a:stretch>
        </p:blipFill>
        <p:spPr>
          <a:xfrm>
            <a:off x="5564256" y="2465176"/>
            <a:ext cx="3581400" cy="2333625"/>
          </a:xfrm>
          <a:prstGeom prst="rect">
            <a:avLst/>
          </a:prstGeom>
        </p:spPr>
      </p:pic>
    </p:spTree>
    <p:extLst>
      <p:ext uri="{BB962C8B-B14F-4D97-AF65-F5344CB8AC3E}">
        <p14:creationId xmlns:p14="http://schemas.microsoft.com/office/powerpoint/2010/main" val="1939593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160E4E-8C78-4E6D-A92A-8B647D817A2A}"/>
              </a:ext>
            </a:extLst>
          </p:cNvPr>
          <p:cNvSpPr txBox="1"/>
          <p:nvPr/>
        </p:nvSpPr>
        <p:spPr>
          <a:xfrm>
            <a:off x="1033670" y="754657"/>
            <a:ext cx="8120269" cy="5078313"/>
          </a:xfrm>
          <a:prstGeom prst="rect">
            <a:avLst/>
          </a:prstGeom>
          <a:noFill/>
        </p:spPr>
        <p:txBody>
          <a:bodyPr wrap="square">
            <a:spAutoFit/>
          </a:bodyPr>
          <a:lstStyle/>
          <a:p>
            <a:r>
              <a:rPr lang="en-US" dirty="0"/>
              <a:t>In the below example, when you click the button, it calls a function called </a:t>
            </a:r>
            <a:r>
              <a:rPr lang="en-US" b="1" dirty="0" err="1"/>
              <a:t>say_hi</a:t>
            </a:r>
            <a:r>
              <a:rPr lang="en-US" dirty="0"/>
              <a:t>.</a:t>
            </a:r>
          </a:p>
          <a:p>
            <a:r>
              <a:rPr lang="en-US" dirty="0"/>
              <a:t>Function </a:t>
            </a:r>
            <a:r>
              <a:rPr lang="en-US" b="1" dirty="0" err="1"/>
              <a:t>say_hi</a:t>
            </a:r>
            <a:r>
              <a:rPr lang="en-US" dirty="0"/>
              <a:t> creates a new label with the text </a:t>
            </a:r>
            <a:r>
              <a:rPr lang="en-US" b="1" dirty="0"/>
              <a:t>Hi</a:t>
            </a:r>
            <a:r>
              <a:rPr lang="en-US" dirty="0"/>
              <a:t>.</a:t>
            </a:r>
          </a:p>
          <a:p>
            <a:endParaRPr lang="en-US" dirty="0"/>
          </a:p>
          <a:p>
            <a:r>
              <a:rPr lang="en-US" dirty="0"/>
              <a:t>#example</a:t>
            </a:r>
          </a:p>
          <a:p>
            <a:pPr marL="0" indent="0">
              <a:buNone/>
            </a:pPr>
            <a:r>
              <a:rPr lang="en-US" dirty="0"/>
              <a:t>import </a:t>
            </a:r>
            <a:r>
              <a:rPr lang="en-US" dirty="0" err="1"/>
              <a:t>tkinter</a:t>
            </a:r>
            <a:endParaRPr lang="en-US" dirty="0"/>
          </a:p>
          <a:p>
            <a:pPr marL="0" indent="0">
              <a:buNone/>
            </a:pPr>
            <a:endParaRPr lang="en-US" dirty="0"/>
          </a:p>
          <a:p>
            <a:pPr marL="0" indent="0">
              <a:buNone/>
            </a:pPr>
            <a:r>
              <a:rPr lang="en-US" dirty="0"/>
              <a:t>window = </a:t>
            </a:r>
            <a:r>
              <a:rPr lang="en-US" dirty="0" err="1"/>
              <a:t>tkinter.Tk</a:t>
            </a:r>
            <a:r>
              <a:rPr lang="en-US" dirty="0"/>
              <a:t>()</a:t>
            </a:r>
          </a:p>
          <a:p>
            <a:pPr marL="0" indent="0">
              <a:buNone/>
            </a:pPr>
            <a:r>
              <a:rPr lang="en-US" dirty="0" err="1"/>
              <a:t>window.title</a:t>
            </a:r>
            <a:r>
              <a:rPr lang="en-US" dirty="0"/>
              <a:t>("GUI")</a:t>
            </a:r>
          </a:p>
          <a:p>
            <a:pPr marL="0" indent="0">
              <a:buNone/>
            </a:pPr>
            <a:endParaRPr lang="en-US" dirty="0"/>
          </a:p>
          <a:p>
            <a:pPr marL="0" indent="0">
              <a:buNone/>
            </a:pPr>
            <a:r>
              <a:rPr lang="en-US" dirty="0"/>
              <a:t># creating a function called </a:t>
            </a:r>
            <a:r>
              <a:rPr lang="en-US" dirty="0" err="1"/>
              <a:t>say_hi</a:t>
            </a:r>
            <a:r>
              <a:rPr lang="en-US" dirty="0"/>
              <a:t>()</a:t>
            </a:r>
          </a:p>
          <a:p>
            <a:pPr marL="0" indent="0">
              <a:buNone/>
            </a:pPr>
            <a:r>
              <a:rPr lang="en-US" dirty="0"/>
              <a:t>def </a:t>
            </a:r>
            <a:r>
              <a:rPr lang="en-US" dirty="0" err="1"/>
              <a:t>say_hi</a:t>
            </a:r>
            <a:r>
              <a:rPr lang="en-US" dirty="0"/>
              <a:t>():</a:t>
            </a:r>
          </a:p>
          <a:p>
            <a:pPr marL="0" indent="0">
              <a:buNone/>
            </a:pPr>
            <a:r>
              <a:rPr lang="en-US" dirty="0"/>
              <a:t>    </a:t>
            </a:r>
            <a:r>
              <a:rPr lang="en-US" dirty="0" err="1"/>
              <a:t>tkinter.Label</a:t>
            </a:r>
            <a:r>
              <a:rPr lang="en-US" dirty="0"/>
              <a:t>(window, text = "Hi").pack()</a:t>
            </a:r>
          </a:p>
          <a:p>
            <a:pPr marL="0" indent="0">
              <a:buNone/>
            </a:pPr>
            <a:endParaRPr lang="en-US" dirty="0"/>
          </a:p>
          <a:p>
            <a:pPr marL="0" indent="0">
              <a:buNone/>
            </a:pPr>
            <a:r>
              <a:rPr lang="en-US" dirty="0" err="1"/>
              <a:t>tkinter.Button</a:t>
            </a:r>
            <a:r>
              <a:rPr lang="en-US" dirty="0"/>
              <a:t>(window, text = "Click Me!", command = </a:t>
            </a:r>
            <a:r>
              <a:rPr lang="en-US" dirty="0" err="1"/>
              <a:t>say_hi</a:t>
            </a:r>
            <a:r>
              <a:rPr lang="en-US" dirty="0"/>
              <a:t>).pack() # 'command' is executed when you click the button</a:t>
            </a:r>
          </a:p>
          <a:p>
            <a:pPr marL="0" indent="0">
              <a:buNone/>
            </a:pPr>
            <a:r>
              <a:rPr lang="en-US" dirty="0"/>
              <a:t>                                                                    # in this above case we're calling the function '</a:t>
            </a:r>
            <a:r>
              <a:rPr lang="en-US" dirty="0" err="1"/>
              <a:t>say_hi</a:t>
            </a:r>
            <a:r>
              <a:rPr lang="en-US" dirty="0"/>
              <a:t>'.</a:t>
            </a:r>
          </a:p>
          <a:p>
            <a:pPr marL="0" indent="0">
              <a:buNone/>
            </a:pPr>
            <a:r>
              <a:rPr lang="en-US" dirty="0" err="1"/>
              <a:t>window.mainloop</a:t>
            </a:r>
            <a:r>
              <a:rPr lang="en-US" dirty="0"/>
              <a:t>()</a:t>
            </a:r>
          </a:p>
        </p:txBody>
      </p:sp>
      <p:pic>
        <p:nvPicPr>
          <p:cNvPr id="5" name="Picture 4">
            <a:extLst>
              <a:ext uri="{FF2B5EF4-FFF2-40B4-BE49-F238E27FC236}">
                <a16:creationId xmlns:a16="http://schemas.microsoft.com/office/drawing/2014/main" id="{2FE9DCA7-4D8A-41FE-9E3A-A998A73CA484}"/>
              </a:ext>
            </a:extLst>
          </p:cNvPr>
          <p:cNvPicPr>
            <a:picLocks noChangeAspect="1"/>
          </p:cNvPicPr>
          <p:nvPr/>
        </p:nvPicPr>
        <p:blipFill>
          <a:blip r:embed="rId2"/>
          <a:stretch>
            <a:fillRect/>
          </a:stretch>
        </p:blipFill>
        <p:spPr>
          <a:xfrm>
            <a:off x="9720676" y="0"/>
            <a:ext cx="2371725" cy="2552700"/>
          </a:xfrm>
          <a:prstGeom prst="rect">
            <a:avLst/>
          </a:prstGeom>
        </p:spPr>
      </p:pic>
      <p:pic>
        <p:nvPicPr>
          <p:cNvPr id="7" name="Picture 6">
            <a:extLst>
              <a:ext uri="{FF2B5EF4-FFF2-40B4-BE49-F238E27FC236}">
                <a16:creationId xmlns:a16="http://schemas.microsoft.com/office/drawing/2014/main" id="{5865CC3F-60E1-490D-96EA-FD1565AC1CA1}"/>
              </a:ext>
            </a:extLst>
          </p:cNvPr>
          <p:cNvPicPr>
            <a:picLocks noChangeAspect="1"/>
          </p:cNvPicPr>
          <p:nvPr/>
        </p:nvPicPr>
        <p:blipFill>
          <a:blip r:embed="rId3"/>
          <a:stretch>
            <a:fillRect/>
          </a:stretch>
        </p:blipFill>
        <p:spPr>
          <a:xfrm>
            <a:off x="9720676" y="2933701"/>
            <a:ext cx="2400300" cy="2743200"/>
          </a:xfrm>
          <a:prstGeom prst="rect">
            <a:avLst/>
          </a:prstGeom>
        </p:spPr>
      </p:pic>
    </p:spTree>
    <p:extLst>
      <p:ext uri="{BB962C8B-B14F-4D97-AF65-F5344CB8AC3E}">
        <p14:creationId xmlns:p14="http://schemas.microsoft.com/office/powerpoint/2010/main" val="3695718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DFE3A-948F-4B79-91BB-D1769B661931}"/>
              </a:ext>
            </a:extLst>
          </p:cNvPr>
          <p:cNvSpPr>
            <a:spLocks noGrp="1"/>
          </p:cNvSpPr>
          <p:nvPr>
            <p:ph type="title"/>
          </p:nvPr>
        </p:nvSpPr>
        <p:spPr/>
        <p:txBody>
          <a:bodyPr/>
          <a:lstStyle/>
          <a:p>
            <a:r>
              <a:rPr lang="en-IN" dirty="0"/>
              <a:t>Getting User Input With Entry Widgets</a:t>
            </a:r>
          </a:p>
        </p:txBody>
      </p:sp>
      <p:sp>
        <p:nvSpPr>
          <p:cNvPr id="3" name="Content Placeholder 2">
            <a:extLst>
              <a:ext uri="{FF2B5EF4-FFF2-40B4-BE49-F238E27FC236}">
                <a16:creationId xmlns:a16="http://schemas.microsoft.com/office/drawing/2014/main" id="{085683F5-5B18-4859-B8A5-574287D5B9C1}"/>
              </a:ext>
            </a:extLst>
          </p:cNvPr>
          <p:cNvSpPr>
            <a:spLocks noGrp="1"/>
          </p:cNvSpPr>
          <p:nvPr>
            <p:ph idx="1"/>
          </p:nvPr>
        </p:nvSpPr>
        <p:spPr>
          <a:xfrm>
            <a:off x="1451579" y="2015732"/>
            <a:ext cx="9603275" cy="3921242"/>
          </a:xfrm>
        </p:spPr>
        <p:txBody>
          <a:bodyPr>
            <a:normAutofit fontScale="92500"/>
          </a:bodyPr>
          <a:lstStyle/>
          <a:p>
            <a:r>
              <a:rPr lang="en-IN" dirty="0"/>
              <a:t>When you need to get a little bit of text from a user, like a name or an email address, use an Entry widget. They display a small text box that the user can type some text into. Creating and styling an Entry widget works pretty much exactly like Label and Button widgets. </a:t>
            </a:r>
          </a:p>
          <a:p>
            <a:pPr marL="0" indent="0" algn="just">
              <a:buNone/>
            </a:pPr>
            <a:r>
              <a:rPr lang="en-IN" dirty="0"/>
              <a:t>Syntax</a:t>
            </a:r>
          </a:p>
          <a:p>
            <a:pPr algn="just"/>
            <a:r>
              <a:rPr lang="en-IN" dirty="0"/>
              <a:t>w = Entry( master, option, ... )</a:t>
            </a:r>
          </a:p>
          <a:p>
            <a:pPr marL="0" indent="0" algn="just">
              <a:buNone/>
            </a:pPr>
            <a:r>
              <a:rPr lang="en-IN" b="1" dirty="0"/>
              <a:t>Parameters:</a:t>
            </a:r>
          </a:p>
          <a:p>
            <a:pPr algn="just"/>
            <a:r>
              <a:rPr lang="en-IN" b="1" dirty="0"/>
              <a:t>master:</a:t>
            </a:r>
            <a:r>
              <a:rPr lang="en-IN" dirty="0"/>
              <a:t> This represents the parent window.</a:t>
            </a:r>
          </a:p>
          <a:p>
            <a:pPr algn="just"/>
            <a:r>
              <a:rPr lang="en-IN" b="1" dirty="0"/>
              <a:t>options:</a:t>
            </a:r>
            <a:r>
              <a:rPr lang="en-IN" dirty="0"/>
              <a:t> Here is the list of most commonly used options for this widget. These options can be used as key-value pairs separated by commas.</a:t>
            </a:r>
          </a:p>
          <a:p>
            <a:endParaRPr lang="en-IN" dirty="0"/>
          </a:p>
        </p:txBody>
      </p:sp>
    </p:spTree>
    <p:extLst>
      <p:ext uri="{BB962C8B-B14F-4D97-AF65-F5344CB8AC3E}">
        <p14:creationId xmlns:p14="http://schemas.microsoft.com/office/powerpoint/2010/main" val="1256889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0051C0-9ADC-4AA3-AEF7-13C11FB7192B}"/>
              </a:ext>
            </a:extLst>
          </p:cNvPr>
          <p:cNvPicPr>
            <a:picLocks noChangeAspect="1"/>
          </p:cNvPicPr>
          <p:nvPr/>
        </p:nvPicPr>
        <p:blipFill>
          <a:blip r:embed="rId2"/>
          <a:stretch>
            <a:fillRect/>
          </a:stretch>
        </p:blipFill>
        <p:spPr>
          <a:xfrm>
            <a:off x="1269309" y="182839"/>
            <a:ext cx="5396533" cy="1556262"/>
          </a:xfrm>
          <a:prstGeom prst="rect">
            <a:avLst/>
          </a:prstGeom>
        </p:spPr>
      </p:pic>
      <p:pic>
        <p:nvPicPr>
          <p:cNvPr id="5" name="Picture 4">
            <a:extLst>
              <a:ext uri="{FF2B5EF4-FFF2-40B4-BE49-F238E27FC236}">
                <a16:creationId xmlns:a16="http://schemas.microsoft.com/office/drawing/2014/main" id="{83756AE9-A411-4F1D-82F2-F76755A8DABB}"/>
              </a:ext>
            </a:extLst>
          </p:cNvPr>
          <p:cNvPicPr>
            <a:picLocks noChangeAspect="1"/>
          </p:cNvPicPr>
          <p:nvPr/>
        </p:nvPicPr>
        <p:blipFill>
          <a:blip r:embed="rId3"/>
          <a:stretch>
            <a:fillRect/>
          </a:stretch>
        </p:blipFill>
        <p:spPr>
          <a:xfrm>
            <a:off x="1269308" y="1739101"/>
            <a:ext cx="5396533" cy="1003202"/>
          </a:xfrm>
          <a:prstGeom prst="rect">
            <a:avLst/>
          </a:prstGeom>
        </p:spPr>
      </p:pic>
      <p:sp>
        <p:nvSpPr>
          <p:cNvPr id="8" name="TextBox 7">
            <a:extLst>
              <a:ext uri="{FF2B5EF4-FFF2-40B4-BE49-F238E27FC236}">
                <a16:creationId xmlns:a16="http://schemas.microsoft.com/office/drawing/2014/main" id="{D04C654C-AA3E-4918-AD75-9514FF4FFE1D}"/>
              </a:ext>
            </a:extLst>
          </p:cNvPr>
          <p:cNvSpPr txBox="1"/>
          <p:nvPr/>
        </p:nvSpPr>
        <p:spPr>
          <a:xfrm>
            <a:off x="1159566" y="2992471"/>
            <a:ext cx="6188764" cy="1754326"/>
          </a:xfrm>
          <a:prstGeom prst="rect">
            <a:avLst/>
          </a:prstGeom>
          <a:noFill/>
        </p:spPr>
        <p:txBody>
          <a:bodyPr wrap="square">
            <a:spAutoFit/>
          </a:bodyPr>
          <a:lstStyle/>
          <a:p>
            <a:r>
              <a:rPr lang="en-IN" dirty="0"/>
              <a:t>There are three main operations that you can perform with Entry widgets:</a:t>
            </a:r>
          </a:p>
          <a:p>
            <a:endParaRPr lang="en-IN" dirty="0"/>
          </a:p>
          <a:p>
            <a:r>
              <a:rPr lang="en-IN" dirty="0"/>
              <a:t>1. Retrieving text with .get()</a:t>
            </a:r>
          </a:p>
          <a:p>
            <a:r>
              <a:rPr lang="en-IN" dirty="0"/>
              <a:t>2. Deleting text with .delete()</a:t>
            </a:r>
          </a:p>
          <a:p>
            <a:r>
              <a:rPr lang="en-IN" dirty="0"/>
              <a:t>3. Inserting text with .insert()</a:t>
            </a:r>
          </a:p>
        </p:txBody>
      </p:sp>
    </p:spTree>
    <p:extLst>
      <p:ext uri="{BB962C8B-B14F-4D97-AF65-F5344CB8AC3E}">
        <p14:creationId xmlns:p14="http://schemas.microsoft.com/office/powerpoint/2010/main" val="1593289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7356B3-E4C7-40C9-8B94-02CA95FED5EF}"/>
              </a:ext>
            </a:extLst>
          </p:cNvPr>
          <p:cNvSpPr txBox="1"/>
          <p:nvPr/>
        </p:nvSpPr>
        <p:spPr>
          <a:xfrm>
            <a:off x="1421296" y="1092730"/>
            <a:ext cx="6102626" cy="2585323"/>
          </a:xfrm>
          <a:prstGeom prst="rect">
            <a:avLst/>
          </a:prstGeom>
          <a:noFill/>
        </p:spPr>
        <p:txBody>
          <a:bodyPr wrap="square">
            <a:spAutoFit/>
          </a:bodyPr>
          <a:lstStyle/>
          <a:p>
            <a:pPr marL="0" indent="0">
              <a:buNone/>
            </a:pPr>
            <a:r>
              <a:rPr lang="en-US" dirty="0"/>
              <a:t>Import </a:t>
            </a:r>
            <a:r>
              <a:rPr lang="en-US" dirty="0" err="1"/>
              <a:t>tkinter</a:t>
            </a:r>
            <a:r>
              <a:rPr lang="en-US" dirty="0"/>
              <a:t> as </a:t>
            </a:r>
            <a:r>
              <a:rPr lang="en-US" dirty="0" err="1"/>
              <a:t>tk</a:t>
            </a:r>
            <a:endParaRPr lang="en-US" dirty="0"/>
          </a:p>
          <a:p>
            <a:pPr marL="0" indent="0">
              <a:buNone/>
            </a:pPr>
            <a:endParaRPr lang="en-US" dirty="0"/>
          </a:p>
          <a:p>
            <a:pPr marL="0" indent="0">
              <a:buNone/>
            </a:pPr>
            <a:r>
              <a:rPr lang="en-US" dirty="0"/>
              <a:t>top = </a:t>
            </a:r>
            <a:r>
              <a:rPr lang="en-US" dirty="0" err="1"/>
              <a:t>tk.Tk</a:t>
            </a:r>
            <a:r>
              <a:rPr lang="en-US" dirty="0"/>
              <a:t>()</a:t>
            </a:r>
          </a:p>
          <a:p>
            <a:pPr marL="0" indent="0">
              <a:buNone/>
            </a:pPr>
            <a:r>
              <a:rPr lang="en-US" dirty="0"/>
              <a:t>L1 = </a:t>
            </a:r>
            <a:r>
              <a:rPr lang="en-US" dirty="0" err="1"/>
              <a:t>tk.Label</a:t>
            </a:r>
            <a:r>
              <a:rPr lang="en-US" dirty="0"/>
              <a:t>(top, text="User Name")</a:t>
            </a:r>
          </a:p>
          <a:p>
            <a:pPr marL="0" indent="0">
              <a:buNone/>
            </a:pPr>
            <a:r>
              <a:rPr lang="en-US" dirty="0"/>
              <a:t>L1.pack( side = LEFT)</a:t>
            </a:r>
          </a:p>
          <a:p>
            <a:pPr marL="0" indent="0">
              <a:buNone/>
            </a:pPr>
            <a:r>
              <a:rPr lang="en-US" dirty="0"/>
              <a:t>E1 = </a:t>
            </a:r>
            <a:r>
              <a:rPr lang="en-US" dirty="0" err="1"/>
              <a:t>tk.Entry</a:t>
            </a:r>
            <a:r>
              <a:rPr lang="en-US" dirty="0"/>
              <a:t>(top, bd =5)</a:t>
            </a:r>
          </a:p>
          <a:p>
            <a:pPr marL="0" indent="0">
              <a:buNone/>
            </a:pPr>
            <a:r>
              <a:rPr lang="en-US" dirty="0"/>
              <a:t>E1.pack(side = RIGHT)</a:t>
            </a:r>
          </a:p>
          <a:p>
            <a:pPr marL="0" indent="0">
              <a:buNone/>
            </a:pPr>
            <a:endParaRPr lang="en-US" dirty="0"/>
          </a:p>
          <a:p>
            <a:pPr marL="0" indent="0">
              <a:buNone/>
            </a:pPr>
            <a:r>
              <a:rPr lang="en-US" dirty="0" err="1"/>
              <a:t>top.mainloop</a:t>
            </a:r>
            <a:r>
              <a:rPr lang="en-US" dirty="0"/>
              <a:t>()</a:t>
            </a:r>
          </a:p>
        </p:txBody>
      </p:sp>
    </p:spTree>
    <p:extLst>
      <p:ext uri="{BB962C8B-B14F-4D97-AF65-F5344CB8AC3E}">
        <p14:creationId xmlns:p14="http://schemas.microsoft.com/office/powerpoint/2010/main" val="3783774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34A0-E5E8-429C-99A4-A49267B8F0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63A3EF-2E13-4A2A-A658-D5345C546241}"/>
              </a:ext>
            </a:extLst>
          </p:cNvPr>
          <p:cNvSpPr>
            <a:spLocks noGrp="1"/>
          </p:cNvSpPr>
          <p:nvPr>
            <p:ph idx="1"/>
          </p:nvPr>
        </p:nvSpPr>
        <p:spPr/>
        <p:txBody>
          <a:bodyPr/>
          <a:lstStyle/>
          <a:p>
            <a:r>
              <a:rPr lang="en-IN" dirty="0"/>
              <a:t> You can use .get() to retrieve the text and assign it to a variable called name:</a:t>
            </a:r>
          </a:p>
        </p:txBody>
      </p:sp>
      <p:pic>
        <p:nvPicPr>
          <p:cNvPr id="6" name="Picture 5">
            <a:extLst>
              <a:ext uri="{FF2B5EF4-FFF2-40B4-BE49-F238E27FC236}">
                <a16:creationId xmlns:a16="http://schemas.microsoft.com/office/drawing/2014/main" id="{C8BD9D85-EC2B-49FC-A939-BFD764A962C1}"/>
              </a:ext>
            </a:extLst>
          </p:cNvPr>
          <p:cNvPicPr>
            <a:picLocks noChangeAspect="1"/>
          </p:cNvPicPr>
          <p:nvPr/>
        </p:nvPicPr>
        <p:blipFill>
          <a:blip r:embed="rId2"/>
          <a:stretch>
            <a:fillRect/>
          </a:stretch>
        </p:blipFill>
        <p:spPr>
          <a:xfrm>
            <a:off x="2058435" y="2568221"/>
            <a:ext cx="2562835" cy="1500196"/>
          </a:xfrm>
          <a:prstGeom prst="rect">
            <a:avLst/>
          </a:prstGeom>
        </p:spPr>
      </p:pic>
    </p:spTree>
    <p:extLst>
      <p:ext uri="{BB962C8B-B14F-4D97-AF65-F5344CB8AC3E}">
        <p14:creationId xmlns:p14="http://schemas.microsoft.com/office/powerpoint/2010/main" val="94978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8637-CCB4-44D0-8A20-2A485EA25E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DEBF0F-88B8-4E14-9762-0316A25786E8}"/>
              </a:ext>
            </a:extLst>
          </p:cNvPr>
          <p:cNvSpPr>
            <a:spLocks noGrp="1"/>
          </p:cNvSpPr>
          <p:nvPr>
            <p:ph idx="1"/>
          </p:nvPr>
        </p:nvSpPr>
        <p:spPr/>
        <p:txBody>
          <a:bodyPr/>
          <a:lstStyle/>
          <a:p>
            <a:r>
              <a:rPr lang="en-IN" dirty="0"/>
              <a:t>You can .delete() text as well. This method takes an integer argument that tells Python which character to remove. For example, the code block below shows how .delete(0) deletes the first character from the Entry: </a:t>
            </a:r>
          </a:p>
        </p:txBody>
      </p:sp>
      <p:pic>
        <p:nvPicPr>
          <p:cNvPr id="6" name="Picture 5">
            <a:extLst>
              <a:ext uri="{FF2B5EF4-FFF2-40B4-BE49-F238E27FC236}">
                <a16:creationId xmlns:a16="http://schemas.microsoft.com/office/drawing/2014/main" id="{FDA5C956-7096-46A5-B042-9790BF01207E}"/>
              </a:ext>
            </a:extLst>
          </p:cNvPr>
          <p:cNvPicPr>
            <a:picLocks noChangeAspect="1"/>
          </p:cNvPicPr>
          <p:nvPr/>
        </p:nvPicPr>
        <p:blipFill>
          <a:blip r:embed="rId2"/>
          <a:stretch>
            <a:fillRect/>
          </a:stretch>
        </p:blipFill>
        <p:spPr>
          <a:xfrm>
            <a:off x="1804158" y="3180398"/>
            <a:ext cx="5377249" cy="2873083"/>
          </a:xfrm>
          <a:prstGeom prst="rect">
            <a:avLst/>
          </a:prstGeom>
        </p:spPr>
      </p:pic>
    </p:spTree>
    <p:extLst>
      <p:ext uri="{BB962C8B-B14F-4D97-AF65-F5344CB8AC3E}">
        <p14:creationId xmlns:p14="http://schemas.microsoft.com/office/powerpoint/2010/main" val="2594297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54FD55-986D-4BF9-BC57-AA9FF479E7DB}"/>
              </a:ext>
            </a:extLst>
          </p:cNvPr>
          <p:cNvPicPr>
            <a:picLocks noChangeAspect="1"/>
          </p:cNvPicPr>
          <p:nvPr/>
        </p:nvPicPr>
        <p:blipFill>
          <a:blip r:embed="rId2"/>
          <a:stretch>
            <a:fillRect/>
          </a:stretch>
        </p:blipFill>
        <p:spPr>
          <a:xfrm>
            <a:off x="1637057" y="1310723"/>
            <a:ext cx="7953115" cy="3844373"/>
          </a:xfrm>
          <a:prstGeom prst="rect">
            <a:avLst/>
          </a:prstGeom>
        </p:spPr>
      </p:pic>
    </p:spTree>
    <p:extLst>
      <p:ext uri="{BB962C8B-B14F-4D97-AF65-F5344CB8AC3E}">
        <p14:creationId xmlns:p14="http://schemas.microsoft.com/office/powerpoint/2010/main" val="1814445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88EE6-99FF-4F0A-9D2F-5F5A24E06C86}"/>
              </a:ext>
            </a:extLst>
          </p:cNvPr>
          <p:cNvPicPr>
            <a:picLocks noChangeAspect="1"/>
          </p:cNvPicPr>
          <p:nvPr/>
        </p:nvPicPr>
        <p:blipFill>
          <a:blip r:embed="rId2"/>
          <a:stretch>
            <a:fillRect/>
          </a:stretch>
        </p:blipFill>
        <p:spPr>
          <a:xfrm>
            <a:off x="1280284" y="0"/>
            <a:ext cx="7744446" cy="3252883"/>
          </a:xfrm>
          <a:prstGeom prst="rect">
            <a:avLst/>
          </a:prstGeom>
        </p:spPr>
      </p:pic>
      <p:pic>
        <p:nvPicPr>
          <p:cNvPr id="5" name="Picture 4">
            <a:extLst>
              <a:ext uri="{FF2B5EF4-FFF2-40B4-BE49-F238E27FC236}">
                <a16:creationId xmlns:a16="http://schemas.microsoft.com/office/drawing/2014/main" id="{A9794B3F-9607-48CC-B89E-4ED6E69DBED8}"/>
              </a:ext>
            </a:extLst>
          </p:cNvPr>
          <p:cNvPicPr>
            <a:picLocks noChangeAspect="1"/>
          </p:cNvPicPr>
          <p:nvPr/>
        </p:nvPicPr>
        <p:blipFill>
          <a:blip r:embed="rId3"/>
          <a:stretch>
            <a:fillRect/>
          </a:stretch>
        </p:blipFill>
        <p:spPr>
          <a:xfrm>
            <a:off x="1280283" y="3252882"/>
            <a:ext cx="7744445" cy="3541865"/>
          </a:xfrm>
          <a:prstGeom prst="rect">
            <a:avLst/>
          </a:prstGeom>
        </p:spPr>
      </p:pic>
    </p:spTree>
    <p:extLst>
      <p:ext uri="{BB962C8B-B14F-4D97-AF65-F5344CB8AC3E}">
        <p14:creationId xmlns:p14="http://schemas.microsoft.com/office/powerpoint/2010/main" val="129071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B514-C403-4724-A1C8-0B9A5122A0BD}"/>
              </a:ext>
            </a:extLst>
          </p:cNvPr>
          <p:cNvSpPr>
            <a:spLocks noGrp="1"/>
          </p:cNvSpPr>
          <p:nvPr>
            <p:ph type="title"/>
          </p:nvPr>
        </p:nvSpPr>
        <p:spPr/>
        <p:txBody>
          <a:bodyPr/>
          <a:lstStyle/>
          <a:p>
            <a:r>
              <a:rPr lang="en-IN" dirty="0"/>
              <a:t>Events and bindings</a:t>
            </a:r>
          </a:p>
        </p:txBody>
      </p:sp>
      <p:sp>
        <p:nvSpPr>
          <p:cNvPr id="3" name="Content Placeholder 2">
            <a:extLst>
              <a:ext uri="{FF2B5EF4-FFF2-40B4-BE49-F238E27FC236}">
                <a16:creationId xmlns:a16="http://schemas.microsoft.com/office/drawing/2014/main" id="{7A0FB24F-9C4F-41E1-AAAD-8790D2B169E7}"/>
              </a:ext>
            </a:extLst>
          </p:cNvPr>
          <p:cNvSpPr>
            <a:spLocks noGrp="1"/>
          </p:cNvSpPr>
          <p:nvPr>
            <p:ph idx="1"/>
          </p:nvPr>
        </p:nvSpPr>
        <p:spPr>
          <a:xfrm>
            <a:off x="622853" y="1853754"/>
            <a:ext cx="10601738" cy="4441029"/>
          </a:xfrm>
        </p:spPr>
        <p:txBody>
          <a:bodyPr>
            <a:normAutofit fontScale="92500" lnSpcReduction="20000"/>
          </a:bodyPr>
          <a:lstStyle/>
          <a:p>
            <a:pPr algn="just"/>
            <a:r>
              <a:rPr lang="en-IN" dirty="0"/>
              <a:t>As was mentioned earlier, a </a:t>
            </a:r>
            <a:r>
              <a:rPr lang="en-IN" dirty="0" err="1"/>
              <a:t>Tkinter</a:t>
            </a:r>
            <a:r>
              <a:rPr lang="en-IN" dirty="0"/>
              <a:t> application spends most of its time inside an event loop (entered via the </a:t>
            </a:r>
            <a:r>
              <a:rPr lang="en-IN" b="1" dirty="0" err="1"/>
              <a:t>mainloop</a:t>
            </a:r>
            <a:r>
              <a:rPr lang="en-IN" dirty="0"/>
              <a:t> method). Events can come from various sources, including key presses and mouse operations by the user, and redraw events from the window manager (indirectly caused by the user, in many cases).</a:t>
            </a:r>
          </a:p>
          <a:p>
            <a:pPr algn="just"/>
            <a:r>
              <a:rPr lang="en-IN" dirty="0" err="1"/>
              <a:t>Tkinter</a:t>
            </a:r>
            <a:r>
              <a:rPr lang="en-IN" dirty="0"/>
              <a:t> provides a powerful mechanism to let you deal with events yourself. For each widget, you can </a:t>
            </a:r>
            <a:r>
              <a:rPr lang="en-IN" b="1" dirty="0"/>
              <a:t>bind</a:t>
            </a:r>
            <a:r>
              <a:rPr lang="en-IN" dirty="0"/>
              <a:t> Python functions and methods to events.</a:t>
            </a:r>
          </a:p>
          <a:p>
            <a:pPr algn="just"/>
            <a:r>
              <a:rPr lang="en-IN" dirty="0" err="1">
                <a:solidFill>
                  <a:srgbClr val="FF0000"/>
                </a:solidFill>
              </a:rPr>
              <a:t>widget.bind</a:t>
            </a:r>
            <a:r>
              <a:rPr lang="en-IN" dirty="0">
                <a:solidFill>
                  <a:srgbClr val="FF0000"/>
                </a:solidFill>
              </a:rPr>
              <a:t>(event, handler)</a:t>
            </a:r>
            <a:r>
              <a:rPr lang="en-IN" dirty="0"/>
              <a:t>If an event matching the </a:t>
            </a:r>
            <a:r>
              <a:rPr lang="en-IN" i="1" dirty="0"/>
              <a:t>event</a:t>
            </a:r>
            <a:r>
              <a:rPr lang="en-IN" dirty="0"/>
              <a:t> description occurs in the widget, the given </a:t>
            </a:r>
            <a:r>
              <a:rPr lang="en-IN" i="1" dirty="0"/>
              <a:t>handler</a:t>
            </a:r>
            <a:r>
              <a:rPr lang="en-IN" dirty="0"/>
              <a:t> is called with an object describing the event.</a:t>
            </a:r>
          </a:p>
          <a:p>
            <a:pPr algn="just"/>
            <a:r>
              <a:rPr lang="en-IN" dirty="0"/>
              <a:t>Where,</a:t>
            </a:r>
          </a:p>
          <a:p>
            <a:pPr algn="just"/>
            <a:r>
              <a:rPr lang="en-IN" dirty="0"/>
              <a:t>event can be button clicked or key press etc</a:t>
            </a:r>
          </a:p>
          <a:p>
            <a:pPr algn="just"/>
            <a:r>
              <a:rPr lang="en-IN" dirty="0"/>
              <a:t>handler can be type of button or key used to handle event</a:t>
            </a:r>
          </a:p>
          <a:p>
            <a:pPr algn="just"/>
            <a:r>
              <a:rPr lang="en-IN" dirty="0"/>
              <a:t>Whenever event occurs the handler is called to execute particular function related to the event.</a:t>
            </a:r>
          </a:p>
          <a:p>
            <a:endParaRPr lang="en-IN" dirty="0"/>
          </a:p>
          <a:p>
            <a:endParaRPr lang="en-IN" dirty="0"/>
          </a:p>
        </p:txBody>
      </p:sp>
    </p:spTree>
    <p:extLst>
      <p:ext uri="{BB962C8B-B14F-4D97-AF65-F5344CB8AC3E}">
        <p14:creationId xmlns:p14="http://schemas.microsoft.com/office/powerpoint/2010/main" val="3829213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E2247-8BD7-4175-8AD1-B611DC8EA073}"/>
              </a:ext>
            </a:extLst>
          </p:cNvPr>
          <p:cNvSpPr txBox="1"/>
          <p:nvPr/>
        </p:nvSpPr>
        <p:spPr>
          <a:xfrm>
            <a:off x="957470" y="1039000"/>
            <a:ext cx="6102626" cy="3693319"/>
          </a:xfrm>
          <a:prstGeom prst="rect">
            <a:avLst/>
          </a:prstGeom>
          <a:noFill/>
        </p:spPr>
        <p:txBody>
          <a:bodyPr wrap="square">
            <a:spAutoFit/>
          </a:bodyPr>
          <a:lstStyle/>
          <a:p>
            <a:r>
              <a:rPr lang="en-IN" b="0" dirty="0">
                <a:effectLst/>
                <a:latin typeface="Consolas" panose="020B0609020204030204" pitchFamily="49" charset="0"/>
              </a:rPr>
              <a:t>from </a:t>
            </a:r>
            <a:r>
              <a:rPr lang="en-IN" b="0" dirty="0" err="1">
                <a:effectLst/>
                <a:latin typeface="Consolas" panose="020B0609020204030204" pitchFamily="49" charset="0"/>
              </a:rPr>
              <a:t>tkinter</a:t>
            </a:r>
            <a:r>
              <a:rPr lang="en-IN" b="0" dirty="0">
                <a:effectLst/>
                <a:latin typeface="Consolas" panose="020B0609020204030204" pitchFamily="49" charset="0"/>
              </a:rPr>
              <a:t> import *</a:t>
            </a:r>
          </a:p>
          <a:p>
            <a:r>
              <a:rPr lang="en-IN" b="0" dirty="0">
                <a:effectLst/>
                <a:latin typeface="Consolas" panose="020B0609020204030204" pitchFamily="49" charset="0"/>
              </a:rPr>
              <a:t>import sys</a:t>
            </a:r>
          </a:p>
          <a:p>
            <a:r>
              <a:rPr lang="en-IN" b="0" dirty="0">
                <a:effectLst/>
                <a:latin typeface="Consolas" panose="020B0609020204030204" pitchFamily="49" charset="0"/>
              </a:rPr>
              <a:t>root=Tk()</a:t>
            </a:r>
          </a:p>
          <a:p>
            <a:r>
              <a:rPr lang="en-IN" b="0" dirty="0">
                <a:effectLst/>
                <a:latin typeface="Consolas" panose="020B0609020204030204" pitchFamily="49" charset="0"/>
              </a:rPr>
              <a:t>def </a:t>
            </a:r>
            <a:r>
              <a:rPr lang="en-IN" b="0" dirty="0" err="1">
                <a:effectLst/>
                <a:latin typeface="Consolas" panose="020B0609020204030204" pitchFamily="49" charset="0"/>
              </a:rPr>
              <a:t>singleclk</a:t>
            </a:r>
            <a:r>
              <a:rPr lang="en-IN" b="0" dirty="0">
                <a:effectLst/>
                <a:latin typeface="Consolas" panose="020B0609020204030204" pitchFamily="49" charset="0"/>
              </a:rPr>
              <a:t>(event):</a:t>
            </a:r>
          </a:p>
          <a:p>
            <a:r>
              <a:rPr lang="en-IN" b="0" dirty="0">
                <a:effectLst/>
                <a:latin typeface="Consolas" panose="020B0609020204030204" pitchFamily="49" charset="0"/>
              </a:rPr>
              <a:t>    print("Button-1 single click")</a:t>
            </a:r>
          </a:p>
          <a:p>
            <a:r>
              <a:rPr lang="en-IN" b="0" dirty="0">
                <a:effectLst/>
                <a:latin typeface="Consolas" panose="020B0609020204030204" pitchFamily="49" charset="0"/>
              </a:rPr>
              <a:t>def </a:t>
            </a:r>
            <a:r>
              <a:rPr lang="en-IN" b="0" dirty="0" err="1">
                <a:effectLst/>
                <a:latin typeface="Consolas" panose="020B0609020204030204" pitchFamily="49" charset="0"/>
              </a:rPr>
              <a:t>doubleclk</a:t>
            </a:r>
            <a:r>
              <a:rPr lang="en-IN" b="0" dirty="0">
                <a:effectLst/>
                <a:latin typeface="Consolas" panose="020B0609020204030204" pitchFamily="49" charset="0"/>
              </a:rPr>
              <a:t>(event):</a:t>
            </a:r>
          </a:p>
          <a:p>
            <a:r>
              <a:rPr lang="en-IN" b="0" dirty="0">
                <a:effectLst/>
                <a:latin typeface="Consolas" panose="020B0609020204030204" pitchFamily="49" charset="0"/>
              </a:rPr>
              <a:t>    print("Button double click exit")</a:t>
            </a:r>
          </a:p>
          <a:p>
            <a:r>
              <a:rPr lang="en-IN" b="0" dirty="0">
                <a:effectLst/>
                <a:latin typeface="Consolas" panose="020B0609020204030204" pitchFamily="49" charset="0"/>
              </a:rPr>
              <a:t>    </a:t>
            </a:r>
            <a:r>
              <a:rPr lang="en-IN" b="0" dirty="0" err="1">
                <a:effectLst/>
                <a:latin typeface="Consolas" panose="020B0609020204030204" pitchFamily="49" charset="0"/>
              </a:rPr>
              <a:t>sys.exit</a:t>
            </a:r>
            <a:r>
              <a:rPr lang="en-IN" b="0" dirty="0">
                <a:effectLst/>
                <a:latin typeface="Consolas" panose="020B0609020204030204" pitchFamily="49" charset="0"/>
              </a:rPr>
              <a:t>()</a:t>
            </a:r>
          </a:p>
          <a:p>
            <a:r>
              <a:rPr lang="en-IN" b="0" dirty="0" err="1">
                <a:effectLst/>
                <a:latin typeface="Consolas" panose="020B0609020204030204" pitchFamily="49" charset="0"/>
              </a:rPr>
              <a:t>btn</a:t>
            </a:r>
            <a:r>
              <a:rPr lang="en-IN" b="0" dirty="0">
                <a:effectLst/>
                <a:latin typeface="Consolas" panose="020B0609020204030204" pitchFamily="49" charset="0"/>
              </a:rPr>
              <a:t>=Button(</a:t>
            </a:r>
            <a:r>
              <a:rPr lang="en-IN" b="0" dirty="0" err="1">
                <a:effectLst/>
                <a:latin typeface="Consolas" panose="020B0609020204030204" pitchFamily="49" charset="0"/>
              </a:rPr>
              <a:t>root,text</a:t>
            </a:r>
            <a:r>
              <a:rPr lang="en-IN" b="0" dirty="0">
                <a:effectLst/>
                <a:latin typeface="Consolas" panose="020B0609020204030204" pitchFamily="49" charset="0"/>
              </a:rPr>
              <a:t>="Mouse click event")</a:t>
            </a:r>
          </a:p>
          <a:p>
            <a:r>
              <a:rPr lang="en-IN" b="0" dirty="0" err="1">
                <a:effectLst/>
                <a:latin typeface="Consolas" panose="020B0609020204030204" pitchFamily="49" charset="0"/>
              </a:rPr>
              <a:t>btn.pack</a:t>
            </a:r>
            <a:r>
              <a:rPr lang="en-IN" b="0" dirty="0">
                <a:effectLst/>
                <a:latin typeface="Consolas" panose="020B0609020204030204" pitchFamily="49" charset="0"/>
              </a:rPr>
              <a:t>()</a:t>
            </a:r>
          </a:p>
          <a:p>
            <a:r>
              <a:rPr lang="en-IN" b="0" dirty="0" err="1">
                <a:effectLst/>
                <a:latin typeface="Consolas" panose="020B0609020204030204" pitchFamily="49" charset="0"/>
              </a:rPr>
              <a:t>btn.bind</a:t>
            </a:r>
            <a:r>
              <a:rPr lang="en-IN" b="0" dirty="0">
                <a:effectLst/>
                <a:latin typeface="Consolas" panose="020B0609020204030204" pitchFamily="49" charset="0"/>
              </a:rPr>
              <a:t>('&lt;Button-1&gt;',</a:t>
            </a:r>
            <a:r>
              <a:rPr lang="en-IN" b="0" dirty="0" err="1">
                <a:effectLst/>
                <a:latin typeface="Consolas" panose="020B0609020204030204" pitchFamily="49" charset="0"/>
              </a:rPr>
              <a:t>singleclk</a:t>
            </a:r>
            <a:r>
              <a:rPr lang="en-IN" b="0" dirty="0">
                <a:effectLst/>
                <a:latin typeface="Consolas" panose="020B0609020204030204" pitchFamily="49" charset="0"/>
              </a:rPr>
              <a:t>)</a:t>
            </a:r>
          </a:p>
          <a:p>
            <a:r>
              <a:rPr lang="en-IN" b="0" dirty="0" err="1">
                <a:effectLst/>
                <a:latin typeface="Consolas" panose="020B0609020204030204" pitchFamily="49" charset="0"/>
              </a:rPr>
              <a:t>btn.bind</a:t>
            </a:r>
            <a:r>
              <a:rPr lang="en-IN" b="0" dirty="0">
                <a:effectLst/>
                <a:latin typeface="Consolas" panose="020B0609020204030204" pitchFamily="49" charset="0"/>
              </a:rPr>
              <a:t>('&lt;Double-1&gt;',</a:t>
            </a:r>
            <a:r>
              <a:rPr lang="en-IN" b="0" dirty="0" err="1">
                <a:effectLst/>
                <a:latin typeface="Consolas" panose="020B0609020204030204" pitchFamily="49" charset="0"/>
              </a:rPr>
              <a:t>doubleclk</a:t>
            </a:r>
            <a:r>
              <a:rPr lang="en-IN" b="0" dirty="0">
                <a:effectLst/>
                <a:latin typeface="Consolas" panose="020B0609020204030204" pitchFamily="49" charset="0"/>
              </a:rPr>
              <a:t>)</a:t>
            </a:r>
          </a:p>
          <a:p>
            <a:r>
              <a:rPr lang="en-IN" b="0" dirty="0" err="1">
                <a:effectLst/>
                <a:latin typeface="Consolas" panose="020B0609020204030204" pitchFamily="49" charset="0"/>
              </a:rPr>
              <a:t>root.mainloop</a:t>
            </a:r>
            <a:r>
              <a:rPr lang="en-IN" b="0" dirty="0">
                <a:effectLst/>
                <a:latin typeface="Consolas" panose="020B0609020204030204" pitchFamily="49" charset="0"/>
              </a:rPr>
              <a:t>()</a:t>
            </a:r>
          </a:p>
        </p:txBody>
      </p:sp>
      <p:sp>
        <p:nvSpPr>
          <p:cNvPr id="4" name="TextBox 3">
            <a:extLst>
              <a:ext uri="{FF2B5EF4-FFF2-40B4-BE49-F238E27FC236}">
                <a16:creationId xmlns:a16="http://schemas.microsoft.com/office/drawing/2014/main" id="{CB523DFB-4B1A-40F1-8865-8D869E6B0130}"/>
              </a:ext>
            </a:extLst>
          </p:cNvPr>
          <p:cNvSpPr txBox="1"/>
          <p:nvPr/>
        </p:nvSpPr>
        <p:spPr>
          <a:xfrm>
            <a:off x="1152939" y="291548"/>
            <a:ext cx="5285999" cy="369332"/>
          </a:xfrm>
          <a:prstGeom prst="rect">
            <a:avLst/>
          </a:prstGeom>
          <a:noFill/>
        </p:spPr>
        <p:txBody>
          <a:bodyPr wrap="none" rtlCol="0">
            <a:spAutoFit/>
          </a:bodyPr>
          <a:lstStyle/>
          <a:p>
            <a:r>
              <a:rPr lang="en-IN" dirty="0"/>
              <a:t>Program to implement button event with bind method</a:t>
            </a:r>
          </a:p>
        </p:txBody>
      </p:sp>
      <p:pic>
        <p:nvPicPr>
          <p:cNvPr id="6" name="Picture 5">
            <a:extLst>
              <a:ext uri="{FF2B5EF4-FFF2-40B4-BE49-F238E27FC236}">
                <a16:creationId xmlns:a16="http://schemas.microsoft.com/office/drawing/2014/main" id="{DE6313F4-95C0-4097-B102-826D38569CF2}"/>
              </a:ext>
            </a:extLst>
          </p:cNvPr>
          <p:cNvPicPr>
            <a:picLocks noChangeAspect="1"/>
          </p:cNvPicPr>
          <p:nvPr/>
        </p:nvPicPr>
        <p:blipFill>
          <a:blip r:embed="rId2"/>
          <a:stretch>
            <a:fillRect/>
          </a:stretch>
        </p:blipFill>
        <p:spPr>
          <a:xfrm>
            <a:off x="7869513" y="162546"/>
            <a:ext cx="2257425" cy="2371725"/>
          </a:xfrm>
          <a:prstGeom prst="rect">
            <a:avLst/>
          </a:prstGeom>
        </p:spPr>
      </p:pic>
      <p:pic>
        <p:nvPicPr>
          <p:cNvPr id="8" name="Picture 7">
            <a:extLst>
              <a:ext uri="{FF2B5EF4-FFF2-40B4-BE49-F238E27FC236}">
                <a16:creationId xmlns:a16="http://schemas.microsoft.com/office/drawing/2014/main" id="{A669B3A8-BFA2-45BF-9DDF-A9EF093D70E7}"/>
              </a:ext>
            </a:extLst>
          </p:cNvPr>
          <p:cNvPicPr>
            <a:picLocks noChangeAspect="1"/>
          </p:cNvPicPr>
          <p:nvPr/>
        </p:nvPicPr>
        <p:blipFill>
          <a:blip r:embed="rId3"/>
          <a:stretch>
            <a:fillRect/>
          </a:stretch>
        </p:blipFill>
        <p:spPr>
          <a:xfrm>
            <a:off x="7427428" y="2961859"/>
            <a:ext cx="3543155" cy="1146315"/>
          </a:xfrm>
          <a:prstGeom prst="rect">
            <a:avLst/>
          </a:prstGeom>
        </p:spPr>
      </p:pic>
    </p:spTree>
    <p:extLst>
      <p:ext uri="{BB962C8B-B14F-4D97-AF65-F5344CB8AC3E}">
        <p14:creationId xmlns:p14="http://schemas.microsoft.com/office/powerpoint/2010/main" val="1310170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13D93-E965-4AC3-8FBE-798A950B46FF}"/>
              </a:ext>
            </a:extLst>
          </p:cNvPr>
          <p:cNvPicPr>
            <a:picLocks noChangeAspect="1"/>
          </p:cNvPicPr>
          <p:nvPr/>
        </p:nvPicPr>
        <p:blipFill>
          <a:blip r:embed="rId2"/>
          <a:stretch>
            <a:fillRect/>
          </a:stretch>
        </p:blipFill>
        <p:spPr>
          <a:xfrm>
            <a:off x="1404522" y="325506"/>
            <a:ext cx="8017774" cy="5740856"/>
          </a:xfrm>
          <a:prstGeom prst="rect">
            <a:avLst/>
          </a:prstGeom>
        </p:spPr>
      </p:pic>
    </p:spTree>
    <p:extLst>
      <p:ext uri="{BB962C8B-B14F-4D97-AF65-F5344CB8AC3E}">
        <p14:creationId xmlns:p14="http://schemas.microsoft.com/office/powerpoint/2010/main" val="2281068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2FEB2C-C1BF-4B8F-ACAD-5B78F4195F9F}"/>
              </a:ext>
            </a:extLst>
          </p:cNvPr>
          <p:cNvPicPr>
            <a:picLocks noChangeAspect="1"/>
          </p:cNvPicPr>
          <p:nvPr/>
        </p:nvPicPr>
        <p:blipFill>
          <a:blip r:embed="rId2"/>
          <a:stretch>
            <a:fillRect/>
          </a:stretch>
        </p:blipFill>
        <p:spPr>
          <a:xfrm>
            <a:off x="563655" y="54165"/>
            <a:ext cx="9790580" cy="5721565"/>
          </a:xfrm>
          <a:prstGeom prst="rect">
            <a:avLst/>
          </a:prstGeom>
        </p:spPr>
      </p:pic>
      <p:pic>
        <p:nvPicPr>
          <p:cNvPr id="5" name="Picture 4">
            <a:extLst>
              <a:ext uri="{FF2B5EF4-FFF2-40B4-BE49-F238E27FC236}">
                <a16:creationId xmlns:a16="http://schemas.microsoft.com/office/drawing/2014/main" id="{DC1B1340-7184-4BBB-B194-14F1025F2062}"/>
              </a:ext>
            </a:extLst>
          </p:cNvPr>
          <p:cNvPicPr>
            <a:picLocks noChangeAspect="1"/>
          </p:cNvPicPr>
          <p:nvPr/>
        </p:nvPicPr>
        <p:blipFill rotWithShape="1">
          <a:blip r:embed="rId3"/>
          <a:srcRect t="12241"/>
          <a:stretch/>
        </p:blipFill>
        <p:spPr>
          <a:xfrm>
            <a:off x="489695" y="5775730"/>
            <a:ext cx="9864540" cy="592760"/>
          </a:xfrm>
          <a:prstGeom prst="rect">
            <a:avLst/>
          </a:prstGeom>
        </p:spPr>
      </p:pic>
    </p:spTree>
    <p:extLst>
      <p:ext uri="{BB962C8B-B14F-4D97-AF65-F5344CB8AC3E}">
        <p14:creationId xmlns:p14="http://schemas.microsoft.com/office/powerpoint/2010/main" val="751216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A172A7-23D6-4401-92D7-E30A613302B7}"/>
              </a:ext>
            </a:extLst>
          </p:cNvPr>
          <p:cNvPicPr>
            <a:picLocks noChangeAspect="1"/>
          </p:cNvPicPr>
          <p:nvPr/>
        </p:nvPicPr>
        <p:blipFill>
          <a:blip r:embed="rId2"/>
          <a:stretch>
            <a:fillRect/>
          </a:stretch>
        </p:blipFill>
        <p:spPr>
          <a:xfrm>
            <a:off x="351377" y="790745"/>
            <a:ext cx="10493675" cy="5403460"/>
          </a:xfrm>
          <a:prstGeom prst="rect">
            <a:avLst/>
          </a:prstGeom>
        </p:spPr>
      </p:pic>
      <p:sp>
        <p:nvSpPr>
          <p:cNvPr id="4" name="TextBox 3">
            <a:extLst>
              <a:ext uri="{FF2B5EF4-FFF2-40B4-BE49-F238E27FC236}">
                <a16:creationId xmlns:a16="http://schemas.microsoft.com/office/drawing/2014/main" id="{4A1323CF-EC64-4ABA-8567-4835E8038CCA}"/>
              </a:ext>
            </a:extLst>
          </p:cNvPr>
          <p:cNvSpPr txBox="1"/>
          <p:nvPr/>
        </p:nvSpPr>
        <p:spPr>
          <a:xfrm>
            <a:off x="2054087" y="265043"/>
            <a:ext cx="1100238" cy="369332"/>
          </a:xfrm>
          <a:prstGeom prst="rect">
            <a:avLst/>
          </a:prstGeom>
          <a:noFill/>
        </p:spPr>
        <p:txBody>
          <a:bodyPr wrap="none" rtlCol="0">
            <a:spAutoFit/>
          </a:bodyPr>
          <a:lstStyle/>
          <a:p>
            <a:r>
              <a:rPr lang="en-IN" dirty="0"/>
              <a:t>Key event</a:t>
            </a:r>
          </a:p>
        </p:txBody>
      </p:sp>
    </p:spTree>
    <p:extLst>
      <p:ext uri="{BB962C8B-B14F-4D97-AF65-F5344CB8AC3E}">
        <p14:creationId xmlns:p14="http://schemas.microsoft.com/office/powerpoint/2010/main" val="2356034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95D73-FA0B-4454-8261-61AA877CE1E3}"/>
              </a:ext>
            </a:extLst>
          </p:cNvPr>
          <p:cNvSpPr>
            <a:spLocks noGrp="1"/>
          </p:cNvSpPr>
          <p:nvPr>
            <p:ph type="title"/>
          </p:nvPr>
        </p:nvSpPr>
        <p:spPr/>
        <p:txBody>
          <a:bodyPr/>
          <a:lstStyle/>
          <a:p>
            <a:r>
              <a:rPr lang="en-IN" dirty="0"/>
              <a:t>Frame widget</a:t>
            </a:r>
          </a:p>
        </p:txBody>
      </p:sp>
      <p:sp>
        <p:nvSpPr>
          <p:cNvPr id="3" name="Content Placeholder 2">
            <a:extLst>
              <a:ext uri="{FF2B5EF4-FFF2-40B4-BE49-F238E27FC236}">
                <a16:creationId xmlns:a16="http://schemas.microsoft.com/office/drawing/2014/main" id="{23F919A5-D2F1-4B00-B8FA-C357D2091309}"/>
              </a:ext>
            </a:extLst>
          </p:cNvPr>
          <p:cNvSpPr>
            <a:spLocks noGrp="1"/>
          </p:cNvSpPr>
          <p:nvPr>
            <p:ph idx="1"/>
          </p:nvPr>
        </p:nvSpPr>
        <p:spPr>
          <a:xfrm>
            <a:off x="530087" y="1853754"/>
            <a:ext cx="10747513" cy="4199727"/>
          </a:xfrm>
        </p:spPr>
        <p:txBody>
          <a:bodyPr>
            <a:normAutofit fontScale="92500" lnSpcReduction="10000"/>
          </a:bodyPr>
          <a:lstStyle/>
          <a:p>
            <a:r>
              <a:rPr lang="en-IN" dirty="0"/>
              <a:t>The Frame widget is very important for the process of grouping and organizing other widgets in a somehow friendly way. </a:t>
            </a:r>
          </a:p>
          <a:p>
            <a:r>
              <a:rPr lang="en-IN" dirty="0"/>
              <a:t>It uses rectangular areas in the screen to organize the layout and to provide padding of these widgets. A frame can also be used as a foundation class to implement complex widgets.</a:t>
            </a:r>
          </a:p>
          <a:p>
            <a:r>
              <a:rPr lang="en-IN" dirty="0"/>
              <a:t>Syntax</a:t>
            </a:r>
          </a:p>
          <a:p>
            <a:pPr marL="0" indent="0">
              <a:buNone/>
            </a:pPr>
            <a:r>
              <a:rPr lang="en-IN" dirty="0"/>
              <a:t>w = Frame ( master, option, ... )</a:t>
            </a:r>
          </a:p>
          <a:p>
            <a:pPr marL="0" indent="0">
              <a:buNone/>
            </a:pPr>
            <a:r>
              <a:rPr lang="en-IN" dirty="0"/>
              <a:t>Parameters</a:t>
            </a:r>
          </a:p>
          <a:p>
            <a:r>
              <a:rPr lang="en-IN" b="1" dirty="0"/>
              <a:t>master:</a:t>
            </a:r>
            <a:r>
              <a:rPr lang="en-IN" dirty="0"/>
              <a:t> This represents the parent window.</a:t>
            </a:r>
          </a:p>
          <a:p>
            <a:r>
              <a:rPr lang="en-IN" b="1" dirty="0"/>
              <a:t>options:</a:t>
            </a:r>
            <a:r>
              <a:rPr lang="en-IN" dirty="0"/>
              <a:t> Here is the list of most commonly used options for this widget. These options can be used as key-value pairs separated by commas.</a:t>
            </a:r>
          </a:p>
          <a:p>
            <a:endParaRPr lang="en-IN" dirty="0"/>
          </a:p>
          <a:p>
            <a:endParaRPr lang="en-IN" dirty="0"/>
          </a:p>
          <a:p>
            <a:endParaRPr lang="en-IN" dirty="0"/>
          </a:p>
        </p:txBody>
      </p:sp>
    </p:spTree>
    <p:extLst>
      <p:ext uri="{BB962C8B-B14F-4D97-AF65-F5344CB8AC3E}">
        <p14:creationId xmlns:p14="http://schemas.microsoft.com/office/powerpoint/2010/main" val="3419174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4AB9DC-9791-4D56-8A68-6753C2173D6D}"/>
              </a:ext>
            </a:extLst>
          </p:cNvPr>
          <p:cNvPicPr>
            <a:picLocks noChangeAspect="1"/>
          </p:cNvPicPr>
          <p:nvPr/>
        </p:nvPicPr>
        <p:blipFill>
          <a:blip r:embed="rId2"/>
          <a:stretch>
            <a:fillRect/>
          </a:stretch>
        </p:blipFill>
        <p:spPr>
          <a:xfrm>
            <a:off x="1171782" y="645836"/>
            <a:ext cx="2803870" cy="2062759"/>
          </a:xfrm>
          <a:prstGeom prst="rect">
            <a:avLst/>
          </a:prstGeom>
        </p:spPr>
      </p:pic>
      <p:pic>
        <p:nvPicPr>
          <p:cNvPr id="5" name="Picture 4">
            <a:extLst>
              <a:ext uri="{FF2B5EF4-FFF2-40B4-BE49-F238E27FC236}">
                <a16:creationId xmlns:a16="http://schemas.microsoft.com/office/drawing/2014/main" id="{0B522DBC-F2D9-4110-91BC-5497B1271D51}"/>
              </a:ext>
            </a:extLst>
          </p:cNvPr>
          <p:cNvPicPr>
            <a:picLocks noChangeAspect="1"/>
          </p:cNvPicPr>
          <p:nvPr/>
        </p:nvPicPr>
        <p:blipFill>
          <a:blip r:embed="rId3"/>
          <a:stretch>
            <a:fillRect/>
          </a:stretch>
        </p:blipFill>
        <p:spPr>
          <a:xfrm>
            <a:off x="5503586" y="645835"/>
            <a:ext cx="2782113" cy="1076947"/>
          </a:xfrm>
          <a:prstGeom prst="rect">
            <a:avLst/>
          </a:prstGeom>
        </p:spPr>
      </p:pic>
      <p:sp>
        <p:nvSpPr>
          <p:cNvPr id="8" name="TextBox 7">
            <a:extLst>
              <a:ext uri="{FF2B5EF4-FFF2-40B4-BE49-F238E27FC236}">
                <a16:creationId xmlns:a16="http://schemas.microsoft.com/office/drawing/2014/main" id="{5C6E4114-1EB1-4FE3-A865-204EEDCA7673}"/>
              </a:ext>
            </a:extLst>
          </p:cNvPr>
          <p:cNvSpPr txBox="1"/>
          <p:nvPr/>
        </p:nvSpPr>
        <p:spPr>
          <a:xfrm>
            <a:off x="543340" y="3105834"/>
            <a:ext cx="11516138" cy="369332"/>
          </a:xfrm>
          <a:prstGeom prst="rect">
            <a:avLst/>
          </a:prstGeom>
          <a:noFill/>
        </p:spPr>
        <p:txBody>
          <a:bodyPr wrap="square">
            <a:spAutoFit/>
          </a:bodyPr>
          <a:lstStyle/>
          <a:p>
            <a:r>
              <a:rPr lang="en-IN" dirty="0" err="1"/>
              <a:t>frame.pack</a:t>
            </a:r>
            <a:r>
              <a:rPr lang="en-IN" dirty="0"/>
              <a:t>() packs the frame into the window so that the window sizes itself as small as possible to encompass the frame.</a:t>
            </a:r>
          </a:p>
        </p:txBody>
      </p:sp>
    </p:spTree>
    <p:extLst>
      <p:ext uri="{BB962C8B-B14F-4D97-AF65-F5344CB8AC3E}">
        <p14:creationId xmlns:p14="http://schemas.microsoft.com/office/powerpoint/2010/main" val="3997380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5D5C44-1470-4443-A595-3513BE6696B2}"/>
              </a:ext>
            </a:extLst>
          </p:cNvPr>
          <p:cNvPicPr>
            <a:picLocks noChangeAspect="1"/>
          </p:cNvPicPr>
          <p:nvPr/>
        </p:nvPicPr>
        <p:blipFill>
          <a:blip r:embed="rId2"/>
          <a:stretch>
            <a:fillRect/>
          </a:stretch>
        </p:blipFill>
        <p:spPr>
          <a:xfrm>
            <a:off x="1957801" y="49696"/>
            <a:ext cx="6589851" cy="3982514"/>
          </a:xfrm>
          <a:prstGeom prst="rect">
            <a:avLst/>
          </a:prstGeom>
        </p:spPr>
      </p:pic>
      <p:pic>
        <p:nvPicPr>
          <p:cNvPr id="5" name="Picture 4">
            <a:extLst>
              <a:ext uri="{FF2B5EF4-FFF2-40B4-BE49-F238E27FC236}">
                <a16:creationId xmlns:a16="http://schemas.microsoft.com/office/drawing/2014/main" id="{B25FE7C5-F41D-4C42-9EBB-C2F582444859}"/>
              </a:ext>
            </a:extLst>
          </p:cNvPr>
          <p:cNvPicPr>
            <a:picLocks noChangeAspect="1"/>
          </p:cNvPicPr>
          <p:nvPr/>
        </p:nvPicPr>
        <p:blipFill>
          <a:blip r:embed="rId3"/>
          <a:stretch>
            <a:fillRect/>
          </a:stretch>
        </p:blipFill>
        <p:spPr>
          <a:xfrm>
            <a:off x="8547652" y="2040953"/>
            <a:ext cx="1000125" cy="1333500"/>
          </a:xfrm>
          <a:prstGeom prst="rect">
            <a:avLst/>
          </a:prstGeom>
        </p:spPr>
      </p:pic>
      <p:pic>
        <p:nvPicPr>
          <p:cNvPr id="7" name="Picture 6">
            <a:extLst>
              <a:ext uri="{FF2B5EF4-FFF2-40B4-BE49-F238E27FC236}">
                <a16:creationId xmlns:a16="http://schemas.microsoft.com/office/drawing/2014/main" id="{599A6846-3638-45EF-BDF9-C47703B34D11}"/>
              </a:ext>
            </a:extLst>
          </p:cNvPr>
          <p:cNvPicPr>
            <a:picLocks noChangeAspect="1"/>
          </p:cNvPicPr>
          <p:nvPr/>
        </p:nvPicPr>
        <p:blipFill>
          <a:blip r:embed="rId4"/>
          <a:stretch>
            <a:fillRect/>
          </a:stretch>
        </p:blipFill>
        <p:spPr>
          <a:xfrm>
            <a:off x="1957801" y="4032210"/>
            <a:ext cx="6589850" cy="1042838"/>
          </a:xfrm>
          <a:prstGeom prst="rect">
            <a:avLst/>
          </a:prstGeom>
        </p:spPr>
      </p:pic>
      <p:pic>
        <p:nvPicPr>
          <p:cNvPr id="9" name="Picture 8">
            <a:extLst>
              <a:ext uri="{FF2B5EF4-FFF2-40B4-BE49-F238E27FC236}">
                <a16:creationId xmlns:a16="http://schemas.microsoft.com/office/drawing/2014/main" id="{307712E2-087A-4BD5-8738-58EF7782E61E}"/>
              </a:ext>
            </a:extLst>
          </p:cNvPr>
          <p:cNvPicPr>
            <a:picLocks noChangeAspect="1"/>
          </p:cNvPicPr>
          <p:nvPr/>
        </p:nvPicPr>
        <p:blipFill>
          <a:blip r:embed="rId5"/>
          <a:stretch>
            <a:fillRect/>
          </a:stretch>
        </p:blipFill>
        <p:spPr>
          <a:xfrm>
            <a:off x="8557177" y="4211499"/>
            <a:ext cx="990600" cy="1323975"/>
          </a:xfrm>
          <a:prstGeom prst="rect">
            <a:avLst/>
          </a:prstGeom>
        </p:spPr>
      </p:pic>
    </p:spTree>
    <p:extLst>
      <p:ext uri="{BB962C8B-B14F-4D97-AF65-F5344CB8AC3E}">
        <p14:creationId xmlns:p14="http://schemas.microsoft.com/office/powerpoint/2010/main" val="2662794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C32C2-3545-49F3-BFB3-25EBBE65C4FE}"/>
              </a:ext>
            </a:extLst>
          </p:cNvPr>
          <p:cNvSpPr>
            <a:spLocks noGrp="1"/>
          </p:cNvSpPr>
          <p:nvPr>
            <p:ph type="title"/>
          </p:nvPr>
        </p:nvSpPr>
        <p:spPr/>
        <p:txBody>
          <a:bodyPr/>
          <a:lstStyle/>
          <a:p>
            <a:r>
              <a:rPr lang="en-IN" dirty="0"/>
              <a:t>MESSAGE WIDGET</a:t>
            </a:r>
          </a:p>
        </p:txBody>
      </p:sp>
      <p:sp>
        <p:nvSpPr>
          <p:cNvPr id="3" name="Content Placeholder 2">
            <a:extLst>
              <a:ext uri="{FF2B5EF4-FFF2-40B4-BE49-F238E27FC236}">
                <a16:creationId xmlns:a16="http://schemas.microsoft.com/office/drawing/2014/main" id="{F544F58F-D4D1-4008-9981-D1AE9186E6AB}"/>
              </a:ext>
            </a:extLst>
          </p:cNvPr>
          <p:cNvSpPr>
            <a:spLocks noGrp="1"/>
          </p:cNvSpPr>
          <p:nvPr>
            <p:ph idx="1"/>
          </p:nvPr>
        </p:nvSpPr>
        <p:spPr>
          <a:xfrm>
            <a:off x="1451579" y="2015732"/>
            <a:ext cx="9603275" cy="4037749"/>
          </a:xfrm>
        </p:spPr>
        <p:txBody>
          <a:bodyPr>
            <a:normAutofit fontScale="92500" lnSpcReduction="20000"/>
          </a:bodyPr>
          <a:lstStyle/>
          <a:p>
            <a:pPr algn="just"/>
            <a:r>
              <a:rPr lang="en-IN" dirty="0"/>
              <a:t>This widget provides a multiline and noneditable object that displays texts, automatically breaking lines and justifying their contents.</a:t>
            </a:r>
          </a:p>
          <a:p>
            <a:pPr algn="just"/>
            <a:r>
              <a:rPr lang="en-IN" dirty="0"/>
              <a:t>Its functionality is very similar to the one provided by the Label widget, except that it can also automatically wrap the text, maintaining a given width or aspect ratio.</a:t>
            </a:r>
          </a:p>
          <a:p>
            <a:pPr algn="just"/>
            <a:r>
              <a:rPr lang="en-IN" dirty="0"/>
              <a:t>Syntax</a:t>
            </a:r>
          </a:p>
          <a:p>
            <a:pPr algn="just"/>
            <a:r>
              <a:rPr lang="en-IN" dirty="0"/>
              <a:t>Here is the simple syntax to create this widget −</a:t>
            </a:r>
          </a:p>
          <a:p>
            <a:pPr algn="just"/>
            <a:r>
              <a:rPr lang="en-IN" dirty="0"/>
              <a:t>w = Message ( master, option, ... )Parameters</a:t>
            </a:r>
          </a:p>
          <a:p>
            <a:pPr algn="just"/>
            <a:r>
              <a:rPr lang="en-IN" b="1" dirty="0"/>
              <a:t>master:</a:t>
            </a:r>
            <a:r>
              <a:rPr lang="en-IN" dirty="0"/>
              <a:t> This represents the parent window.</a:t>
            </a:r>
          </a:p>
          <a:p>
            <a:pPr algn="just"/>
            <a:r>
              <a:rPr lang="en-IN" b="1" dirty="0"/>
              <a:t>options:</a:t>
            </a:r>
            <a:r>
              <a:rPr lang="en-IN" dirty="0"/>
              <a:t> Here is the list of most commonly used options for this widget. These options can be used as key-value pairs separated by commas.</a:t>
            </a:r>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262128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41049-4C99-47AF-A54A-BDBA5C9AE7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720DD3-4DCC-4D0C-9286-8A3E22298D19}"/>
              </a:ext>
            </a:extLst>
          </p:cNvPr>
          <p:cNvSpPr>
            <a:spLocks noGrp="1"/>
          </p:cNvSpPr>
          <p:nvPr>
            <p:ph idx="1"/>
          </p:nvPr>
        </p:nvSpPr>
        <p:spPr>
          <a:xfrm>
            <a:off x="1451579" y="2015732"/>
            <a:ext cx="9603275" cy="4544094"/>
          </a:xfrm>
        </p:spPr>
        <p:txBody>
          <a:bodyPr>
            <a:normAutofit/>
          </a:bodyPr>
          <a:lstStyle/>
          <a:p>
            <a:pPr marL="0" indent="0">
              <a:buNone/>
            </a:pPr>
            <a:r>
              <a:rPr lang="en-IN" sz="1900" dirty="0"/>
              <a:t>from </a:t>
            </a:r>
            <a:r>
              <a:rPr lang="en-IN" sz="1900" dirty="0" err="1"/>
              <a:t>tkinter</a:t>
            </a:r>
            <a:r>
              <a:rPr lang="en-IN" sz="1900" dirty="0"/>
              <a:t> import *</a:t>
            </a:r>
          </a:p>
          <a:p>
            <a:pPr marL="0" indent="0">
              <a:buNone/>
            </a:pPr>
            <a:r>
              <a:rPr lang="en-IN" sz="1900" dirty="0"/>
              <a:t>root = Tk() </a:t>
            </a:r>
          </a:p>
          <a:p>
            <a:pPr marL="0" indent="0">
              <a:buNone/>
            </a:pPr>
            <a:r>
              <a:rPr lang="en-IN" sz="1900" dirty="0" err="1"/>
              <a:t>root.minsize</a:t>
            </a:r>
            <a:r>
              <a:rPr lang="en-IN" sz="1900" dirty="0"/>
              <a:t>(300,200) </a:t>
            </a:r>
          </a:p>
          <a:p>
            <a:pPr marL="0" indent="0">
              <a:buNone/>
            </a:pPr>
            <a:r>
              <a:rPr lang="en-IN" sz="1900" dirty="0" err="1"/>
              <a:t>lbl</a:t>
            </a:r>
            <a:r>
              <a:rPr lang="en-IN" sz="1900" dirty="0"/>
              <a:t> = Label(root, text =‘</a:t>
            </a:r>
            <a:r>
              <a:rPr lang="en-IN" sz="1900" dirty="0" err="1"/>
              <a:t>FYBScCS</a:t>
            </a:r>
            <a:r>
              <a:rPr lang="en-IN" sz="1900" dirty="0"/>
              <a:t>', font = (“Arial”,”50”)) </a:t>
            </a:r>
          </a:p>
          <a:p>
            <a:pPr marL="0" indent="0">
              <a:buNone/>
            </a:pPr>
            <a:r>
              <a:rPr lang="en-IN" sz="1900" dirty="0" err="1"/>
              <a:t>lbl.pack</a:t>
            </a:r>
            <a:r>
              <a:rPr lang="en-IN" sz="1900" dirty="0"/>
              <a:t>() </a:t>
            </a:r>
          </a:p>
          <a:p>
            <a:pPr marL="0" indent="0">
              <a:buNone/>
            </a:pPr>
            <a:r>
              <a:rPr lang="en-IN" sz="1900" dirty="0" err="1"/>
              <a:t>msg</a:t>
            </a:r>
            <a:r>
              <a:rPr lang="en-IN" sz="1900" dirty="0"/>
              <a:t> = Message( root, text = “Students of CS") 	</a:t>
            </a:r>
          </a:p>
          <a:p>
            <a:pPr marL="0" indent="0">
              <a:buNone/>
            </a:pPr>
            <a:r>
              <a:rPr lang="en-IN" sz="1900" dirty="0" err="1"/>
              <a:t>msg.pack</a:t>
            </a:r>
            <a:r>
              <a:rPr lang="en-IN" sz="1900" dirty="0"/>
              <a:t>() </a:t>
            </a:r>
          </a:p>
          <a:p>
            <a:pPr marL="0" indent="0">
              <a:buNone/>
            </a:pPr>
            <a:r>
              <a:rPr lang="en-IN" sz="1900" dirty="0" err="1"/>
              <a:t>root.mainloop</a:t>
            </a:r>
            <a:r>
              <a:rPr lang="en-IN" sz="1900" dirty="0"/>
              <a:t>() </a:t>
            </a:r>
          </a:p>
          <a:p>
            <a:pPr marL="0" indent="0">
              <a:buNone/>
            </a:pPr>
            <a:endParaRPr lang="en-IN" sz="900" dirty="0"/>
          </a:p>
        </p:txBody>
      </p:sp>
    </p:spTree>
    <p:extLst>
      <p:ext uri="{BB962C8B-B14F-4D97-AF65-F5344CB8AC3E}">
        <p14:creationId xmlns:p14="http://schemas.microsoft.com/office/powerpoint/2010/main" val="2124393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74014A-EFD6-4D71-9754-5A5F24604542}"/>
              </a:ext>
            </a:extLst>
          </p:cNvPr>
          <p:cNvPicPr>
            <a:picLocks noChangeAspect="1"/>
          </p:cNvPicPr>
          <p:nvPr/>
        </p:nvPicPr>
        <p:blipFill>
          <a:blip r:embed="rId2"/>
          <a:stretch>
            <a:fillRect/>
          </a:stretch>
        </p:blipFill>
        <p:spPr>
          <a:xfrm>
            <a:off x="1543465" y="753924"/>
            <a:ext cx="6766662" cy="452024"/>
          </a:xfrm>
          <a:prstGeom prst="rect">
            <a:avLst/>
          </a:prstGeom>
        </p:spPr>
      </p:pic>
      <p:pic>
        <p:nvPicPr>
          <p:cNvPr id="5" name="Picture 4">
            <a:extLst>
              <a:ext uri="{FF2B5EF4-FFF2-40B4-BE49-F238E27FC236}">
                <a16:creationId xmlns:a16="http://schemas.microsoft.com/office/drawing/2014/main" id="{31D1A584-824A-4223-8FCD-D9B7471B24AD}"/>
              </a:ext>
            </a:extLst>
          </p:cNvPr>
          <p:cNvPicPr>
            <a:picLocks noChangeAspect="1"/>
          </p:cNvPicPr>
          <p:nvPr/>
        </p:nvPicPr>
        <p:blipFill>
          <a:blip r:embed="rId3"/>
          <a:stretch>
            <a:fillRect/>
          </a:stretch>
        </p:blipFill>
        <p:spPr>
          <a:xfrm>
            <a:off x="1543465" y="153849"/>
            <a:ext cx="5048250" cy="600075"/>
          </a:xfrm>
          <a:prstGeom prst="rect">
            <a:avLst/>
          </a:prstGeom>
        </p:spPr>
      </p:pic>
      <p:pic>
        <p:nvPicPr>
          <p:cNvPr id="7" name="Picture 6">
            <a:extLst>
              <a:ext uri="{FF2B5EF4-FFF2-40B4-BE49-F238E27FC236}">
                <a16:creationId xmlns:a16="http://schemas.microsoft.com/office/drawing/2014/main" id="{8D1E2FB8-0413-472E-9587-D725E2CA7A7F}"/>
              </a:ext>
            </a:extLst>
          </p:cNvPr>
          <p:cNvPicPr>
            <a:picLocks noChangeAspect="1"/>
          </p:cNvPicPr>
          <p:nvPr/>
        </p:nvPicPr>
        <p:blipFill>
          <a:blip r:embed="rId4"/>
          <a:stretch>
            <a:fillRect/>
          </a:stretch>
        </p:blipFill>
        <p:spPr>
          <a:xfrm>
            <a:off x="1543465" y="1205948"/>
            <a:ext cx="6876790" cy="1948069"/>
          </a:xfrm>
          <a:prstGeom prst="rect">
            <a:avLst/>
          </a:prstGeom>
        </p:spPr>
      </p:pic>
      <p:pic>
        <p:nvPicPr>
          <p:cNvPr id="9" name="Picture 8">
            <a:extLst>
              <a:ext uri="{FF2B5EF4-FFF2-40B4-BE49-F238E27FC236}">
                <a16:creationId xmlns:a16="http://schemas.microsoft.com/office/drawing/2014/main" id="{62309258-10D4-49BE-A19D-3CEE7BB8B3EC}"/>
              </a:ext>
            </a:extLst>
          </p:cNvPr>
          <p:cNvPicPr>
            <a:picLocks noChangeAspect="1"/>
          </p:cNvPicPr>
          <p:nvPr/>
        </p:nvPicPr>
        <p:blipFill>
          <a:blip r:embed="rId5"/>
          <a:stretch>
            <a:fillRect/>
          </a:stretch>
        </p:blipFill>
        <p:spPr>
          <a:xfrm>
            <a:off x="1543464" y="3154017"/>
            <a:ext cx="6876791" cy="378105"/>
          </a:xfrm>
          <a:prstGeom prst="rect">
            <a:avLst/>
          </a:prstGeom>
        </p:spPr>
      </p:pic>
    </p:spTree>
    <p:extLst>
      <p:ext uri="{BB962C8B-B14F-4D97-AF65-F5344CB8AC3E}">
        <p14:creationId xmlns:p14="http://schemas.microsoft.com/office/powerpoint/2010/main" val="434573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F742-1B52-43F7-8E68-6BE2F9210934}"/>
              </a:ext>
            </a:extLst>
          </p:cNvPr>
          <p:cNvSpPr>
            <a:spLocks noGrp="1"/>
          </p:cNvSpPr>
          <p:nvPr>
            <p:ph type="title"/>
          </p:nvPr>
        </p:nvSpPr>
        <p:spPr/>
        <p:txBody>
          <a:bodyPr/>
          <a:lstStyle/>
          <a:p>
            <a:r>
              <a:rPr lang="en-IN" dirty="0"/>
              <a:t>Text widget</a:t>
            </a:r>
          </a:p>
        </p:txBody>
      </p:sp>
      <p:sp>
        <p:nvSpPr>
          <p:cNvPr id="3" name="Content Placeholder 2">
            <a:extLst>
              <a:ext uri="{FF2B5EF4-FFF2-40B4-BE49-F238E27FC236}">
                <a16:creationId xmlns:a16="http://schemas.microsoft.com/office/drawing/2014/main" id="{0F2AEAA8-EB26-4A8D-AEE8-8A522550A256}"/>
              </a:ext>
            </a:extLst>
          </p:cNvPr>
          <p:cNvSpPr>
            <a:spLocks noGrp="1"/>
          </p:cNvSpPr>
          <p:nvPr>
            <p:ph idx="1"/>
          </p:nvPr>
        </p:nvSpPr>
        <p:spPr/>
        <p:txBody>
          <a:bodyPr/>
          <a:lstStyle/>
          <a:p>
            <a:r>
              <a:rPr lang="en-IN" b="0" i="0" dirty="0">
                <a:solidFill>
                  <a:srgbClr val="40424E"/>
                </a:solidFill>
                <a:effectLst/>
                <a:latin typeface="urw-din"/>
              </a:rPr>
              <a:t>Text Widget is used where a user wants to insert multiline text fields. </a:t>
            </a:r>
          </a:p>
          <a:p>
            <a:r>
              <a:rPr lang="en-IN" b="0" i="0" dirty="0">
                <a:solidFill>
                  <a:srgbClr val="40424E"/>
                </a:solidFill>
                <a:effectLst/>
                <a:latin typeface="urw-din"/>
              </a:rPr>
              <a:t>This widget can be used for a variety of applications where the multiline text is required such as messaging, sending information or displaying information and many other tasks.</a:t>
            </a:r>
            <a:endParaRPr lang="en-IN" dirty="0"/>
          </a:p>
        </p:txBody>
      </p:sp>
      <p:pic>
        <p:nvPicPr>
          <p:cNvPr id="5" name="Picture 4">
            <a:extLst>
              <a:ext uri="{FF2B5EF4-FFF2-40B4-BE49-F238E27FC236}">
                <a16:creationId xmlns:a16="http://schemas.microsoft.com/office/drawing/2014/main" id="{F319BE33-7825-424D-A913-A87DC9042976}"/>
              </a:ext>
            </a:extLst>
          </p:cNvPr>
          <p:cNvPicPr>
            <a:picLocks noChangeAspect="1"/>
          </p:cNvPicPr>
          <p:nvPr/>
        </p:nvPicPr>
        <p:blipFill>
          <a:blip r:embed="rId2"/>
          <a:stretch>
            <a:fillRect/>
          </a:stretch>
        </p:blipFill>
        <p:spPr>
          <a:xfrm>
            <a:off x="1697313" y="3711221"/>
            <a:ext cx="6809575" cy="1271596"/>
          </a:xfrm>
          <a:prstGeom prst="rect">
            <a:avLst/>
          </a:prstGeom>
        </p:spPr>
      </p:pic>
    </p:spTree>
    <p:extLst>
      <p:ext uri="{BB962C8B-B14F-4D97-AF65-F5344CB8AC3E}">
        <p14:creationId xmlns:p14="http://schemas.microsoft.com/office/powerpoint/2010/main" val="501255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CCD7E6-4AF6-442F-B1CD-A068458A033D}"/>
              </a:ext>
            </a:extLst>
          </p:cNvPr>
          <p:cNvSpPr txBox="1"/>
          <p:nvPr/>
        </p:nvSpPr>
        <p:spPr>
          <a:xfrm>
            <a:off x="1020417" y="304800"/>
            <a:ext cx="2133918" cy="369332"/>
          </a:xfrm>
          <a:prstGeom prst="rect">
            <a:avLst/>
          </a:prstGeom>
          <a:noFill/>
        </p:spPr>
        <p:txBody>
          <a:bodyPr wrap="none" rtlCol="0">
            <a:spAutoFit/>
          </a:bodyPr>
          <a:lstStyle/>
          <a:p>
            <a:r>
              <a:rPr lang="en-IN" dirty="0"/>
              <a:t>Optional Parameters</a:t>
            </a:r>
          </a:p>
        </p:txBody>
      </p:sp>
      <p:pic>
        <p:nvPicPr>
          <p:cNvPr id="4" name="Picture 3">
            <a:extLst>
              <a:ext uri="{FF2B5EF4-FFF2-40B4-BE49-F238E27FC236}">
                <a16:creationId xmlns:a16="http://schemas.microsoft.com/office/drawing/2014/main" id="{95C90DE9-F967-4DEE-8F1F-0339CE2D62B1}"/>
              </a:ext>
            </a:extLst>
          </p:cNvPr>
          <p:cNvPicPr>
            <a:picLocks noChangeAspect="1"/>
          </p:cNvPicPr>
          <p:nvPr/>
        </p:nvPicPr>
        <p:blipFill>
          <a:blip r:embed="rId2"/>
          <a:stretch>
            <a:fillRect/>
          </a:stretch>
        </p:blipFill>
        <p:spPr>
          <a:xfrm>
            <a:off x="1156251" y="908602"/>
            <a:ext cx="3994593" cy="2520398"/>
          </a:xfrm>
          <a:prstGeom prst="rect">
            <a:avLst/>
          </a:prstGeom>
        </p:spPr>
      </p:pic>
      <p:pic>
        <p:nvPicPr>
          <p:cNvPr id="6" name="Picture 5">
            <a:extLst>
              <a:ext uri="{FF2B5EF4-FFF2-40B4-BE49-F238E27FC236}">
                <a16:creationId xmlns:a16="http://schemas.microsoft.com/office/drawing/2014/main" id="{BE206A29-B780-48C4-A082-A454656D541B}"/>
              </a:ext>
            </a:extLst>
          </p:cNvPr>
          <p:cNvPicPr>
            <a:picLocks noChangeAspect="1"/>
          </p:cNvPicPr>
          <p:nvPr/>
        </p:nvPicPr>
        <p:blipFill>
          <a:blip r:embed="rId3"/>
          <a:stretch>
            <a:fillRect/>
          </a:stretch>
        </p:blipFill>
        <p:spPr>
          <a:xfrm>
            <a:off x="1156250" y="3809379"/>
            <a:ext cx="3505277" cy="1372221"/>
          </a:xfrm>
          <a:prstGeom prst="rect">
            <a:avLst/>
          </a:prstGeom>
        </p:spPr>
      </p:pic>
    </p:spTree>
    <p:extLst>
      <p:ext uri="{BB962C8B-B14F-4D97-AF65-F5344CB8AC3E}">
        <p14:creationId xmlns:p14="http://schemas.microsoft.com/office/powerpoint/2010/main" val="2513241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0333E2-1F0A-4D5A-8B59-227B2AA43CE8}"/>
              </a:ext>
            </a:extLst>
          </p:cNvPr>
          <p:cNvPicPr>
            <a:picLocks noChangeAspect="1"/>
          </p:cNvPicPr>
          <p:nvPr/>
        </p:nvPicPr>
        <p:blipFill>
          <a:blip r:embed="rId2"/>
          <a:stretch>
            <a:fillRect/>
          </a:stretch>
        </p:blipFill>
        <p:spPr>
          <a:xfrm>
            <a:off x="1329566" y="305834"/>
            <a:ext cx="8160466" cy="5246827"/>
          </a:xfrm>
          <a:prstGeom prst="rect">
            <a:avLst/>
          </a:prstGeom>
        </p:spPr>
      </p:pic>
    </p:spTree>
    <p:extLst>
      <p:ext uri="{BB962C8B-B14F-4D97-AF65-F5344CB8AC3E}">
        <p14:creationId xmlns:p14="http://schemas.microsoft.com/office/powerpoint/2010/main" val="828507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EC3B1-5F28-4F1B-BD49-FA7CE5006739}"/>
              </a:ext>
            </a:extLst>
          </p:cNvPr>
          <p:cNvPicPr>
            <a:picLocks noChangeAspect="1"/>
          </p:cNvPicPr>
          <p:nvPr/>
        </p:nvPicPr>
        <p:blipFill>
          <a:blip r:embed="rId2"/>
          <a:stretch>
            <a:fillRect/>
          </a:stretch>
        </p:blipFill>
        <p:spPr>
          <a:xfrm>
            <a:off x="1503914" y="421173"/>
            <a:ext cx="8994946" cy="4680914"/>
          </a:xfrm>
          <a:prstGeom prst="rect">
            <a:avLst/>
          </a:prstGeom>
        </p:spPr>
      </p:pic>
    </p:spTree>
    <p:extLst>
      <p:ext uri="{BB962C8B-B14F-4D97-AF65-F5344CB8AC3E}">
        <p14:creationId xmlns:p14="http://schemas.microsoft.com/office/powerpoint/2010/main" val="2383065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4EF3FF-34FB-49F4-9603-CD380E157F04}"/>
              </a:ext>
            </a:extLst>
          </p:cNvPr>
          <p:cNvPicPr>
            <a:picLocks noChangeAspect="1"/>
          </p:cNvPicPr>
          <p:nvPr/>
        </p:nvPicPr>
        <p:blipFill>
          <a:blip r:embed="rId2"/>
          <a:stretch>
            <a:fillRect/>
          </a:stretch>
        </p:blipFill>
        <p:spPr>
          <a:xfrm>
            <a:off x="1297677" y="234191"/>
            <a:ext cx="8137871" cy="2244533"/>
          </a:xfrm>
          <a:prstGeom prst="rect">
            <a:avLst/>
          </a:prstGeom>
        </p:spPr>
      </p:pic>
      <p:pic>
        <p:nvPicPr>
          <p:cNvPr id="5" name="Picture 4">
            <a:extLst>
              <a:ext uri="{FF2B5EF4-FFF2-40B4-BE49-F238E27FC236}">
                <a16:creationId xmlns:a16="http://schemas.microsoft.com/office/drawing/2014/main" id="{CB091257-D807-499A-B184-537B94F4DA2A}"/>
              </a:ext>
            </a:extLst>
          </p:cNvPr>
          <p:cNvPicPr>
            <a:picLocks noChangeAspect="1"/>
          </p:cNvPicPr>
          <p:nvPr/>
        </p:nvPicPr>
        <p:blipFill>
          <a:blip r:embed="rId3"/>
          <a:stretch>
            <a:fillRect/>
          </a:stretch>
        </p:blipFill>
        <p:spPr>
          <a:xfrm>
            <a:off x="1297677" y="2816915"/>
            <a:ext cx="8119802" cy="2417694"/>
          </a:xfrm>
          <a:prstGeom prst="rect">
            <a:avLst/>
          </a:prstGeom>
        </p:spPr>
      </p:pic>
    </p:spTree>
    <p:extLst>
      <p:ext uri="{BB962C8B-B14F-4D97-AF65-F5344CB8AC3E}">
        <p14:creationId xmlns:p14="http://schemas.microsoft.com/office/powerpoint/2010/main" val="36413145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20EB8A-0576-4747-8C75-FF0B55DBFFCB}"/>
              </a:ext>
            </a:extLst>
          </p:cNvPr>
          <p:cNvPicPr>
            <a:picLocks noChangeAspect="1"/>
          </p:cNvPicPr>
          <p:nvPr/>
        </p:nvPicPr>
        <p:blipFill>
          <a:blip r:embed="rId2"/>
          <a:stretch>
            <a:fillRect/>
          </a:stretch>
        </p:blipFill>
        <p:spPr>
          <a:xfrm>
            <a:off x="1511783" y="1137408"/>
            <a:ext cx="5047225" cy="2493688"/>
          </a:xfrm>
          <a:prstGeom prst="rect">
            <a:avLst/>
          </a:prstGeom>
        </p:spPr>
      </p:pic>
      <p:sp>
        <p:nvSpPr>
          <p:cNvPr id="4" name="TextBox 3">
            <a:extLst>
              <a:ext uri="{FF2B5EF4-FFF2-40B4-BE49-F238E27FC236}">
                <a16:creationId xmlns:a16="http://schemas.microsoft.com/office/drawing/2014/main" id="{62B1D892-F21E-490A-A8B1-5F6388AEA335}"/>
              </a:ext>
            </a:extLst>
          </p:cNvPr>
          <p:cNvSpPr txBox="1"/>
          <p:nvPr/>
        </p:nvSpPr>
        <p:spPr>
          <a:xfrm>
            <a:off x="2213113" y="251791"/>
            <a:ext cx="968535" cy="369332"/>
          </a:xfrm>
          <a:prstGeom prst="rect">
            <a:avLst/>
          </a:prstGeom>
          <a:noFill/>
        </p:spPr>
        <p:txBody>
          <a:bodyPr wrap="none" rtlCol="0">
            <a:spAutoFit/>
          </a:bodyPr>
          <a:lstStyle/>
          <a:p>
            <a:r>
              <a:rPr lang="en-IN" dirty="0"/>
              <a:t>Example</a:t>
            </a:r>
          </a:p>
        </p:txBody>
      </p:sp>
    </p:spTree>
    <p:extLst>
      <p:ext uri="{BB962C8B-B14F-4D97-AF65-F5344CB8AC3E}">
        <p14:creationId xmlns:p14="http://schemas.microsoft.com/office/powerpoint/2010/main" val="29949305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1497</TotalTime>
  <Words>1918</Words>
  <Application>Microsoft Office PowerPoint</Application>
  <PresentationFormat>Widescreen</PresentationFormat>
  <Paragraphs>166</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Arial</vt:lpstr>
      <vt:lpstr>Consolas</vt:lpstr>
      <vt:lpstr>Gill Sans MT</vt:lpstr>
      <vt:lpstr>Helvetica Neue</vt:lpstr>
      <vt:lpstr>source sans pro</vt:lpstr>
      <vt:lpstr>urw-din</vt:lpstr>
      <vt:lpstr>verdana</vt:lpstr>
      <vt:lpstr>Gallery</vt:lpstr>
      <vt:lpstr>GUI Programming in Python</vt:lpstr>
      <vt:lpstr>What is GUI?</vt:lpstr>
      <vt:lpstr>Introduction to GUI library</vt:lpstr>
      <vt:lpstr>PowerPoint Presentation</vt:lpstr>
      <vt:lpstr>Advantages of tkinter</vt:lpstr>
      <vt:lpstr>Tkinter programming(library)</vt:lpstr>
      <vt:lpstr>example</vt:lpstr>
      <vt:lpstr>PowerPoint Presentation</vt:lpstr>
      <vt:lpstr>Geometry management</vt:lpstr>
      <vt:lpstr>PowerPoint Presentation</vt:lpstr>
      <vt:lpstr>PowerPoint Presentation</vt:lpstr>
      <vt:lpstr>Tkinter widgets</vt:lpstr>
      <vt:lpstr>Displaying Text and Images With Label Widgets</vt:lpstr>
      <vt:lpstr>PowerPoint Presentation</vt:lpstr>
      <vt:lpstr>PowerPoint Presentation</vt:lpstr>
      <vt:lpstr>Displaying Clickable Buttons With Button Widgets</vt:lpstr>
      <vt:lpstr>PowerPoint Presentation</vt:lpstr>
      <vt:lpstr>PowerPoint Presentation</vt:lpstr>
      <vt:lpstr>PowerPoint Presentation</vt:lpstr>
      <vt:lpstr>Getting User Input With Entry Widgets</vt:lpstr>
      <vt:lpstr>PowerPoint Presentation</vt:lpstr>
      <vt:lpstr>PowerPoint Presentation</vt:lpstr>
      <vt:lpstr>PowerPoint Presentation</vt:lpstr>
      <vt:lpstr>PowerPoint Presentation</vt:lpstr>
      <vt:lpstr>PowerPoint Presentation</vt:lpstr>
      <vt:lpstr>PowerPoint Presentation</vt:lpstr>
      <vt:lpstr>Events and bindings</vt:lpstr>
      <vt:lpstr>PowerPoint Presentation</vt:lpstr>
      <vt:lpstr>PowerPoint Presentation</vt:lpstr>
      <vt:lpstr>PowerPoint Presentation</vt:lpstr>
      <vt:lpstr>PowerPoint Presentation</vt:lpstr>
      <vt:lpstr>Frame widget</vt:lpstr>
      <vt:lpstr>PowerPoint Presentation</vt:lpstr>
      <vt:lpstr>PowerPoint Presentation</vt:lpstr>
      <vt:lpstr>MESSAGE WIDGET</vt:lpstr>
      <vt:lpstr>PowerPoint Presentation</vt:lpstr>
      <vt:lpstr>PowerPoint Presentation</vt:lpstr>
      <vt:lpstr>Text widget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 Programming in Python</dc:title>
  <dc:creator>Prathamesh Bagwe</dc:creator>
  <cp:lastModifiedBy>VISHAKHA BAGWE</cp:lastModifiedBy>
  <cp:revision>57</cp:revision>
  <dcterms:created xsi:type="dcterms:W3CDTF">2021-01-17T13:03:03Z</dcterms:created>
  <dcterms:modified xsi:type="dcterms:W3CDTF">2023-01-02T05:57:23Z</dcterms:modified>
</cp:coreProperties>
</file>