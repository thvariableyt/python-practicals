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57"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CEA3DF-5501-472E-B978-B9562EDCCF70}" type="datetimeFigureOut">
              <a:rPr lang="en-IN" smtClean="0"/>
              <a:t>09-04-2021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28DA18-92EE-4B85-AE6B-704C80C2DEA9}" type="slidenum">
              <a:rPr lang="en-IN" smtClean="0"/>
              <a:t>‹#›</a:t>
            </a:fld>
            <a:endParaRPr lang="en-IN"/>
          </a:p>
        </p:txBody>
      </p:sp>
    </p:spTree>
    <p:extLst>
      <p:ext uri="{BB962C8B-B14F-4D97-AF65-F5344CB8AC3E}">
        <p14:creationId xmlns:p14="http://schemas.microsoft.com/office/powerpoint/2010/main" val="2963824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CEA3DF-5501-472E-B978-B9562EDCCF70}" type="datetimeFigureOut">
              <a:rPr lang="en-IN" smtClean="0"/>
              <a:t>09-04-2021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28DA18-92EE-4B85-AE6B-704C80C2DEA9}" type="slidenum">
              <a:rPr lang="en-IN" smtClean="0"/>
              <a:t>‹#›</a:t>
            </a:fld>
            <a:endParaRPr lang="en-IN"/>
          </a:p>
        </p:txBody>
      </p:sp>
    </p:spTree>
    <p:extLst>
      <p:ext uri="{BB962C8B-B14F-4D97-AF65-F5344CB8AC3E}">
        <p14:creationId xmlns:p14="http://schemas.microsoft.com/office/powerpoint/2010/main" val="851178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CEA3DF-5501-472E-B978-B9562EDCCF70}" type="datetimeFigureOut">
              <a:rPr lang="en-IN" smtClean="0"/>
              <a:t>09-04-2021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28DA18-92EE-4B85-AE6B-704C80C2DEA9}" type="slidenum">
              <a:rPr lang="en-IN" smtClean="0"/>
              <a:t>‹#›</a:t>
            </a:fld>
            <a:endParaRPr lang="en-IN"/>
          </a:p>
        </p:txBody>
      </p:sp>
    </p:spTree>
    <p:extLst>
      <p:ext uri="{BB962C8B-B14F-4D97-AF65-F5344CB8AC3E}">
        <p14:creationId xmlns:p14="http://schemas.microsoft.com/office/powerpoint/2010/main" val="8055314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CEA3DF-5501-472E-B978-B9562EDCCF70}" type="datetimeFigureOut">
              <a:rPr lang="en-IN" smtClean="0"/>
              <a:t>09-04-2021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328DA18-92EE-4B85-AE6B-704C80C2DEA9}" type="slidenum">
              <a:rPr lang="en-IN" smtClean="0"/>
              <a:t>‹#›</a:t>
            </a:fld>
            <a:endParaRPr lang="en-IN"/>
          </a:p>
        </p:txBody>
      </p:sp>
    </p:spTree>
    <p:extLst>
      <p:ext uri="{BB962C8B-B14F-4D97-AF65-F5344CB8AC3E}">
        <p14:creationId xmlns:p14="http://schemas.microsoft.com/office/powerpoint/2010/main" val="21652357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CEA3DF-5501-472E-B978-B9562EDCCF70}" type="datetimeFigureOut">
              <a:rPr lang="en-IN" smtClean="0"/>
              <a:t>09-04-2021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328DA18-92EE-4B85-AE6B-704C80C2DEA9}" type="slidenum">
              <a:rPr lang="en-IN" smtClean="0"/>
              <a:t>‹#›</a:t>
            </a:fld>
            <a:endParaRPr lang="en-IN"/>
          </a:p>
        </p:txBody>
      </p:sp>
    </p:spTree>
    <p:extLst>
      <p:ext uri="{BB962C8B-B14F-4D97-AF65-F5344CB8AC3E}">
        <p14:creationId xmlns:p14="http://schemas.microsoft.com/office/powerpoint/2010/main" val="1300120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CEA3DF-5501-472E-B978-B9562EDCCF70}" type="datetimeFigureOut">
              <a:rPr lang="en-IN" smtClean="0"/>
              <a:t>09-04-2021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328DA18-92EE-4B85-AE6B-704C80C2DEA9}" type="slidenum">
              <a:rPr lang="en-IN" smtClean="0"/>
              <a:t>‹#›</a:t>
            </a:fld>
            <a:endParaRPr lang="en-IN"/>
          </a:p>
        </p:txBody>
      </p:sp>
    </p:spTree>
    <p:extLst>
      <p:ext uri="{BB962C8B-B14F-4D97-AF65-F5344CB8AC3E}">
        <p14:creationId xmlns:p14="http://schemas.microsoft.com/office/powerpoint/2010/main" val="32559681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CEA3DF-5501-472E-B978-B9562EDCCF70}" type="datetimeFigureOut">
              <a:rPr lang="en-IN" smtClean="0"/>
              <a:t>09-04-2021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328DA18-92EE-4B85-AE6B-704C80C2DEA9}" type="slidenum">
              <a:rPr lang="en-IN" smtClean="0"/>
              <a:t>‹#›</a:t>
            </a:fld>
            <a:endParaRPr lang="en-IN"/>
          </a:p>
        </p:txBody>
      </p:sp>
    </p:spTree>
    <p:extLst>
      <p:ext uri="{BB962C8B-B14F-4D97-AF65-F5344CB8AC3E}">
        <p14:creationId xmlns:p14="http://schemas.microsoft.com/office/powerpoint/2010/main" val="3860215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CEA3DF-5501-472E-B978-B9562EDCCF70}" type="datetimeFigureOut">
              <a:rPr lang="en-IN" smtClean="0"/>
              <a:t>09-04-2021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328DA18-92EE-4B85-AE6B-704C80C2DEA9}" type="slidenum">
              <a:rPr lang="en-IN" smtClean="0"/>
              <a:t>‹#›</a:t>
            </a:fld>
            <a:endParaRPr lang="en-IN"/>
          </a:p>
        </p:txBody>
      </p:sp>
    </p:spTree>
    <p:extLst>
      <p:ext uri="{BB962C8B-B14F-4D97-AF65-F5344CB8AC3E}">
        <p14:creationId xmlns:p14="http://schemas.microsoft.com/office/powerpoint/2010/main" val="3895202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CEA3DF-5501-472E-B978-B9562EDCCF70}" type="datetimeFigureOut">
              <a:rPr lang="en-IN" smtClean="0"/>
              <a:t>09-04-2021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328DA18-92EE-4B85-AE6B-704C80C2DEA9}" type="slidenum">
              <a:rPr lang="en-IN" smtClean="0"/>
              <a:t>‹#›</a:t>
            </a:fld>
            <a:endParaRPr lang="en-IN"/>
          </a:p>
        </p:txBody>
      </p:sp>
    </p:spTree>
    <p:extLst>
      <p:ext uri="{BB962C8B-B14F-4D97-AF65-F5344CB8AC3E}">
        <p14:creationId xmlns:p14="http://schemas.microsoft.com/office/powerpoint/2010/main" val="27567276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CEA3DF-5501-472E-B978-B9562EDCCF70}" type="datetimeFigureOut">
              <a:rPr lang="en-IN" smtClean="0"/>
              <a:t>09-04-2021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28DA18-92EE-4B85-AE6B-704C80C2DEA9}" type="slidenum">
              <a:rPr lang="en-IN" smtClean="0"/>
              <a:t>‹#›</a:t>
            </a:fld>
            <a:endParaRPr lang="en-IN"/>
          </a:p>
        </p:txBody>
      </p:sp>
    </p:spTree>
    <p:extLst>
      <p:ext uri="{BB962C8B-B14F-4D97-AF65-F5344CB8AC3E}">
        <p14:creationId xmlns:p14="http://schemas.microsoft.com/office/powerpoint/2010/main" val="2671722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CEA3DF-5501-472E-B978-B9562EDCCF70}" type="datetimeFigureOut">
              <a:rPr lang="en-IN" smtClean="0"/>
              <a:t>09-04-2021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28DA18-92EE-4B85-AE6B-704C80C2DEA9}"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850078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CEA3DF-5501-472E-B978-B9562EDCCF70}" type="datetimeFigureOut">
              <a:rPr lang="en-IN" smtClean="0"/>
              <a:t>09-04-2021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28DA18-92EE-4B85-AE6B-704C80C2DEA9}" type="slidenum">
              <a:rPr lang="en-IN" smtClean="0"/>
              <a:t>‹#›</a:t>
            </a:fld>
            <a:endParaRPr lang="en-IN"/>
          </a:p>
        </p:txBody>
      </p:sp>
    </p:spTree>
    <p:extLst>
      <p:ext uri="{BB962C8B-B14F-4D97-AF65-F5344CB8AC3E}">
        <p14:creationId xmlns:p14="http://schemas.microsoft.com/office/powerpoint/2010/main" val="14455952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CEA3DF-5501-472E-B978-B9562EDCCF70}" type="datetimeFigureOut">
              <a:rPr lang="en-IN" smtClean="0"/>
              <a:t>09-04-2021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28DA18-92EE-4B85-AE6B-704C80C2DEA9}"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8466682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CEA3DF-5501-472E-B978-B9562EDCCF70}" type="datetimeFigureOut">
              <a:rPr lang="en-IN" smtClean="0"/>
              <a:t>09-04-2021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28DA18-92EE-4B85-AE6B-704C80C2DEA9}" type="slidenum">
              <a:rPr lang="en-IN" smtClean="0"/>
              <a:t>‹#›</a:t>
            </a:fld>
            <a:endParaRPr lang="en-IN"/>
          </a:p>
        </p:txBody>
      </p:sp>
    </p:spTree>
    <p:extLst>
      <p:ext uri="{BB962C8B-B14F-4D97-AF65-F5344CB8AC3E}">
        <p14:creationId xmlns:p14="http://schemas.microsoft.com/office/powerpoint/2010/main" val="34689196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CEA3DF-5501-472E-B978-B9562EDCCF70}" type="datetimeFigureOut">
              <a:rPr lang="en-IN" smtClean="0"/>
              <a:t>09-04-2021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28DA18-92EE-4B85-AE6B-704C80C2DEA9}" type="slidenum">
              <a:rPr lang="en-IN" smtClean="0"/>
              <a:t>‹#›</a:t>
            </a:fld>
            <a:endParaRPr lang="en-IN"/>
          </a:p>
        </p:txBody>
      </p:sp>
    </p:spTree>
    <p:extLst>
      <p:ext uri="{BB962C8B-B14F-4D97-AF65-F5344CB8AC3E}">
        <p14:creationId xmlns:p14="http://schemas.microsoft.com/office/powerpoint/2010/main" val="146241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CEA3DF-5501-472E-B978-B9562EDCCF70}" type="datetimeFigureOut">
              <a:rPr lang="en-IN" smtClean="0"/>
              <a:t>09-04-2021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328DA18-92EE-4B85-AE6B-704C80C2DEA9}" type="slidenum">
              <a:rPr lang="en-IN" smtClean="0"/>
              <a:t>‹#›</a:t>
            </a:fld>
            <a:endParaRPr lang="en-IN"/>
          </a:p>
        </p:txBody>
      </p:sp>
    </p:spTree>
    <p:extLst>
      <p:ext uri="{BB962C8B-B14F-4D97-AF65-F5344CB8AC3E}">
        <p14:creationId xmlns:p14="http://schemas.microsoft.com/office/powerpoint/2010/main" val="3015633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5CEA3DF-5501-472E-B978-B9562EDCCF70}" type="datetimeFigureOut">
              <a:rPr lang="en-IN" smtClean="0"/>
              <a:t>09-04-2021</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328DA18-92EE-4B85-AE6B-704C80C2DEA9}" type="slidenum">
              <a:rPr lang="en-IN" smtClean="0"/>
              <a:t>‹#›</a:t>
            </a:fld>
            <a:endParaRPr lang="en-IN"/>
          </a:p>
        </p:txBody>
      </p:sp>
    </p:spTree>
    <p:extLst>
      <p:ext uri="{BB962C8B-B14F-4D97-AF65-F5344CB8AC3E}">
        <p14:creationId xmlns:p14="http://schemas.microsoft.com/office/powerpoint/2010/main" val="20502075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AC63C-C5DC-4722-80DA-845634D17C08}"/>
              </a:ext>
            </a:extLst>
          </p:cNvPr>
          <p:cNvSpPr>
            <a:spLocks noGrp="1"/>
          </p:cNvSpPr>
          <p:nvPr>
            <p:ph type="ctrTitle"/>
          </p:nvPr>
        </p:nvSpPr>
        <p:spPr/>
        <p:txBody>
          <a:bodyPr/>
          <a:lstStyle/>
          <a:p>
            <a:r>
              <a:rPr lang="en-IN" dirty="0"/>
              <a:t>Python and the Web</a:t>
            </a:r>
          </a:p>
        </p:txBody>
      </p:sp>
      <p:sp>
        <p:nvSpPr>
          <p:cNvPr id="3" name="Subtitle 2">
            <a:extLst>
              <a:ext uri="{FF2B5EF4-FFF2-40B4-BE49-F238E27FC236}">
                <a16:creationId xmlns:a16="http://schemas.microsoft.com/office/drawing/2014/main" id="{BF1314F9-E12B-4620-9A9A-D3D592E30673}"/>
              </a:ext>
            </a:extLst>
          </p:cNvPr>
          <p:cNvSpPr>
            <a:spLocks noGrp="1"/>
          </p:cNvSpPr>
          <p:nvPr>
            <p:ph type="subTitle" idx="1"/>
          </p:nvPr>
        </p:nvSpPr>
        <p:spPr/>
        <p:txBody>
          <a:bodyPr/>
          <a:lstStyle/>
          <a:p>
            <a:r>
              <a:rPr lang="en-IN" dirty="0"/>
              <a:t>Unit 4- Chapter 2</a:t>
            </a:r>
          </a:p>
        </p:txBody>
      </p:sp>
    </p:spTree>
    <p:extLst>
      <p:ext uri="{BB962C8B-B14F-4D97-AF65-F5344CB8AC3E}">
        <p14:creationId xmlns:p14="http://schemas.microsoft.com/office/powerpoint/2010/main" val="24064242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660D7-737D-4BAE-A335-72DB09ABC56E}"/>
              </a:ext>
            </a:extLst>
          </p:cNvPr>
          <p:cNvSpPr>
            <a:spLocks noGrp="1"/>
          </p:cNvSpPr>
          <p:nvPr>
            <p:ph type="title"/>
          </p:nvPr>
        </p:nvSpPr>
        <p:spPr/>
        <p:txBody>
          <a:bodyPr/>
          <a:lstStyle/>
          <a:p>
            <a:r>
              <a:rPr lang="en-IN" dirty="0"/>
              <a:t>Screen Scraping</a:t>
            </a:r>
          </a:p>
        </p:txBody>
      </p:sp>
      <p:sp>
        <p:nvSpPr>
          <p:cNvPr id="3" name="Content Placeholder 2">
            <a:extLst>
              <a:ext uri="{FF2B5EF4-FFF2-40B4-BE49-F238E27FC236}">
                <a16:creationId xmlns:a16="http://schemas.microsoft.com/office/drawing/2014/main" id="{18B8E659-C57C-4B54-9355-03325AE0304A}"/>
              </a:ext>
            </a:extLst>
          </p:cNvPr>
          <p:cNvSpPr>
            <a:spLocks noGrp="1"/>
          </p:cNvSpPr>
          <p:nvPr>
            <p:ph idx="1"/>
          </p:nvPr>
        </p:nvSpPr>
        <p:spPr>
          <a:xfrm>
            <a:off x="677333" y="1470991"/>
            <a:ext cx="9632858" cy="5062331"/>
          </a:xfrm>
        </p:spPr>
        <p:txBody>
          <a:bodyPr/>
          <a:lstStyle/>
          <a:p>
            <a:r>
              <a:rPr lang="en-IN" b="0" i="0" dirty="0">
                <a:solidFill>
                  <a:srgbClr val="424242"/>
                </a:solidFill>
                <a:effectLst/>
                <a:latin typeface="Verdana" panose="020B0604030504040204" pitchFamily="34" charset="0"/>
              </a:rPr>
              <a:t>Screen scraping is the process of collecting screen display data from one application and translating it so that another application can display it. This is normally done to capture data from a legacy application in order to display it using a more modern user interface.</a:t>
            </a:r>
          </a:p>
          <a:p>
            <a:r>
              <a:rPr lang="en-IN" b="0" i="0" dirty="0">
                <a:solidFill>
                  <a:srgbClr val="424242"/>
                </a:solidFill>
                <a:effectLst/>
                <a:latin typeface="Verdana" panose="020B0604030504040204" pitchFamily="34" charset="0"/>
              </a:rPr>
              <a:t>Screen scraping usually refers to a legitimate technique used to translate screen data from one application to another.</a:t>
            </a:r>
          </a:p>
          <a:p>
            <a:r>
              <a:rPr lang="en-IN" dirty="0">
                <a:latin typeface="Verdana" panose="020B0604030504040204" pitchFamily="34" charset="0"/>
                <a:ea typeface="Verdana" panose="020B0604030504040204" pitchFamily="34" charset="0"/>
              </a:rPr>
              <a:t>Screen scraping is the act of copying information that shows on a digital display so it can be used for another purpose. Visual data can be collected as raw text from on-screen elements such as a text or images that appear on the desktop, in an application or on a website. Screen scraping can be performed automatically with a scraping program or manually with an individual extracting data.</a:t>
            </a:r>
          </a:p>
          <a:p>
            <a:r>
              <a:rPr lang="en-IN" b="0" i="0" dirty="0">
                <a:solidFill>
                  <a:schemeClr val="bg2">
                    <a:lumMod val="25000"/>
                  </a:schemeClr>
                </a:solidFill>
                <a:effectLst/>
                <a:latin typeface="Verdana" panose="020B0604030504040204" pitchFamily="34" charset="0"/>
                <a:ea typeface="Verdana" panose="020B0604030504040204" pitchFamily="34" charset="0"/>
              </a:rPr>
              <a:t>Screen scraping has a variety of uses, both ethical and unethical.</a:t>
            </a:r>
          </a:p>
          <a:p>
            <a:r>
              <a:rPr lang="en-IN" dirty="0">
                <a:solidFill>
                  <a:schemeClr val="bg2">
                    <a:lumMod val="25000"/>
                  </a:schemeClr>
                </a:solidFill>
                <a:latin typeface="Verdana" panose="020B0604030504040204" pitchFamily="34" charset="0"/>
                <a:ea typeface="Verdana" panose="020B0604030504040204" pitchFamily="34" charset="0"/>
              </a:rPr>
              <a:t>A developer might be tempted to steal code from another application to make the process of development faster and easier for themselves.</a:t>
            </a:r>
          </a:p>
        </p:txBody>
      </p:sp>
    </p:spTree>
    <p:extLst>
      <p:ext uri="{BB962C8B-B14F-4D97-AF65-F5344CB8AC3E}">
        <p14:creationId xmlns:p14="http://schemas.microsoft.com/office/powerpoint/2010/main" val="445456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8743A-D8D7-43F5-B14C-CBEA9F39E2A3}"/>
              </a:ext>
            </a:extLst>
          </p:cNvPr>
          <p:cNvSpPr>
            <a:spLocks noGrp="1"/>
          </p:cNvSpPr>
          <p:nvPr>
            <p:ph type="title"/>
          </p:nvPr>
        </p:nvSpPr>
        <p:spPr>
          <a:xfrm>
            <a:off x="677334" y="207272"/>
            <a:ext cx="8596668" cy="702365"/>
          </a:xfrm>
        </p:spPr>
        <p:txBody>
          <a:bodyPr/>
          <a:lstStyle/>
          <a:p>
            <a:r>
              <a:rPr lang="en-IN" dirty="0"/>
              <a:t>Web Scraping</a:t>
            </a:r>
          </a:p>
        </p:txBody>
      </p:sp>
      <p:sp>
        <p:nvSpPr>
          <p:cNvPr id="3" name="Content Placeholder 2">
            <a:extLst>
              <a:ext uri="{FF2B5EF4-FFF2-40B4-BE49-F238E27FC236}">
                <a16:creationId xmlns:a16="http://schemas.microsoft.com/office/drawing/2014/main" id="{8ED9308F-A692-44C8-8F99-FBC05CE6D1E8}"/>
              </a:ext>
            </a:extLst>
          </p:cNvPr>
          <p:cNvSpPr>
            <a:spLocks noGrp="1"/>
          </p:cNvSpPr>
          <p:nvPr>
            <p:ph idx="1"/>
          </p:nvPr>
        </p:nvSpPr>
        <p:spPr>
          <a:xfrm>
            <a:off x="677334" y="1091048"/>
            <a:ext cx="8596668" cy="1241335"/>
          </a:xfrm>
        </p:spPr>
        <p:txBody>
          <a:bodyPr/>
          <a:lstStyle/>
          <a:p>
            <a:r>
              <a:rPr lang="en-IN" b="0" i="0" dirty="0">
                <a:solidFill>
                  <a:srgbClr val="4A4A4A"/>
                </a:solidFill>
                <a:effectLst/>
                <a:latin typeface="Open Sans"/>
              </a:rPr>
              <a:t>Imagine you have to pull a large amount of data from websites and you want to do it as quickly as possible. How would you do it without manually going to each website and getting the data? Well, “Web Scraping” is the answer. Web Scraping just makes this job easier and faster. </a:t>
            </a:r>
          </a:p>
          <a:p>
            <a:endParaRPr lang="en-IN" dirty="0"/>
          </a:p>
        </p:txBody>
      </p:sp>
      <p:pic>
        <p:nvPicPr>
          <p:cNvPr id="5" name="Picture 4">
            <a:extLst>
              <a:ext uri="{FF2B5EF4-FFF2-40B4-BE49-F238E27FC236}">
                <a16:creationId xmlns:a16="http://schemas.microsoft.com/office/drawing/2014/main" id="{C8C750C4-9B9D-4CD9-9ADC-A71D3E4C46AE}"/>
              </a:ext>
            </a:extLst>
          </p:cNvPr>
          <p:cNvPicPr>
            <a:picLocks noChangeAspect="1"/>
          </p:cNvPicPr>
          <p:nvPr/>
        </p:nvPicPr>
        <p:blipFill>
          <a:blip r:embed="rId2"/>
          <a:stretch>
            <a:fillRect/>
          </a:stretch>
        </p:blipFill>
        <p:spPr>
          <a:xfrm>
            <a:off x="677333" y="2332383"/>
            <a:ext cx="8718457" cy="4505285"/>
          </a:xfrm>
          <a:prstGeom prst="rect">
            <a:avLst/>
          </a:prstGeom>
        </p:spPr>
      </p:pic>
    </p:spTree>
    <p:extLst>
      <p:ext uri="{BB962C8B-B14F-4D97-AF65-F5344CB8AC3E}">
        <p14:creationId xmlns:p14="http://schemas.microsoft.com/office/powerpoint/2010/main" val="38115969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EBC45-7E43-4637-9F3F-3C4EC92594E7}"/>
              </a:ext>
            </a:extLst>
          </p:cNvPr>
          <p:cNvSpPr>
            <a:spLocks noGrp="1"/>
          </p:cNvSpPr>
          <p:nvPr>
            <p:ph type="title"/>
          </p:nvPr>
        </p:nvSpPr>
        <p:spPr/>
        <p:txBody>
          <a:bodyPr/>
          <a:lstStyle/>
          <a:p>
            <a:r>
              <a:rPr lang="en-IN" dirty="0"/>
              <a:t>What is Web Scraping?</a:t>
            </a:r>
          </a:p>
        </p:txBody>
      </p:sp>
      <p:sp>
        <p:nvSpPr>
          <p:cNvPr id="3" name="Content Placeholder 2">
            <a:extLst>
              <a:ext uri="{FF2B5EF4-FFF2-40B4-BE49-F238E27FC236}">
                <a16:creationId xmlns:a16="http://schemas.microsoft.com/office/drawing/2014/main" id="{40DD5132-6D8F-440D-AFF1-75A7C944836B}"/>
              </a:ext>
            </a:extLst>
          </p:cNvPr>
          <p:cNvSpPr>
            <a:spLocks noGrp="1"/>
          </p:cNvSpPr>
          <p:nvPr>
            <p:ph idx="1"/>
          </p:nvPr>
        </p:nvSpPr>
        <p:spPr>
          <a:xfrm>
            <a:off x="876117" y="1564242"/>
            <a:ext cx="8596668" cy="1748802"/>
          </a:xfrm>
        </p:spPr>
        <p:txBody>
          <a:bodyPr/>
          <a:lstStyle/>
          <a:p>
            <a:r>
              <a:rPr lang="en-IN" b="0" i="0" dirty="0">
                <a:solidFill>
                  <a:srgbClr val="4A4A4A"/>
                </a:solidFill>
                <a:effectLst/>
                <a:latin typeface="Open Sans"/>
              </a:rPr>
              <a:t>Web scraping is an automated method used to extract large amounts of data from websites. The data on the websites are unstructured. Web scraping helps collect these unstructured data and store it in a structured form. There are different ways to scrape websites such as online Services, APIs or writing your own code. </a:t>
            </a:r>
            <a:endParaRPr lang="en-IN" dirty="0"/>
          </a:p>
        </p:txBody>
      </p:sp>
      <p:pic>
        <p:nvPicPr>
          <p:cNvPr id="5" name="Picture 4">
            <a:extLst>
              <a:ext uri="{FF2B5EF4-FFF2-40B4-BE49-F238E27FC236}">
                <a16:creationId xmlns:a16="http://schemas.microsoft.com/office/drawing/2014/main" id="{7C39C194-700F-4BA6-B1A6-826B7979331F}"/>
              </a:ext>
            </a:extLst>
          </p:cNvPr>
          <p:cNvPicPr>
            <a:picLocks noChangeAspect="1"/>
          </p:cNvPicPr>
          <p:nvPr/>
        </p:nvPicPr>
        <p:blipFill>
          <a:blip r:embed="rId2"/>
          <a:stretch>
            <a:fillRect/>
          </a:stretch>
        </p:blipFill>
        <p:spPr>
          <a:xfrm>
            <a:off x="677334" y="3544957"/>
            <a:ext cx="8334144" cy="1992179"/>
          </a:xfrm>
          <a:prstGeom prst="rect">
            <a:avLst/>
          </a:prstGeom>
        </p:spPr>
      </p:pic>
    </p:spTree>
    <p:extLst>
      <p:ext uri="{BB962C8B-B14F-4D97-AF65-F5344CB8AC3E}">
        <p14:creationId xmlns:p14="http://schemas.microsoft.com/office/powerpoint/2010/main" val="36789133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8790C-A2CF-4592-BE1E-9E32F27A3276}"/>
              </a:ext>
            </a:extLst>
          </p:cNvPr>
          <p:cNvPicPr>
            <a:picLocks noChangeAspect="1"/>
          </p:cNvPicPr>
          <p:nvPr/>
        </p:nvPicPr>
        <p:blipFill>
          <a:blip r:embed="rId2"/>
          <a:stretch>
            <a:fillRect/>
          </a:stretch>
        </p:blipFill>
        <p:spPr>
          <a:xfrm>
            <a:off x="425105" y="293411"/>
            <a:ext cx="8970686" cy="1325082"/>
          </a:xfrm>
          <a:prstGeom prst="rect">
            <a:avLst/>
          </a:prstGeom>
        </p:spPr>
      </p:pic>
      <p:sp>
        <p:nvSpPr>
          <p:cNvPr id="4" name="TextBox 3">
            <a:extLst>
              <a:ext uri="{FF2B5EF4-FFF2-40B4-BE49-F238E27FC236}">
                <a16:creationId xmlns:a16="http://schemas.microsoft.com/office/drawing/2014/main" id="{7B2541D7-8AF2-4422-BC67-B2B594507EB2}"/>
              </a:ext>
            </a:extLst>
          </p:cNvPr>
          <p:cNvSpPr txBox="1"/>
          <p:nvPr/>
        </p:nvSpPr>
        <p:spPr>
          <a:xfrm>
            <a:off x="691287" y="3429000"/>
            <a:ext cx="10383996" cy="369332"/>
          </a:xfrm>
          <a:prstGeom prst="rect">
            <a:avLst/>
          </a:prstGeom>
          <a:noFill/>
        </p:spPr>
        <p:txBody>
          <a:bodyPr wrap="square">
            <a:spAutoFit/>
          </a:bodyPr>
          <a:lstStyle/>
          <a:p>
            <a:r>
              <a:rPr lang="en-IN" dirty="0"/>
              <a:t>https://medium.com/technofunnel/web-scraping-with-python-using-beautifulsoup-76b710e3e92f</a:t>
            </a:r>
          </a:p>
        </p:txBody>
      </p:sp>
      <p:sp>
        <p:nvSpPr>
          <p:cNvPr id="3" name="TextBox 2">
            <a:extLst>
              <a:ext uri="{FF2B5EF4-FFF2-40B4-BE49-F238E27FC236}">
                <a16:creationId xmlns:a16="http://schemas.microsoft.com/office/drawing/2014/main" id="{90415C24-FB48-4770-AD91-8792315E3492}"/>
              </a:ext>
            </a:extLst>
          </p:cNvPr>
          <p:cNvSpPr txBox="1"/>
          <p:nvPr/>
        </p:nvSpPr>
        <p:spPr>
          <a:xfrm>
            <a:off x="425105" y="2154414"/>
            <a:ext cx="10383996" cy="400110"/>
          </a:xfrm>
          <a:prstGeom prst="rect">
            <a:avLst/>
          </a:prstGeom>
          <a:noFill/>
        </p:spPr>
        <p:txBody>
          <a:bodyPr wrap="none" rtlCol="0">
            <a:spAutoFit/>
          </a:bodyPr>
          <a:lstStyle/>
          <a:p>
            <a:r>
              <a:rPr lang="en-IN" sz="2000" dirty="0">
                <a:solidFill>
                  <a:srgbClr val="FF0000"/>
                </a:solidFill>
              </a:rPr>
              <a:t>Packages and Methods used for implementing Web scraping in Python. Refer below links.</a:t>
            </a:r>
          </a:p>
        </p:txBody>
      </p:sp>
      <p:sp>
        <p:nvSpPr>
          <p:cNvPr id="7" name="TextBox 6">
            <a:extLst>
              <a:ext uri="{FF2B5EF4-FFF2-40B4-BE49-F238E27FC236}">
                <a16:creationId xmlns:a16="http://schemas.microsoft.com/office/drawing/2014/main" id="{71A4E8E7-A337-4E8D-9A63-10DFC84E5858}"/>
              </a:ext>
            </a:extLst>
          </p:cNvPr>
          <p:cNvSpPr txBox="1"/>
          <p:nvPr/>
        </p:nvSpPr>
        <p:spPr>
          <a:xfrm>
            <a:off x="691287" y="4725913"/>
            <a:ext cx="8055148" cy="369332"/>
          </a:xfrm>
          <a:prstGeom prst="rect">
            <a:avLst/>
          </a:prstGeom>
          <a:noFill/>
        </p:spPr>
        <p:txBody>
          <a:bodyPr wrap="square">
            <a:spAutoFit/>
          </a:bodyPr>
          <a:lstStyle/>
          <a:p>
            <a:r>
              <a:rPr lang="en-IN" dirty="0"/>
              <a:t>https://towardsdatascience.com/web-scraping-5649074f3ead</a:t>
            </a:r>
          </a:p>
        </p:txBody>
      </p:sp>
      <p:sp>
        <p:nvSpPr>
          <p:cNvPr id="8" name="TextBox 7">
            <a:extLst>
              <a:ext uri="{FF2B5EF4-FFF2-40B4-BE49-F238E27FC236}">
                <a16:creationId xmlns:a16="http://schemas.microsoft.com/office/drawing/2014/main" id="{57180CAA-CC8F-43E0-AF53-4328F25A140A}"/>
              </a:ext>
            </a:extLst>
          </p:cNvPr>
          <p:cNvSpPr txBox="1"/>
          <p:nvPr/>
        </p:nvSpPr>
        <p:spPr>
          <a:xfrm>
            <a:off x="821635" y="4290224"/>
            <a:ext cx="1888337" cy="369332"/>
          </a:xfrm>
          <a:prstGeom prst="rect">
            <a:avLst/>
          </a:prstGeom>
          <a:noFill/>
        </p:spPr>
        <p:txBody>
          <a:bodyPr wrap="none" rtlCol="0">
            <a:spAutoFit/>
          </a:bodyPr>
          <a:lstStyle/>
          <a:p>
            <a:r>
              <a:rPr lang="en-IN" dirty="0">
                <a:solidFill>
                  <a:schemeClr val="accent5">
                    <a:lumMod val="60000"/>
                    <a:lumOff val="40000"/>
                  </a:schemeClr>
                </a:solidFill>
              </a:rPr>
              <a:t>Scaping FIFA site</a:t>
            </a:r>
          </a:p>
        </p:txBody>
      </p:sp>
      <p:sp>
        <p:nvSpPr>
          <p:cNvPr id="9" name="TextBox 8">
            <a:extLst>
              <a:ext uri="{FF2B5EF4-FFF2-40B4-BE49-F238E27FC236}">
                <a16:creationId xmlns:a16="http://schemas.microsoft.com/office/drawing/2014/main" id="{A2273BC3-E762-4347-B45D-ADED0FD1F7CC}"/>
              </a:ext>
            </a:extLst>
          </p:cNvPr>
          <p:cNvSpPr txBox="1"/>
          <p:nvPr/>
        </p:nvSpPr>
        <p:spPr>
          <a:xfrm>
            <a:off x="821635" y="3036561"/>
            <a:ext cx="2621230" cy="369332"/>
          </a:xfrm>
          <a:prstGeom prst="rect">
            <a:avLst/>
          </a:prstGeom>
          <a:noFill/>
        </p:spPr>
        <p:txBody>
          <a:bodyPr wrap="none" rtlCol="0">
            <a:spAutoFit/>
          </a:bodyPr>
          <a:lstStyle/>
          <a:p>
            <a:r>
              <a:rPr lang="en-IN" dirty="0">
                <a:solidFill>
                  <a:schemeClr val="accent5">
                    <a:lumMod val="60000"/>
                    <a:lumOff val="40000"/>
                  </a:schemeClr>
                </a:solidFill>
              </a:rPr>
              <a:t>Scraping </a:t>
            </a:r>
            <a:r>
              <a:rPr lang="en-IN" dirty="0" err="1">
                <a:solidFill>
                  <a:schemeClr val="accent5">
                    <a:lumMod val="60000"/>
                    <a:lumOff val="40000"/>
                  </a:schemeClr>
                </a:solidFill>
              </a:rPr>
              <a:t>Javascript</a:t>
            </a:r>
            <a:r>
              <a:rPr lang="en-IN" dirty="0">
                <a:solidFill>
                  <a:schemeClr val="accent5">
                    <a:lumMod val="60000"/>
                    <a:lumOff val="40000"/>
                  </a:schemeClr>
                </a:solidFill>
              </a:rPr>
              <a:t> site</a:t>
            </a:r>
          </a:p>
        </p:txBody>
      </p:sp>
    </p:spTree>
    <p:extLst>
      <p:ext uri="{BB962C8B-B14F-4D97-AF65-F5344CB8AC3E}">
        <p14:creationId xmlns:p14="http://schemas.microsoft.com/office/powerpoint/2010/main" val="21446679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127</TotalTime>
  <Words>345</Words>
  <Application>Microsoft Office PowerPoint</Application>
  <PresentationFormat>Widescreen</PresentationFormat>
  <Paragraphs>17</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Open Sans</vt:lpstr>
      <vt:lpstr>Trebuchet MS</vt:lpstr>
      <vt:lpstr>Verdana</vt:lpstr>
      <vt:lpstr>Wingdings 3</vt:lpstr>
      <vt:lpstr>Facet</vt:lpstr>
      <vt:lpstr>Python and the Web</vt:lpstr>
      <vt:lpstr>Screen Scraping</vt:lpstr>
      <vt:lpstr>Web Scraping</vt:lpstr>
      <vt:lpstr>What is Web Scraping?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and the Web</dc:title>
  <dc:creator>Prathamesh Bagwe</dc:creator>
  <cp:lastModifiedBy>Prathamesh Bagwe</cp:lastModifiedBy>
  <cp:revision>11</cp:revision>
  <dcterms:created xsi:type="dcterms:W3CDTF">2021-04-04T16:40:48Z</dcterms:created>
  <dcterms:modified xsi:type="dcterms:W3CDTF">2021-04-09T03:20:37Z</dcterms:modified>
</cp:coreProperties>
</file>