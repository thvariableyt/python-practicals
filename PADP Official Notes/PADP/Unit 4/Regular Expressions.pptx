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9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74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081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8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25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7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5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2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44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53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08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0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730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87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029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54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61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E956216-A2E1-43AE-8E20-EAC2B36F1A4C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CD0C646-B4F0-4481-8259-BF8F42EE0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8399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0654-2D9B-4C73-92A3-047091881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Regular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11EC5-9DD5-4232-987F-1C47534FA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4- Chapter 1</a:t>
            </a:r>
          </a:p>
        </p:txBody>
      </p:sp>
    </p:spTree>
    <p:extLst>
      <p:ext uri="{BB962C8B-B14F-4D97-AF65-F5344CB8AC3E}">
        <p14:creationId xmlns:p14="http://schemas.microsoft.com/office/powerpoint/2010/main" val="325312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571E-552F-456C-9644-CDBC5DF3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26435"/>
          </a:xfrm>
        </p:spPr>
        <p:txBody>
          <a:bodyPr/>
          <a:lstStyle/>
          <a:p>
            <a:r>
              <a:rPr lang="en-IN" dirty="0"/>
              <a:t>Concept of regular expression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E1BF7-CFA8-4DFB-B2A3-30FDA79006EA}"/>
              </a:ext>
            </a:extLst>
          </p:cNvPr>
          <p:cNvSpPr txBox="1"/>
          <p:nvPr/>
        </p:nvSpPr>
        <p:spPr>
          <a:xfrm>
            <a:off x="1141412" y="1789044"/>
            <a:ext cx="98048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effectLst/>
                <a:latin typeface="Verdana" panose="020B0604030504040204" pitchFamily="34" charset="0"/>
              </a:rPr>
              <a:t>A </a:t>
            </a:r>
            <a:r>
              <a:rPr lang="en-IN" b="0" i="0" dirty="0" err="1">
                <a:effectLst/>
                <a:latin typeface="Verdana" panose="020B0604030504040204" pitchFamily="34" charset="0"/>
              </a:rPr>
              <a:t>RegEx</a:t>
            </a:r>
            <a:r>
              <a:rPr lang="en-IN" b="0" i="0" dirty="0">
                <a:effectLst/>
                <a:latin typeface="Verdana" panose="020B0604030504040204" pitchFamily="34" charset="0"/>
              </a:rPr>
              <a:t>, or Regular Expression, is a sequence of characters that forms a search pattern.</a:t>
            </a:r>
          </a:p>
          <a:p>
            <a:pPr algn="l"/>
            <a:r>
              <a:rPr lang="en-IN" b="0" i="0" dirty="0" err="1">
                <a:effectLst/>
                <a:latin typeface="Verdana" panose="020B0604030504040204" pitchFamily="34" charset="0"/>
              </a:rPr>
              <a:t>RegEx</a:t>
            </a:r>
            <a:r>
              <a:rPr lang="en-IN" b="0" i="0" dirty="0">
                <a:effectLst/>
                <a:latin typeface="Verdana" panose="020B0604030504040204" pitchFamily="34" charset="0"/>
              </a:rPr>
              <a:t> can be used to check if a string contains the specified search pattern.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0DBE9-401D-4174-ABF3-ABB4C2FC86CE}"/>
              </a:ext>
            </a:extLst>
          </p:cNvPr>
          <p:cNvSpPr txBox="1"/>
          <p:nvPr/>
        </p:nvSpPr>
        <p:spPr>
          <a:xfrm>
            <a:off x="1141412" y="2765383"/>
            <a:ext cx="9659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Python has a built-in package called re, which can be used to work with Regular Expressions. </a:t>
            </a:r>
          </a:p>
          <a:p>
            <a:endParaRPr lang="en-IN" b="0" i="0" dirty="0">
              <a:effectLst/>
              <a:latin typeface="Verdana" panose="020B0604030504040204" pitchFamily="34" charset="0"/>
            </a:endParaRPr>
          </a:p>
          <a:p>
            <a:r>
              <a:rPr lang="en-IN" dirty="0">
                <a:solidFill>
                  <a:srgbClr val="FFC000"/>
                </a:solidFill>
                <a:latin typeface="Verdana" panose="020B0604030504040204" pitchFamily="34" charset="0"/>
              </a:rPr>
              <a:t>import re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19D70-3B24-4382-8D55-61B8CDA3E06A}"/>
              </a:ext>
            </a:extLst>
          </p:cNvPr>
          <p:cNvSpPr txBox="1"/>
          <p:nvPr/>
        </p:nvSpPr>
        <p:spPr>
          <a:xfrm>
            <a:off x="1141412" y="41753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euclid_circular_a"/>
              </a:rPr>
              <a:t>For example,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AC454-F25A-499E-BAA3-BF44C882B941}"/>
              </a:ext>
            </a:extLst>
          </p:cNvPr>
          <p:cNvSpPr txBox="1"/>
          <p:nvPr/>
        </p:nvSpPr>
        <p:spPr>
          <a:xfrm>
            <a:off x="2643810" y="4175300"/>
            <a:ext cx="6188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^a...s$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4F7E4B-4F3F-48D7-B5CE-F1DDA49C67CC}"/>
              </a:ext>
            </a:extLst>
          </p:cNvPr>
          <p:cNvSpPr txBox="1"/>
          <p:nvPr/>
        </p:nvSpPr>
        <p:spPr>
          <a:xfrm>
            <a:off x="1141412" y="4884939"/>
            <a:ext cx="10295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euclid_circular_a"/>
              </a:rPr>
              <a:t>The above code defines a </a:t>
            </a:r>
            <a:r>
              <a:rPr lang="en-IN" b="0" i="0" dirty="0" err="1">
                <a:effectLst/>
                <a:latin typeface="euclid_circular_a"/>
              </a:rPr>
              <a:t>RegEx</a:t>
            </a:r>
            <a:r>
              <a:rPr lang="en-IN" b="0" i="0" dirty="0">
                <a:effectLst/>
                <a:latin typeface="euclid_circular_a"/>
              </a:rPr>
              <a:t> pattern. The pattern is: </a:t>
            </a:r>
            <a:r>
              <a:rPr lang="en-IN" b="1" i="0" dirty="0">
                <a:effectLst/>
                <a:latin typeface="euclid_circular_a"/>
              </a:rPr>
              <a:t>any five letter string starting with </a:t>
            </a:r>
            <a:r>
              <a:rPr lang="en-IN" b="1" i="0" dirty="0">
                <a:solidFill>
                  <a:srgbClr val="FFC000"/>
                </a:solidFill>
                <a:effectLst/>
                <a:latin typeface="euclid_circular_a"/>
              </a:rPr>
              <a:t>a</a:t>
            </a:r>
            <a:r>
              <a:rPr lang="en-IN" b="1" i="0" dirty="0">
                <a:effectLst/>
                <a:latin typeface="euclid_circular_a"/>
              </a:rPr>
              <a:t> and ending with </a:t>
            </a:r>
            <a:r>
              <a:rPr lang="en-IN" b="1" i="0" dirty="0">
                <a:solidFill>
                  <a:srgbClr val="FFC000"/>
                </a:solidFill>
                <a:effectLst/>
                <a:latin typeface="euclid_circular_a"/>
              </a:rPr>
              <a:t>s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83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FC560-6A34-44C4-B864-C9AEB75EE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4" y="761379"/>
            <a:ext cx="9082085" cy="459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7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DF74-8A3F-4149-B122-1EB607A3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3C4C9-A943-4707-977A-D28CFEA06722}"/>
              </a:ext>
            </a:extLst>
          </p:cNvPr>
          <p:cNvSpPr txBox="1"/>
          <p:nvPr/>
        </p:nvSpPr>
        <p:spPr>
          <a:xfrm>
            <a:off x="1265584" y="2319204"/>
            <a:ext cx="61887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pattern = '^a...s$'</a:t>
            </a:r>
          </a:p>
          <a:p>
            <a:r>
              <a:rPr lang="en-IN" dirty="0" err="1"/>
              <a:t>test_string</a:t>
            </a:r>
            <a:r>
              <a:rPr lang="en-IN" dirty="0"/>
              <a:t> = 'abyss'</a:t>
            </a:r>
          </a:p>
          <a:p>
            <a:r>
              <a:rPr lang="en-IN" dirty="0"/>
              <a:t>result = </a:t>
            </a:r>
            <a:r>
              <a:rPr lang="en-IN" dirty="0" err="1"/>
              <a:t>re.match</a:t>
            </a:r>
            <a:r>
              <a:rPr lang="en-IN" dirty="0"/>
              <a:t>(pattern, </a:t>
            </a:r>
            <a:r>
              <a:rPr lang="en-IN" dirty="0" err="1"/>
              <a:t>test_string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if result:</a:t>
            </a:r>
          </a:p>
          <a:p>
            <a:r>
              <a:rPr lang="en-IN" dirty="0"/>
              <a:t>  print("Search successful.")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print("Search unsuccessful.")	</a:t>
            </a:r>
          </a:p>
        </p:txBody>
      </p:sp>
    </p:spTree>
    <p:extLst>
      <p:ext uri="{BB962C8B-B14F-4D97-AF65-F5344CB8AC3E}">
        <p14:creationId xmlns:p14="http://schemas.microsoft.com/office/powerpoint/2010/main" val="2766808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7B59-F395-4919-90F6-C415E3AE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Specify Pattern Using </a:t>
            </a:r>
            <a:r>
              <a:rPr lang="en-IN" dirty="0" err="1"/>
              <a:t>RegEx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91782-DE87-4DBA-B8CC-BD42CC0C8A23}"/>
              </a:ext>
            </a:extLst>
          </p:cNvPr>
          <p:cNvSpPr txBox="1"/>
          <p:nvPr/>
        </p:nvSpPr>
        <p:spPr>
          <a:xfrm>
            <a:off x="1141413" y="2353774"/>
            <a:ext cx="9791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euclid_circular_a"/>
              </a:rPr>
              <a:t>To specify regular expressions, metacharacters are used. In the above example, ^ and $ are metacharacters.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F8592-56AD-4512-A6CF-1D28BC81BE27}"/>
              </a:ext>
            </a:extLst>
          </p:cNvPr>
          <p:cNvSpPr txBox="1"/>
          <p:nvPr/>
        </p:nvSpPr>
        <p:spPr>
          <a:xfrm>
            <a:off x="1141412" y="3335444"/>
            <a:ext cx="10573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effectLst/>
                <a:latin typeface="euclid_circular_a"/>
              </a:rPr>
              <a:t>Metacharacters are characters that are interpreted in a special way by a </a:t>
            </a:r>
            <a:r>
              <a:rPr lang="en-IN" b="0" i="0" dirty="0" err="1">
                <a:effectLst/>
                <a:latin typeface="euclid_circular_a"/>
              </a:rPr>
              <a:t>RegEx</a:t>
            </a:r>
            <a:r>
              <a:rPr lang="en-IN" b="0" i="0" dirty="0">
                <a:effectLst/>
                <a:latin typeface="euclid_circular_a"/>
              </a:rPr>
              <a:t> engine. Here's a list of metacharacters:</a:t>
            </a:r>
          </a:p>
          <a:p>
            <a:pPr algn="l"/>
            <a:r>
              <a:rPr lang="en-IN" b="1" i="0" dirty="0">
                <a:effectLst/>
                <a:latin typeface="euclid_circular_a"/>
              </a:rPr>
              <a:t>[]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.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^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$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*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+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?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{}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()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\</a:t>
            </a:r>
            <a:r>
              <a:rPr lang="en-IN" b="0" i="0" dirty="0">
                <a:effectLst/>
                <a:latin typeface="euclid_circular_a"/>
              </a:rPr>
              <a:t> </a:t>
            </a:r>
            <a:r>
              <a:rPr lang="en-IN" b="1" i="0" dirty="0">
                <a:effectLst/>
                <a:latin typeface="euclid_circular_a"/>
              </a:rPr>
              <a:t>|</a:t>
            </a:r>
            <a:endParaRPr lang="en-IN" b="0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2879106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3B2FC-775E-4351-BE8D-91D06BC4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36" y="794715"/>
            <a:ext cx="8823877" cy="44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8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3E1F1-8FAE-44AE-B89F-E31580F06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5" y="940904"/>
            <a:ext cx="9991589" cy="43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4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7ECFD-6A59-4219-80E2-97DFA951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68" y="0"/>
            <a:ext cx="7090742" cy="2770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B5244C-132A-4D9C-A444-9CF6FD9A2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868" y="2770485"/>
            <a:ext cx="8030886" cy="408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3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E2DC0-4ADC-493A-9860-D9C75F217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34" y="654533"/>
            <a:ext cx="9453461" cy="426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6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16595-8C75-4FD6-BE52-657A99EA9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23" y="775044"/>
            <a:ext cx="9086508" cy="51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01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E85FB2-C478-4AD6-B0D0-B313D972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50" y="455336"/>
            <a:ext cx="9112697" cy="521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9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B3C79-B0FE-4C49-9608-00F8C016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876299"/>
            <a:ext cx="9236484" cy="487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7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16555-216A-417E-9261-EFDEBA8F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05" y="749368"/>
            <a:ext cx="8852660" cy="49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0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69502-831B-429D-83E1-DF7E7BA7A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45" y="866153"/>
            <a:ext cx="9907641" cy="41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011BF-BDA9-4F8C-8F1A-F55FCC191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17" y="579161"/>
            <a:ext cx="10754744" cy="31977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283F66-9C4E-4B11-BC84-2776F86DF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16" y="4448795"/>
            <a:ext cx="10060057" cy="15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0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C5A8C-63F6-48FB-B561-9B6BAD875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44" y="1647203"/>
            <a:ext cx="9149177" cy="299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8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20EE78-093E-4575-B9E3-4F554A56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41" y="230027"/>
            <a:ext cx="9562272" cy="3198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2641A-9E67-445A-B560-66B98EE1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41" y="3722825"/>
            <a:ext cx="9562272" cy="300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17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79BB7-0545-4956-942B-76F477121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26" y="115129"/>
            <a:ext cx="8399187" cy="2606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F16530-2A06-49F0-B04E-F61D563AA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126" y="3126892"/>
            <a:ext cx="8399187" cy="299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04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FA9B5-E75E-4B2F-88C2-736232517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82" y="349732"/>
            <a:ext cx="8687214" cy="29768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EC3513-EAD5-48B4-A7DD-E93DEE21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682" y="3700876"/>
            <a:ext cx="8687214" cy="270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81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583A1-8175-43A7-8C82-D24E44EC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45" y="531744"/>
            <a:ext cx="9130955" cy="265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16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F799-0745-4FEC-A67B-C198859E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5531"/>
            <a:ext cx="9905998" cy="967409"/>
          </a:xfrm>
        </p:spPr>
        <p:txBody>
          <a:bodyPr/>
          <a:lstStyle/>
          <a:p>
            <a:r>
              <a:rPr lang="en-IN" dirty="0" err="1"/>
              <a:t>re.findall</a:t>
            </a:r>
            <a:r>
              <a:rPr lang="en-IN" dirty="0"/>
              <a:t>()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5B9AC-5A91-4E43-AF01-60C6C99A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1202636"/>
            <a:ext cx="6887816" cy="498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DCE4F-FF22-40F5-9BAC-004C97A130AC}"/>
              </a:ext>
            </a:extLst>
          </p:cNvPr>
          <p:cNvSpPr txBox="1"/>
          <p:nvPr/>
        </p:nvSpPr>
        <p:spPr>
          <a:xfrm>
            <a:off x="1292087" y="2136338"/>
            <a:ext cx="70170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Program to extract numbers from a string</a:t>
            </a:r>
          </a:p>
          <a:p>
            <a:endParaRPr lang="en-IN" dirty="0"/>
          </a:p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string = 'hello 12 hi 89. Howdy 34'</a:t>
            </a:r>
          </a:p>
          <a:p>
            <a:r>
              <a:rPr lang="en-IN" dirty="0"/>
              <a:t>pattern = '\d+'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re.findall</a:t>
            </a:r>
            <a:r>
              <a:rPr lang="en-IN" dirty="0"/>
              <a:t>(pattern, string) </a:t>
            </a:r>
          </a:p>
          <a:p>
            <a:r>
              <a:rPr lang="en-IN" dirty="0"/>
              <a:t>print(result)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5B486-ACB3-40DA-A348-5EFB43951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324473"/>
            <a:ext cx="6887815" cy="5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23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22FB-5FA0-46BC-9EFB-A2EBB86D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848139"/>
          </a:xfrm>
        </p:spPr>
        <p:txBody>
          <a:bodyPr/>
          <a:lstStyle/>
          <a:p>
            <a:r>
              <a:rPr lang="en-IN" dirty="0" err="1"/>
              <a:t>re.split</a:t>
            </a:r>
            <a:r>
              <a:rPr lang="en-IN" dirty="0"/>
              <a:t>()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887D9-0108-42BE-885B-0FB9A2D6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1939"/>
            <a:ext cx="9392477" cy="922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5FA0CC-86E6-4C1A-B07B-FC321304866D}"/>
              </a:ext>
            </a:extLst>
          </p:cNvPr>
          <p:cNvSpPr txBox="1"/>
          <p:nvPr/>
        </p:nvSpPr>
        <p:spPr>
          <a:xfrm>
            <a:off x="1143000" y="2413337"/>
            <a:ext cx="61887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string = 'Twelve:12 Eighty nine:89.'</a:t>
            </a:r>
          </a:p>
          <a:p>
            <a:r>
              <a:rPr lang="en-IN" dirty="0"/>
              <a:t>pattern = '\d+'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re.split</a:t>
            </a:r>
            <a:r>
              <a:rPr lang="en-IN" dirty="0"/>
              <a:t>(pattern, string) </a:t>
            </a:r>
          </a:p>
          <a:p>
            <a:r>
              <a:rPr lang="en-IN" dirty="0"/>
              <a:t>print(result)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033A0-332D-496B-9395-5B567F4243C6}"/>
              </a:ext>
            </a:extLst>
          </p:cNvPr>
          <p:cNvSpPr txBox="1"/>
          <p:nvPr/>
        </p:nvSpPr>
        <p:spPr>
          <a:xfrm>
            <a:off x="1143000" y="4808919"/>
            <a:ext cx="6188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Output: ['Twelve:', ' Eighty nine:', '.']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AB28A1-6A78-4649-88E4-30E3B1866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5516011"/>
            <a:ext cx="8703365" cy="50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9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9AC0D3-B0EB-417C-9684-2EA2FA97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93" y="258847"/>
            <a:ext cx="11595883" cy="1032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231FD-94AA-483C-8F0D-07613FF3E174}"/>
              </a:ext>
            </a:extLst>
          </p:cNvPr>
          <p:cNvSpPr txBox="1"/>
          <p:nvPr/>
        </p:nvSpPr>
        <p:spPr>
          <a:xfrm>
            <a:off x="1133474" y="1610862"/>
            <a:ext cx="61887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string = 'Twelve:12 Eighty nine:89 Nine:9.'</a:t>
            </a:r>
          </a:p>
          <a:p>
            <a:r>
              <a:rPr lang="en-IN" dirty="0"/>
              <a:t>pattern = '\d+'</a:t>
            </a:r>
          </a:p>
          <a:p>
            <a:endParaRPr lang="en-IN" dirty="0"/>
          </a:p>
          <a:p>
            <a:r>
              <a:rPr lang="en-IN" dirty="0"/>
              <a:t># </a:t>
            </a:r>
            <a:r>
              <a:rPr lang="en-IN" dirty="0" err="1"/>
              <a:t>maxsplit</a:t>
            </a:r>
            <a:r>
              <a:rPr lang="en-IN" dirty="0"/>
              <a:t> = 1</a:t>
            </a:r>
          </a:p>
          <a:p>
            <a:r>
              <a:rPr lang="en-IN" dirty="0"/>
              <a:t># split only at the first occurrence</a:t>
            </a:r>
          </a:p>
          <a:p>
            <a:r>
              <a:rPr lang="en-IN" dirty="0"/>
              <a:t>result = </a:t>
            </a:r>
            <a:r>
              <a:rPr lang="en-IN" dirty="0" err="1"/>
              <a:t>re.split</a:t>
            </a:r>
            <a:r>
              <a:rPr lang="en-IN" dirty="0"/>
              <a:t>(pattern, string, 1) </a:t>
            </a:r>
          </a:p>
          <a:p>
            <a:r>
              <a:rPr lang="en-IN" dirty="0"/>
              <a:t>print(result)</a:t>
            </a:r>
          </a:p>
          <a:p>
            <a:endParaRPr lang="en-IN" dirty="0"/>
          </a:p>
          <a:p>
            <a:r>
              <a:rPr lang="en-IN" dirty="0"/>
              <a:t># Output: ['Twelve:', ' Eighty nine:89 Nine:9.']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6BF939-AA86-43D0-B50E-2C23962C7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37" y="5318953"/>
            <a:ext cx="11096469" cy="78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14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062D-27D3-4224-A30C-B87526F3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91" y="172279"/>
            <a:ext cx="9905998" cy="808383"/>
          </a:xfrm>
        </p:spPr>
        <p:txBody>
          <a:bodyPr/>
          <a:lstStyle/>
          <a:p>
            <a:r>
              <a:rPr lang="en-IN" dirty="0" err="1"/>
              <a:t>re.sub</a:t>
            </a:r>
            <a:r>
              <a:rPr lang="en-IN" dirty="0"/>
              <a:t>()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A53A9-84B5-4F50-8C42-E417AAC2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62" y="1289321"/>
            <a:ext cx="11116075" cy="27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60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D8C564-C729-4392-8954-8ECF08B3D32E}"/>
              </a:ext>
            </a:extLst>
          </p:cNvPr>
          <p:cNvSpPr txBox="1"/>
          <p:nvPr/>
        </p:nvSpPr>
        <p:spPr>
          <a:xfrm>
            <a:off x="765314" y="196769"/>
            <a:ext cx="744109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Program to remove all whitespaces</a:t>
            </a:r>
          </a:p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# multiline string</a:t>
            </a:r>
          </a:p>
          <a:p>
            <a:r>
              <a:rPr lang="en-IN" dirty="0"/>
              <a:t>string = '</a:t>
            </a:r>
            <a:r>
              <a:rPr lang="en-IN" dirty="0" err="1"/>
              <a:t>abc</a:t>
            </a:r>
            <a:r>
              <a:rPr lang="en-IN" dirty="0"/>
              <a:t> 12\</a:t>
            </a:r>
          </a:p>
          <a:p>
            <a:r>
              <a:rPr lang="en-IN" dirty="0"/>
              <a:t>de 23 \n f45 6'</a:t>
            </a:r>
          </a:p>
          <a:p>
            <a:endParaRPr lang="en-IN" dirty="0"/>
          </a:p>
          <a:p>
            <a:r>
              <a:rPr lang="en-IN" dirty="0"/>
              <a:t># matches all whitespace characters</a:t>
            </a:r>
          </a:p>
          <a:p>
            <a:r>
              <a:rPr lang="en-IN" dirty="0"/>
              <a:t>pattern = '\s+'</a:t>
            </a:r>
          </a:p>
          <a:p>
            <a:endParaRPr lang="en-IN" dirty="0"/>
          </a:p>
          <a:p>
            <a:r>
              <a:rPr lang="en-IN" dirty="0"/>
              <a:t># empty string</a:t>
            </a:r>
          </a:p>
          <a:p>
            <a:r>
              <a:rPr lang="en-IN" dirty="0"/>
              <a:t>replace = ''</a:t>
            </a:r>
          </a:p>
          <a:p>
            <a:endParaRPr lang="en-IN" dirty="0"/>
          </a:p>
          <a:p>
            <a:r>
              <a:rPr lang="en-IN" dirty="0" err="1"/>
              <a:t>new_string</a:t>
            </a:r>
            <a:r>
              <a:rPr lang="en-IN" dirty="0"/>
              <a:t> = </a:t>
            </a:r>
            <a:r>
              <a:rPr lang="en-IN" dirty="0" err="1"/>
              <a:t>re.sub</a:t>
            </a:r>
            <a:r>
              <a:rPr lang="en-IN" dirty="0"/>
              <a:t>(pattern, replace, string) </a:t>
            </a:r>
          </a:p>
          <a:p>
            <a:r>
              <a:rPr lang="en-IN" dirty="0"/>
              <a:t>print(</a:t>
            </a:r>
            <a:r>
              <a:rPr lang="en-IN" dirty="0" err="1"/>
              <a:t>new_string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Output: abc12de23f456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CE121-BC00-4705-A5E2-C75BACE6A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14" y="5326545"/>
            <a:ext cx="6925762" cy="5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59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28CFF-119D-4B44-A4D0-278EB3277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8" y="324201"/>
            <a:ext cx="11566298" cy="928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725240-4C57-4305-81A8-516843FF3AC9}"/>
              </a:ext>
            </a:extLst>
          </p:cNvPr>
          <p:cNvSpPr txBox="1"/>
          <p:nvPr/>
        </p:nvSpPr>
        <p:spPr>
          <a:xfrm>
            <a:off x="952914" y="1302677"/>
            <a:ext cx="61887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re</a:t>
            </a:r>
          </a:p>
          <a:p>
            <a:endParaRPr lang="en-IN" dirty="0"/>
          </a:p>
          <a:p>
            <a:r>
              <a:rPr lang="en-IN" dirty="0"/>
              <a:t># multiline string</a:t>
            </a:r>
          </a:p>
          <a:p>
            <a:r>
              <a:rPr lang="en-IN" dirty="0"/>
              <a:t>string = '</a:t>
            </a:r>
            <a:r>
              <a:rPr lang="en-IN" dirty="0" err="1"/>
              <a:t>abc</a:t>
            </a:r>
            <a:r>
              <a:rPr lang="en-IN" dirty="0"/>
              <a:t> 12\</a:t>
            </a:r>
          </a:p>
          <a:p>
            <a:r>
              <a:rPr lang="en-IN" dirty="0"/>
              <a:t>de 23 \n f45 6'</a:t>
            </a:r>
          </a:p>
          <a:p>
            <a:endParaRPr lang="en-IN" dirty="0"/>
          </a:p>
          <a:p>
            <a:r>
              <a:rPr lang="en-IN" dirty="0"/>
              <a:t># matches all whitespace characters</a:t>
            </a:r>
          </a:p>
          <a:p>
            <a:r>
              <a:rPr lang="en-IN" dirty="0"/>
              <a:t>pattern = '\s+'</a:t>
            </a:r>
          </a:p>
          <a:p>
            <a:r>
              <a:rPr lang="en-IN" dirty="0"/>
              <a:t>replace = ''</a:t>
            </a:r>
          </a:p>
          <a:p>
            <a:endParaRPr lang="en-IN" dirty="0"/>
          </a:p>
          <a:p>
            <a:r>
              <a:rPr lang="en-IN" dirty="0" err="1"/>
              <a:t>new_string</a:t>
            </a:r>
            <a:r>
              <a:rPr lang="en-IN" dirty="0"/>
              <a:t> = </a:t>
            </a:r>
            <a:r>
              <a:rPr lang="en-IN" dirty="0" err="1"/>
              <a:t>re.sub</a:t>
            </a:r>
            <a:r>
              <a:rPr lang="en-IN" dirty="0"/>
              <a:t>(r'\s+', replace, string, 1) </a:t>
            </a:r>
          </a:p>
          <a:p>
            <a:r>
              <a:rPr lang="en-IN" dirty="0"/>
              <a:t>print(</a:t>
            </a:r>
            <a:r>
              <a:rPr lang="en-IN" dirty="0" err="1"/>
              <a:t>new_string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Output:</a:t>
            </a:r>
          </a:p>
          <a:p>
            <a:r>
              <a:rPr lang="en-IN" dirty="0"/>
              <a:t># abc12de 23</a:t>
            </a:r>
          </a:p>
          <a:p>
            <a:r>
              <a:rPr lang="en-IN" dirty="0"/>
              <a:t># f45 6</a:t>
            </a:r>
          </a:p>
        </p:txBody>
      </p:sp>
    </p:spTree>
    <p:extLst>
      <p:ext uri="{BB962C8B-B14F-4D97-AF65-F5344CB8AC3E}">
        <p14:creationId xmlns:p14="http://schemas.microsoft.com/office/powerpoint/2010/main" val="3981201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C663-54B5-4535-BAD0-91724E3F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46922"/>
          </a:xfrm>
        </p:spPr>
        <p:txBody>
          <a:bodyPr/>
          <a:lstStyle/>
          <a:p>
            <a:r>
              <a:rPr lang="en-IN" dirty="0" err="1"/>
              <a:t>re.search</a:t>
            </a:r>
            <a:r>
              <a:rPr lang="en-IN" dirty="0"/>
              <a:t>()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DE506-80D3-43B6-BA06-57F2111AC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36" y="1767470"/>
            <a:ext cx="11821312" cy="256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57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857396-5D7F-4D99-BE6C-1374728FEAD1}"/>
              </a:ext>
            </a:extLst>
          </p:cNvPr>
          <p:cNvSpPr txBox="1"/>
          <p:nvPr/>
        </p:nvSpPr>
        <p:spPr>
          <a:xfrm>
            <a:off x="970722" y="339949"/>
            <a:ext cx="840187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import re</a:t>
            </a:r>
          </a:p>
          <a:p>
            <a:endParaRPr lang="en-IN" sz="2800" dirty="0"/>
          </a:p>
          <a:p>
            <a:r>
              <a:rPr lang="en-IN" sz="2800" dirty="0"/>
              <a:t>string = "Python is fun"</a:t>
            </a:r>
          </a:p>
          <a:p>
            <a:endParaRPr lang="en-IN" sz="2800" dirty="0"/>
          </a:p>
          <a:p>
            <a:r>
              <a:rPr lang="en-IN" sz="2800" dirty="0"/>
              <a:t># check if 'Python' is at the beginning</a:t>
            </a:r>
          </a:p>
          <a:p>
            <a:r>
              <a:rPr lang="en-IN" sz="2800" dirty="0"/>
              <a:t>match = </a:t>
            </a:r>
            <a:r>
              <a:rPr lang="en-IN" sz="2800" dirty="0" err="1"/>
              <a:t>re.search</a:t>
            </a:r>
            <a:r>
              <a:rPr lang="en-IN" sz="2800" dirty="0"/>
              <a:t>('\</a:t>
            </a:r>
            <a:r>
              <a:rPr lang="en-IN" sz="2800" dirty="0" err="1"/>
              <a:t>APython</a:t>
            </a:r>
            <a:r>
              <a:rPr lang="en-IN" sz="2800" dirty="0"/>
              <a:t>', string)</a:t>
            </a:r>
          </a:p>
          <a:p>
            <a:endParaRPr lang="en-IN" sz="2800" dirty="0"/>
          </a:p>
          <a:p>
            <a:r>
              <a:rPr lang="en-IN" sz="2800" dirty="0"/>
              <a:t>if match:</a:t>
            </a:r>
          </a:p>
          <a:p>
            <a:r>
              <a:rPr lang="en-IN" sz="2800" dirty="0"/>
              <a:t>  print("pattern found inside the string")</a:t>
            </a:r>
          </a:p>
          <a:p>
            <a:r>
              <a:rPr lang="en-IN" sz="2800" dirty="0"/>
              <a:t>else:</a:t>
            </a:r>
          </a:p>
          <a:p>
            <a:r>
              <a:rPr lang="en-IN" sz="2800" dirty="0"/>
              <a:t>  print("pattern not found")  </a:t>
            </a:r>
          </a:p>
          <a:p>
            <a:endParaRPr lang="en-IN" sz="2800" dirty="0"/>
          </a:p>
          <a:p>
            <a:r>
              <a:rPr lang="en-IN" sz="2800" dirty="0"/>
              <a:t># Output: pattern found inside the string</a:t>
            </a:r>
          </a:p>
        </p:txBody>
      </p:sp>
    </p:spTree>
    <p:extLst>
      <p:ext uri="{BB962C8B-B14F-4D97-AF65-F5344CB8AC3E}">
        <p14:creationId xmlns:p14="http://schemas.microsoft.com/office/powerpoint/2010/main" val="1130635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7780-C846-4908-9867-62EF860D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5044"/>
            <a:ext cx="9905998" cy="927652"/>
          </a:xfrm>
        </p:spPr>
        <p:txBody>
          <a:bodyPr/>
          <a:lstStyle/>
          <a:p>
            <a:r>
              <a:rPr lang="en-IN" dirty="0" err="1"/>
              <a:t>re.match</a:t>
            </a:r>
            <a:r>
              <a:rPr lang="en-IN" dirty="0"/>
              <a:t>()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0D5C73-715F-4DD4-8ACA-832A4D05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26" y="1486020"/>
            <a:ext cx="11959674" cy="17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60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841</TotalTime>
  <Words>547</Words>
  <Application>Microsoft Office PowerPoint</Application>
  <PresentationFormat>Widescreen</PresentationFormat>
  <Paragraphs>105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Century Gothic</vt:lpstr>
      <vt:lpstr>euclid_circular_a</vt:lpstr>
      <vt:lpstr>Verdana</vt:lpstr>
      <vt:lpstr>Mesh</vt:lpstr>
      <vt:lpstr>Regular Expressions</vt:lpstr>
      <vt:lpstr>Concept of regular expression</vt:lpstr>
      <vt:lpstr>PowerPoint Presentation</vt:lpstr>
      <vt:lpstr>example</vt:lpstr>
      <vt:lpstr>Specify Pattern Using RegEx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re.findall() function</vt:lpstr>
      <vt:lpstr>re.split() function</vt:lpstr>
      <vt:lpstr>PowerPoint Presentation</vt:lpstr>
      <vt:lpstr>re.sub() function</vt:lpstr>
      <vt:lpstr>PowerPoint Presentation</vt:lpstr>
      <vt:lpstr>PowerPoint Presentation</vt:lpstr>
      <vt:lpstr>re.search() function</vt:lpstr>
      <vt:lpstr>PowerPoint Presentation</vt:lpstr>
      <vt:lpstr>re.match()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dc:creator>Prathamesh Bagwe</dc:creator>
  <cp:lastModifiedBy>VISHAKHA BAGWE</cp:lastModifiedBy>
  <cp:revision>28</cp:revision>
  <dcterms:created xsi:type="dcterms:W3CDTF">2021-03-11T16:16:32Z</dcterms:created>
  <dcterms:modified xsi:type="dcterms:W3CDTF">2023-03-14T05:52:41Z</dcterms:modified>
</cp:coreProperties>
</file>