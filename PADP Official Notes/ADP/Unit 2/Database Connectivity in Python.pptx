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9" r:id="rId14"/>
    <p:sldId id="266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80" r:id="rId24"/>
    <p:sldId id="282" r:id="rId25"/>
    <p:sldId id="283" r:id="rId26"/>
    <p:sldId id="278" r:id="rId27"/>
    <p:sldId id="279" r:id="rId28"/>
    <p:sldId id="281" r:id="rId29"/>
    <p:sldId id="284" r:id="rId30"/>
    <p:sldId id="286" r:id="rId31"/>
    <p:sldId id="285" r:id="rId32"/>
    <p:sldId id="288" r:id="rId33"/>
    <p:sldId id="289" r:id="rId34"/>
    <p:sldId id="295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9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4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8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8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47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0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86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96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7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33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621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18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204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304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97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28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2A111CA-9716-49C9-B6B4-095BFD283520}" type="datetimeFigureOut">
              <a:rPr lang="en-IN" smtClean="0"/>
              <a:t>30-03-2023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5CBDA-C485-44E3-B02B-182255F3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09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IRcpjg-3E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insert.html" TargetMode="External"/><Relationship Id="rId2" Type="http://schemas.openxmlformats.org/officeDocument/2006/relationships/hyperlink" Target="https://dev.mysql.com/doc/refman/8.0/en/select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v.mysql.com/doc/refman/8.0/en/update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0890-3320-4731-9D07-9F9B47A8F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Database Connectivity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885A0-B8FB-488C-89C2-2BBD1E296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129031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8BBF-BBF2-492F-9B9D-582C390B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C5F29-58E0-4C91-AF88-CFC7000C8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22831"/>
            <a:ext cx="10899778" cy="4195481"/>
          </a:xfrm>
        </p:spPr>
        <p:txBody>
          <a:bodyPr/>
          <a:lstStyle/>
          <a:p>
            <a:r>
              <a:rPr lang="en-IN" dirty="0"/>
              <a:t>MySQL is one of the most popular database management systems (DBMSs) on the market today. It ranked second only to the Oracle DBMS in this year’s DB-Engines Ranking. As most software applications need to interact with data in some form, programming languages like Python provide tools for storing and accessing these data sources.</a:t>
            </a:r>
          </a:p>
          <a:p>
            <a:r>
              <a:rPr lang="en-IN" dirty="0"/>
              <a:t>SQL stands for Structured Query Language and is a widely used programming language for managing relational databases.</a:t>
            </a:r>
          </a:p>
          <a:p>
            <a:r>
              <a:rPr lang="en-US" sz="2000" dirty="0"/>
              <a:t>There is a free MySQL Community Edition available from the official MySQL website. You can download and install it on your local PC from: </a:t>
            </a:r>
            <a:r>
              <a:rPr lang="en-US" sz="2000" dirty="0">
                <a:solidFill>
                  <a:srgbClr val="FFC000"/>
                </a:solidFill>
              </a:rPr>
              <a:t>http://dev.mysql.com/downloads/</a:t>
            </a:r>
            <a:endParaRPr lang="en-IN" sz="2000" dirty="0">
              <a:solidFill>
                <a:srgbClr val="FFC000"/>
              </a:solidFill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A1E28-6227-4349-979F-C29918964AE4}"/>
              </a:ext>
            </a:extLst>
          </p:cNvPr>
          <p:cNvSpPr txBox="1"/>
          <p:nvPr/>
        </p:nvSpPr>
        <p:spPr>
          <a:xfrm>
            <a:off x="1086678" y="55336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https://www.youtube.com/watch?v=GIRcpjg-3Eg</a:t>
            </a:r>
            <a:r>
              <a:rPr lang="en-IN" dirty="0"/>
              <a:t> – How to install </a:t>
            </a:r>
            <a:r>
              <a:rPr lang="en-IN" dirty="0" err="1"/>
              <a:t>mysql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81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1706-7ACE-4AE5-AF3A-DDAD2C7A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MySQL Connector/Python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17C8A-182C-4BD7-BE83-681090585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887" y="1439867"/>
            <a:ext cx="8946541" cy="4195481"/>
          </a:xfrm>
        </p:spPr>
        <p:txBody>
          <a:bodyPr/>
          <a:lstStyle/>
          <a:p>
            <a:r>
              <a:rPr lang="en-IN" dirty="0"/>
              <a:t>A database driver is a piece of software that allows an application to connect and interact with a database system. Programming languages like Python need a special driver before they can speak to a database from a specific vendor.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00265C-6869-4FC5-A51A-96C2A513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887" y="2840397"/>
            <a:ext cx="7773642" cy="2090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7E0645-D045-47C9-BE45-8CAE84030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86" y="4930788"/>
            <a:ext cx="7773641" cy="16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8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0614-222B-40A1-8A2D-7340F7FA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Establish connection with MySQL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15E83-161D-419A-879B-056BBDE58C4D}"/>
              </a:ext>
            </a:extLst>
          </p:cNvPr>
          <p:cNvSpPr txBox="1"/>
          <p:nvPr/>
        </p:nvSpPr>
        <p:spPr>
          <a:xfrm>
            <a:off x="212035" y="1441318"/>
            <a:ext cx="11910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mysql.connector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mysql</a:t>
            </a:r>
            <a:endParaRPr lang="en-IN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 = </a:t>
            </a:r>
            <a:r>
              <a:rPr lang="en-IN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mysql.connect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scott</a:t>
            </a:r>
            <a:r>
              <a:rPr lang="en-I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'127.0.0.1'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(conn)</a:t>
            </a:r>
          </a:p>
          <a:p>
            <a:r>
              <a:rPr lang="en-IN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conn.close</a:t>
            </a:r>
            <a:r>
              <a:rPr lang="en-IN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D3F08-D028-4A14-B840-231E3ADD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03" y="3212203"/>
            <a:ext cx="11240318" cy="7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1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F5C84-26B6-49E6-A8D2-43B2356E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18" y="567980"/>
            <a:ext cx="9130956" cy="45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5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0C46C-7392-41F4-9BB5-A3E28301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912120"/>
            <a:ext cx="9485650" cy="469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7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4DDA-0582-44FA-B293-1F538E27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77ED-6D6B-4FF0-AB7E-CBC8BC63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869488" cy="4195481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(user=‘root’,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 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("CREATE DATABASE python")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91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80A0-F7C1-4E33-AE89-373842D4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all available databases using </a:t>
            </a:r>
            <a:r>
              <a:rPr lang="en-IN" dirty="0" err="1"/>
              <a:t>fetchall</a:t>
            </a:r>
            <a:r>
              <a:rPr lang="en-IN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7342-1A20-4B0B-9B48-FBF9890A3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</a:t>
            </a:r>
            <a:r>
              <a:rPr lang="en-IN" dirty="0"/>
              <a:t>’</a:t>
            </a:r>
            <a:r>
              <a:rPr lang="en-IN" sz="2000" dirty="0"/>
              <a:t>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 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("SHOW DATABASES")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C000"/>
                </a:solidFill>
              </a:rPr>
              <a:t>print(</a:t>
            </a:r>
            <a:r>
              <a:rPr lang="en-IN" sz="2000" dirty="0" err="1">
                <a:solidFill>
                  <a:srgbClr val="FFC000"/>
                </a:solidFill>
              </a:rPr>
              <a:t>c.fetchall</a:t>
            </a:r>
            <a:r>
              <a:rPr lang="en-IN" sz="2000" dirty="0">
                <a:solidFill>
                  <a:srgbClr val="FFC000"/>
                </a:solidFill>
              </a:rPr>
              <a:t>())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72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3675-C88C-4975-ADD4-00E8F03D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all available databases using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24C41-B8E5-413B-B570-B7812E3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</a:t>
            </a:r>
            <a:r>
              <a:rPr lang="en-IN" dirty="0"/>
              <a:t>’</a:t>
            </a:r>
            <a:r>
              <a:rPr lang="en-IN" sz="2000" dirty="0"/>
              <a:t>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 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("SHOW DATABASES")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C000"/>
                </a:solidFill>
              </a:rPr>
              <a:t>For </a:t>
            </a:r>
            <a:r>
              <a:rPr lang="en-IN" sz="2000" dirty="0" err="1">
                <a:solidFill>
                  <a:srgbClr val="FFC000"/>
                </a:solidFill>
              </a:rPr>
              <a:t>i</a:t>
            </a:r>
            <a:r>
              <a:rPr lang="en-IN" sz="2000" dirty="0">
                <a:solidFill>
                  <a:srgbClr val="FFC000"/>
                </a:solidFill>
              </a:rPr>
              <a:t> in c:</a:t>
            </a:r>
          </a:p>
          <a:p>
            <a:pPr marL="0" indent="0">
              <a:buNone/>
            </a:pPr>
            <a:r>
              <a:rPr lang="en-IN" dirty="0">
                <a:solidFill>
                  <a:srgbClr val="FFC000"/>
                </a:solidFill>
              </a:rPr>
              <a:t>print(</a:t>
            </a:r>
            <a:r>
              <a:rPr lang="en-IN" dirty="0" err="1">
                <a:solidFill>
                  <a:srgbClr val="FFC000"/>
                </a:solidFill>
              </a:rPr>
              <a:t>i</a:t>
            </a:r>
            <a:r>
              <a:rPr lang="en-IN" dirty="0">
                <a:solidFill>
                  <a:srgbClr val="FFC000"/>
                </a:solidFill>
              </a:rPr>
              <a:t>)</a:t>
            </a:r>
            <a:endParaRPr lang="en-IN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09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9AC7-585E-47F1-8120-80C0DB9A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E8F65-32E7-4A3E-964B-FF6188F8F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(user=‘root’,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("SHOW DATABASES")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c.fetchall</a:t>
            </a:r>
            <a:r>
              <a:rPr lang="en-IN" sz="2000" dirty="0"/>
              <a:t>())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("USE python")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827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8FD0-0E15-4872-886B-F048E931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450" y="2728735"/>
            <a:ext cx="9404723" cy="1400530"/>
          </a:xfrm>
        </p:spPr>
        <p:txBody>
          <a:bodyPr/>
          <a:lstStyle/>
          <a:p>
            <a:pPr algn="ctr"/>
            <a:r>
              <a:rPr lang="en-IN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1589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17E3-3CB4-4EB0-A5EA-F40E2A5F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Directly providing database name in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C079F-D5FF-40E8-BC97-C3CD3B41C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(user=’root’, password=‘</a:t>
            </a:r>
            <a:r>
              <a:rPr lang="en-IN" sz="2000" dirty="0" err="1"/>
              <a:t>scott</a:t>
            </a:r>
            <a:r>
              <a:rPr lang="en-IN" sz="2000" dirty="0"/>
              <a:t>’,host='127.0.0.1’, </a:t>
            </a:r>
            <a:r>
              <a:rPr lang="en-IN" sz="2000" dirty="0">
                <a:solidFill>
                  <a:srgbClr val="FFC000"/>
                </a:solidFill>
              </a:rPr>
              <a:t>database=‘python’</a:t>
            </a:r>
            <a:r>
              <a:rPr lang="en-IN" sz="2000" dirty="0"/>
              <a:t>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08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0ED4-17F5-407A-A9A6-EAC40122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check if any table exist in the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9BBEC-2771-44AB-9BAA-722819BB4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(user=‘root’,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dirty="0" err="1"/>
              <a:t>c.execute</a:t>
            </a:r>
            <a:r>
              <a:rPr lang="en-IN" dirty="0"/>
              <a:t>(“use </a:t>
            </a:r>
            <a:r>
              <a:rPr lang="en-IN" dirty="0" err="1"/>
              <a:t>fycs_ab</a:t>
            </a:r>
            <a:r>
              <a:rPr lang="en-IN" dirty="0"/>
              <a:t>”)</a:t>
            </a:r>
            <a:endParaRPr lang="en-IN" sz="2000" dirty="0"/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("show tables")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C000"/>
                </a:solidFill>
              </a:rPr>
              <a:t>print(</a:t>
            </a:r>
            <a:r>
              <a:rPr lang="en-IN" sz="2000" dirty="0" err="1">
                <a:solidFill>
                  <a:srgbClr val="FFC000"/>
                </a:solidFill>
              </a:rPr>
              <a:t>c.fetchall</a:t>
            </a:r>
            <a:r>
              <a:rPr lang="en-IN" sz="2000" dirty="0">
                <a:solidFill>
                  <a:srgbClr val="FFC000"/>
                </a:solidFill>
              </a:rPr>
              <a:t>())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634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6F40-5411-4125-9990-7F32C11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73E9-8B72-46CF-9C6C-5946FEEA1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(user=‘root’, password=‘</a:t>
            </a:r>
            <a:r>
              <a:rPr lang="en-IN" sz="2000" dirty="0" err="1"/>
              <a:t>scott</a:t>
            </a:r>
            <a:r>
              <a:rPr lang="en-IN" sz="2000" dirty="0"/>
              <a:t>’,host='127.0.0.1')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("USE python")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("create table employee(</a:t>
            </a:r>
            <a:r>
              <a:rPr lang="en-IN" sz="2000" dirty="0" err="1">
                <a:solidFill>
                  <a:srgbClr val="FFC000"/>
                </a:solidFill>
              </a:rPr>
              <a:t>eno</a:t>
            </a:r>
            <a:r>
              <a:rPr lang="en-IN" sz="2000" dirty="0">
                <a:solidFill>
                  <a:srgbClr val="FFC000"/>
                </a:solidFill>
              </a:rPr>
              <a:t> int(5),</a:t>
            </a:r>
            <a:r>
              <a:rPr lang="en-IN" sz="2000" dirty="0" err="1">
                <a:solidFill>
                  <a:srgbClr val="FFC000"/>
                </a:solidFill>
              </a:rPr>
              <a:t>ename</a:t>
            </a:r>
            <a:r>
              <a:rPr lang="en-IN" sz="2000" dirty="0">
                <a:solidFill>
                  <a:srgbClr val="FFC000"/>
                </a:solidFill>
              </a:rPr>
              <a:t> varchar(20))")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E5CB3-6F6C-4B92-9812-FC14B54E3162}"/>
              </a:ext>
            </a:extLst>
          </p:cNvPr>
          <p:cNvSpPr txBox="1"/>
          <p:nvPr/>
        </p:nvSpPr>
        <p:spPr>
          <a:xfrm>
            <a:off x="1258957" y="4906115"/>
            <a:ext cx="9404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FFFF99"/>
                </a:solidFill>
                <a:effectLst/>
                <a:latin typeface="Segoe UI" panose="020B0502040204020203" pitchFamily="34" charset="0"/>
              </a:rPr>
              <a:t>Primary Key</a:t>
            </a:r>
          </a:p>
          <a:p>
            <a:pPr algn="l"/>
            <a:r>
              <a:rPr lang="en-IN" b="0" i="0" dirty="0">
                <a:solidFill>
                  <a:srgbClr val="FFFF99"/>
                </a:solidFill>
                <a:effectLst/>
                <a:latin typeface="Verdana" panose="020B0604030504040204" pitchFamily="34" charset="0"/>
              </a:rPr>
              <a:t>When creating a table, you should also create a column with a unique key for each record.</a:t>
            </a:r>
          </a:p>
          <a:p>
            <a:pPr algn="l"/>
            <a:r>
              <a:rPr lang="en-IN" b="0" i="0" dirty="0">
                <a:solidFill>
                  <a:srgbClr val="FFFF99"/>
                </a:solidFill>
                <a:effectLst/>
                <a:latin typeface="Verdana" panose="020B0604030504040204" pitchFamily="34" charset="0"/>
              </a:rPr>
              <a:t>This can be done by defining a PRIMARY KEY.</a:t>
            </a:r>
          </a:p>
        </p:txBody>
      </p:sp>
    </p:spTree>
    <p:extLst>
      <p:ext uri="{BB962C8B-B14F-4D97-AF65-F5344CB8AC3E}">
        <p14:creationId xmlns:p14="http://schemas.microsoft.com/office/powerpoint/2010/main" val="323483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071F-9FED-45BE-A6CF-A57C5450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 table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B632-0647-40D1-B780-669D5067D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If the table already exists, use the ALTER TABLE keyword</a:t>
            </a:r>
          </a:p>
          <a:p>
            <a:r>
              <a:rPr lang="en-IN" b="0" i="0" dirty="0">
                <a:effectLst/>
                <a:latin typeface="Consolas" panose="020B0609020204030204" pitchFamily="49" charset="0"/>
              </a:rPr>
              <a:t>To add a column:-</a:t>
            </a:r>
            <a:r>
              <a:rPr lang="en-IN" b="0" i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ALTER TABLE </a:t>
            </a:r>
            <a:r>
              <a:rPr lang="en-IN" b="0" i="0" dirty="0" err="1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IN" b="0" i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 ADD COLUMN </a:t>
            </a:r>
            <a:r>
              <a:rPr lang="en-IN" b="0" i="0" dirty="0" err="1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columnname</a:t>
            </a:r>
            <a:r>
              <a:rPr lang="en-IN" b="0" i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 datatype…</a:t>
            </a:r>
            <a:endParaRPr lang="en-IN" b="0" i="0" dirty="0">
              <a:solidFill>
                <a:srgbClr val="FFC000"/>
              </a:solidFill>
              <a:effectLst/>
              <a:latin typeface="Verdana" panose="020B0604030504040204" pitchFamily="34" charset="0"/>
            </a:endParaRPr>
          </a:p>
          <a:p>
            <a:r>
              <a:rPr lang="en-IN" dirty="0"/>
              <a:t>To modify a column:-</a:t>
            </a:r>
            <a:r>
              <a:rPr lang="en-IN" dirty="0">
                <a:solidFill>
                  <a:srgbClr val="FFC000"/>
                </a:solidFill>
              </a:rPr>
              <a:t> ALTER TABLE </a:t>
            </a:r>
            <a:r>
              <a:rPr lang="en-IN" dirty="0" err="1">
                <a:solidFill>
                  <a:srgbClr val="FFC000"/>
                </a:solidFill>
              </a:rPr>
              <a:t>table_name</a:t>
            </a:r>
            <a:r>
              <a:rPr lang="en-IN" dirty="0">
                <a:solidFill>
                  <a:srgbClr val="FFC000"/>
                </a:solidFill>
              </a:rPr>
              <a:t> MODIFY COLUMN </a:t>
            </a:r>
            <a:r>
              <a:rPr lang="en-IN" dirty="0" err="1">
                <a:solidFill>
                  <a:srgbClr val="FFC000"/>
                </a:solidFill>
              </a:rPr>
              <a:t>column_name</a:t>
            </a:r>
            <a:r>
              <a:rPr lang="en-IN" dirty="0">
                <a:solidFill>
                  <a:srgbClr val="FFC000"/>
                </a:solidFill>
              </a:rPr>
              <a:t> datatype;</a:t>
            </a:r>
          </a:p>
        </p:txBody>
      </p:sp>
    </p:spTree>
    <p:extLst>
      <p:ext uri="{BB962C8B-B14F-4D97-AF65-F5344CB8AC3E}">
        <p14:creationId xmlns:p14="http://schemas.microsoft.com/office/powerpoint/2010/main" val="648239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C045-1942-4EC9-ADA9-F357A225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Inserting data and displaying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346D-6489-4DB4-90F7-282732B00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(user=‘root</a:t>
            </a:r>
            <a:r>
              <a:rPr lang="en-IN" dirty="0"/>
              <a:t>’</a:t>
            </a:r>
            <a:r>
              <a:rPr lang="en-IN" sz="2000" dirty="0"/>
              <a:t>, password=‘</a:t>
            </a:r>
            <a:r>
              <a:rPr lang="en-IN" sz="2000" dirty="0" err="1"/>
              <a:t>scott</a:t>
            </a:r>
            <a:r>
              <a:rPr lang="en-IN" dirty="0"/>
              <a:t>’</a:t>
            </a:r>
            <a:r>
              <a:rPr lang="en-IN" sz="2000" dirty="0"/>
              <a:t>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("use python")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("insert into employee values(1,'abc’)”)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conn.commit</a:t>
            </a:r>
            <a:r>
              <a:rPr lang="en-IN" sz="2000" dirty="0">
                <a:solidFill>
                  <a:srgbClr val="FFC000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FFC000"/>
                </a:solidFill>
              </a:rPr>
              <a:t>c.execute</a:t>
            </a:r>
            <a:r>
              <a:rPr lang="en-IN" sz="2000" dirty="0">
                <a:solidFill>
                  <a:srgbClr val="FFC000"/>
                </a:solidFill>
              </a:rPr>
              <a:t>("select * from employee")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C000"/>
                </a:solidFill>
              </a:rPr>
              <a:t>print(</a:t>
            </a:r>
            <a:r>
              <a:rPr lang="en-IN" sz="2000" dirty="0" err="1">
                <a:solidFill>
                  <a:srgbClr val="FFC000"/>
                </a:solidFill>
              </a:rPr>
              <a:t>c.fetchall</a:t>
            </a:r>
            <a:r>
              <a:rPr lang="en-IN" sz="2000" dirty="0">
                <a:solidFill>
                  <a:srgbClr val="FFC000"/>
                </a:solidFill>
              </a:rPr>
              <a:t>())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173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3EA-6473-4804-B7F3-95F825FA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2D3D-21CA-4F8E-B853-F8EFB04DC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database with your name.</a:t>
            </a:r>
          </a:p>
          <a:p>
            <a:r>
              <a:rPr lang="en-IN" dirty="0"/>
              <a:t>Create a table student with columns </a:t>
            </a:r>
            <a:r>
              <a:rPr lang="en-IN" dirty="0" err="1"/>
              <a:t>rollno</a:t>
            </a:r>
            <a:r>
              <a:rPr lang="en-IN" dirty="0"/>
              <a:t>, name, dob, marks</a:t>
            </a:r>
          </a:p>
          <a:p>
            <a:r>
              <a:rPr lang="en-IN" dirty="0"/>
              <a:t>Insert 3 records</a:t>
            </a:r>
          </a:p>
          <a:p>
            <a:r>
              <a:rPr lang="en-IN" dirty="0"/>
              <a:t>Display the records</a:t>
            </a:r>
          </a:p>
          <a:p>
            <a:r>
              <a:rPr lang="en-IN" dirty="0"/>
              <a:t>Change the name of the student having roll no 4 to ‘Riya Gupta’.</a:t>
            </a:r>
          </a:p>
          <a:p>
            <a:r>
              <a:rPr lang="en-IN" dirty="0"/>
              <a:t>Make the column </a:t>
            </a:r>
            <a:r>
              <a:rPr lang="en-IN" dirty="0" err="1"/>
              <a:t>rollno</a:t>
            </a:r>
            <a:r>
              <a:rPr lang="en-IN" dirty="0"/>
              <a:t> as primary key.</a:t>
            </a:r>
          </a:p>
          <a:p>
            <a:r>
              <a:rPr lang="en-IN" dirty="0"/>
              <a:t>Add a new column grade with character 2</a:t>
            </a:r>
          </a:p>
        </p:txBody>
      </p:sp>
    </p:spTree>
    <p:extLst>
      <p:ext uri="{BB962C8B-B14F-4D97-AF65-F5344CB8AC3E}">
        <p14:creationId xmlns:p14="http://schemas.microsoft.com/office/powerpoint/2010/main" val="3384271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E289-97AA-43EB-A1AC-AACCC88A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the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BB9A-B0D8-4020-A340-BAD121C9C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update is used to change the existing values in a database. By using update a specific value can be corrected or updated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F1B49-D864-4F9D-A9B0-8B882D60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51" y="2892701"/>
            <a:ext cx="3188266" cy="202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3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C6080-510E-480D-961B-3E375B8DD396}"/>
              </a:ext>
            </a:extLst>
          </p:cNvPr>
          <p:cNvSpPr txBox="1"/>
          <p:nvPr/>
        </p:nvSpPr>
        <p:spPr>
          <a:xfrm>
            <a:off x="808383" y="958769"/>
            <a:ext cx="917050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(user="root", password="</a:t>
            </a:r>
            <a:r>
              <a:rPr lang="en-IN" sz="2000" dirty="0" err="1"/>
              <a:t>scott</a:t>
            </a:r>
            <a:r>
              <a:rPr lang="en-IN" sz="2000" dirty="0"/>
              <a:t>",host='127.0.0.1')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("use python")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("select * from employee")</a:t>
            </a:r>
          </a:p>
          <a:p>
            <a:pPr marL="0" indent="0">
              <a:buNone/>
            </a:pPr>
            <a:r>
              <a:rPr lang="en-IN" sz="2000" dirty="0"/>
              <a:t>rows = </a:t>
            </a:r>
            <a:r>
              <a:rPr lang="en-IN" sz="2000" dirty="0" err="1"/>
              <a:t>c.fetchall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("update employee set </a:t>
            </a:r>
            <a:r>
              <a:rPr lang="en-IN" sz="2000" dirty="0" err="1"/>
              <a:t>ename</a:t>
            </a:r>
            <a:r>
              <a:rPr lang="en-IN" sz="2000" dirty="0"/>
              <a:t> = ‘</a:t>
            </a:r>
            <a:r>
              <a:rPr lang="en-IN" sz="2000" dirty="0" err="1"/>
              <a:t>steve</a:t>
            </a:r>
            <a:r>
              <a:rPr lang="en-IN" sz="2000" dirty="0"/>
              <a:t>' where </a:t>
            </a:r>
            <a:r>
              <a:rPr lang="en-IN" sz="2000" dirty="0" err="1"/>
              <a:t>eno</a:t>
            </a:r>
            <a:r>
              <a:rPr lang="en-IN" sz="2000" dirty="0"/>
              <a:t> = 1")</a:t>
            </a:r>
          </a:p>
          <a:p>
            <a:pPr marL="0" indent="0">
              <a:buNone/>
            </a:pPr>
            <a:r>
              <a:rPr lang="en-IN" sz="2000" dirty="0" err="1"/>
              <a:t>conn.commit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("select * from employee")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c.fetchall</a:t>
            </a:r>
            <a:r>
              <a:rPr lang="en-IN" sz="2000" dirty="0"/>
              <a:t>())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7370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8CAC-7EA2-4D8A-B1FC-4469595CE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30088"/>
            <a:ext cx="9312897" cy="5718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(user="root", password="</a:t>
            </a:r>
            <a:r>
              <a:rPr lang="en-IN" sz="2000" dirty="0" err="1"/>
              <a:t>scott</a:t>
            </a:r>
            <a:r>
              <a:rPr lang="en-IN" sz="2000" dirty="0"/>
              <a:t>",host='127.0.0.1')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("use python")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("select * from employee")</a:t>
            </a:r>
          </a:p>
          <a:p>
            <a:pPr marL="0" indent="0">
              <a:buNone/>
            </a:pPr>
            <a:r>
              <a:rPr lang="en-IN" sz="2000" dirty="0"/>
              <a:t>rows = </a:t>
            </a:r>
            <a:r>
              <a:rPr lang="en-IN" sz="2000" dirty="0" err="1"/>
              <a:t>c.fetchall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empid</a:t>
            </a:r>
            <a:r>
              <a:rPr lang="en-IN" sz="2000" dirty="0"/>
              <a:t> = rows[1][0]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empid</a:t>
            </a:r>
            <a:r>
              <a:rPr lang="en-IN" sz="2000" dirty="0"/>
              <a:t>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("update employee set </a:t>
            </a:r>
            <a:r>
              <a:rPr lang="en-IN" sz="2000" dirty="0" err="1"/>
              <a:t>ename</a:t>
            </a:r>
            <a:r>
              <a:rPr lang="en-IN" sz="2000" dirty="0"/>
              <a:t> = '</a:t>
            </a:r>
            <a:r>
              <a:rPr lang="en-IN" sz="2000" dirty="0" err="1"/>
              <a:t>stu</a:t>
            </a:r>
            <a:r>
              <a:rPr lang="en-IN" sz="2000" dirty="0"/>
              <a:t>' where </a:t>
            </a:r>
            <a:r>
              <a:rPr lang="en-IN" sz="2000" dirty="0" err="1"/>
              <a:t>eno</a:t>
            </a:r>
            <a:r>
              <a:rPr lang="en-IN" sz="2000" dirty="0"/>
              <a:t> = "+str(</a:t>
            </a:r>
            <a:r>
              <a:rPr lang="en-IN" sz="2000" dirty="0" err="1"/>
              <a:t>empid</a:t>
            </a:r>
            <a:r>
              <a:rPr lang="en-IN" sz="2000" dirty="0"/>
              <a:t>))</a:t>
            </a:r>
          </a:p>
          <a:p>
            <a:pPr marL="0" indent="0">
              <a:buNone/>
            </a:pPr>
            <a:r>
              <a:rPr lang="en-IN" sz="2000" dirty="0" err="1"/>
              <a:t>conn.commit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("select * from employee")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c.fetchall</a:t>
            </a:r>
            <a:r>
              <a:rPr lang="en-IN" sz="2000" dirty="0"/>
              <a:t>())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421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4008-8E32-4828-BAB9-F8E42790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7E0B-CF0B-40EC-8F37-9C472947F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5948"/>
            <a:ext cx="9803227" cy="5199334"/>
          </a:xfrm>
        </p:spPr>
        <p:txBody>
          <a:bodyPr>
            <a:normAutofit/>
          </a:bodyPr>
          <a:lstStyle/>
          <a:p>
            <a:r>
              <a:rPr lang="en-IN" dirty="0"/>
              <a:t>You can delete records from an existing table by using the "DELETE FROM" statement:</a:t>
            </a:r>
          </a:p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(user="root", password="</a:t>
            </a:r>
            <a:r>
              <a:rPr lang="en-IN" sz="2000" dirty="0" err="1"/>
              <a:t>scott</a:t>
            </a:r>
            <a:r>
              <a:rPr lang="en-IN" sz="2000" dirty="0"/>
              <a:t>",host='127.0.0.1')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("use python")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("select * from employee")</a:t>
            </a:r>
          </a:p>
          <a:p>
            <a:pPr marL="0" indent="0">
              <a:buNone/>
            </a:pPr>
            <a:r>
              <a:rPr lang="en-IN" sz="2000" dirty="0"/>
              <a:t>rows = </a:t>
            </a:r>
            <a:r>
              <a:rPr lang="en-IN" sz="2000" dirty="0" err="1"/>
              <a:t>c.fetchall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(“delete from employee where </a:t>
            </a:r>
            <a:r>
              <a:rPr lang="en-IN" sz="2000" dirty="0" err="1"/>
              <a:t>eno</a:t>
            </a:r>
            <a:r>
              <a:rPr lang="en-IN" dirty="0"/>
              <a:t>=1</a:t>
            </a:r>
            <a:r>
              <a:rPr lang="en-IN" sz="2000" dirty="0"/>
              <a:t>")</a:t>
            </a:r>
          </a:p>
          <a:p>
            <a:pPr marL="0" indent="0">
              <a:buNone/>
            </a:pPr>
            <a:r>
              <a:rPr lang="en-IN" sz="2000" dirty="0" err="1"/>
              <a:t>conn.commit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mycursor.rowcount</a:t>
            </a:r>
            <a:r>
              <a:rPr lang="en-IN" sz="2000" dirty="0"/>
              <a:t>, "record(s) deleted")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436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7F2587-62D2-400A-8077-904D315F3706}"/>
              </a:ext>
            </a:extLst>
          </p:cNvPr>
          <p:cNvSpPr txBox="1"/>
          <p:nvPr/>
        </p:nvSpPr>
        <p:spPr>
          <a:xfrm>
            <a:off x="1325218" y="683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 err="1">
                <a:effectLst/>
                <a:latin typeface="Liberation Mono"/>
              </a:rPr>
              <a:t>cursor.rowcount</a:t>
            </a:r>
            <a:endParaRPr lang="en-IN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05DEB4-56CD-4642-9570-4DACC3AD0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86" y="1459471"/>
            <a:ext cx="9595960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Open Sans"/>
              </a:rPr>
              <a:t>This read-only property returns the number of rows returned for 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Open Sans"/>
              </a:rPr>
              <a:t> statements,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Open Sans"/>
              </a:rPr>
              <a:t>or the number of rows affected by DML statements such as 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INSERT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Open Sans"/>
              </a:rPr>
              <a:t> or 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UPDATE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Open Sans"/>
              </a:rPr>
              <a:t>.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38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841F-1DE2-446B-8FAF-8D9AD785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Reading single &amp; multiple results of query execution- SELECT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343E6-78F9-49AD-A494-6A5D5473D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All the data:-</a:t>
            </a:r>
            <a:r>
              <a:rPr lang="en-IN" dirty="0"/>
              <a:t> select * from </a:t>
            </a:r>
            <a:r>
              <a:rPr lang="en-IN" dirty="0" err="1"/>
              <a:t>tablename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C000"/>
                </a:solidFill>
              </a:rPr>
              <a:t>Selected columns all rows:-</a:t>
            </a:r>
            <a:r>
              <a:rPr lang="en-IN" dirty="0"/>
              <a:t> select column1, column2 from </a:t>
            </a:r>
            <a:r>
              <a:rPr lang="en-IN" dirty="0" err="1"/>
              <a:t>tablename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C000"/>
                </a:solidFill>
              </a:rPr>
              <a:t>Selected rows all columns:-</a:t>
            </a:r>
            <a:r>
              <a:rPr lang="en-IN" dirty="0"/>
              <a:t> select * from </a:t>
            </a:r>
            <a:r>
              <a:rPr lang="en-IN" dirty="0" err="1"/>
              <a:t>tablename</a:t>
            </a:r>
            <a:r>
              <a:rPr lang="en-IN" dirty="0"/>
              <a:t> where condition;</a:t>
            </a:r>
          </a:p>
          <a:p>
            <a:r>
              <a:rPr lang="en-IN" dirty="0">
                <a:solidFill>
                  <a:srgbClr val="FFC000"/>
                </a:solidFill>
              </a:rPr>
              <a:t>Selected rows selected columns:-</a:t>
            </a:r>
            <a:r>
              <a:rPr lang="en-IN" dirty="0"/>
              <a:t> select column1, column2 from </a:t>
            </a:r>
            <a:r>
              <a:rPr lang="en-IN" dirty="0" err="1"/>
              <a:t>tablename</a:t>
            </a:r>
            <a:r>
              <a:rPr lang="en-IN" dirty="0"/>
              <a:t> where condition</a:t>
            </a:r>
          </a:p>
        </p:txBody>
      </p:sp>
    </p:spTree>
    <p:extLst>
      <p:ext uri="{BB962C8B-B14F-4D97-AF65-F5344CB8AC3E}">
        <p14:creationId xmlns:p14="http://schemas.microsoft.com/office/powerpoint/2010/main" val="362811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D5AD-D2FC-4AC2-8D61-61284821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Sorting – </a:t>
            </a:r>
            <a:r>
              <a:rPr lang="en-IN" dirty="0" err="1"/>
              <a:t>asc</a:t>
            </a:r>
            <a:r>
              <a:rPr lang="en-IN" dirty="0"/>
              <a:t>/</a:t>
            </a:r>
            <a:r>
              <a:rPr lang="en-IN" dirty="0" err="1"/>
              <a:t>desc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90854-E8D1-4D7F-8E16-4C923269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Select * from </a:t>
            </a:r>
            <a:r>
              <a:rPr lang="en-IN" dirty="0" err="1"/>
              <a:t>cust</a:t>
            </a:r>
            <a:r>
              <a:rPr lang="en-IN" dirty="0"/>
              <a:t> order by savings </a:t>
            </a:r>
            <a:r>
              <a:rPr lang="en-IN" dirty="0" err="1"/>
              <a:t>desc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By default sorting done in ascending order.</a:t>
            </a:r>
          </a:p>
        </p:txBody>
      </p:sp>
    </p:spTree>
    <p:extLst>
      <p:ext uri="{BB962C8B-B14F-4D97-AF65-F5344CB8AC3E}">
        <p14:creationId xmlns:p14="http://schemas.microsoft.com/office/powerpoint/2010/main" val="3103726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7412-00B9-4F75-9774-43252EFF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matching(LIKE operator)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636E-60D1-44C1-A74C-D064657B4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Wildcard %(more than one character) or _(exactly one character)</a:t>
            </a:r>
          </a:p>
          <a:p>
            <a:endParaRPr lang="en-IN" dirty="0"/>
          </a:p>
          <a:p>
            <a:r>
              <a:rPr lang="en-IN" dirty="0"/>
              <a:t>A% - starting from A</a:t>
            </a:r>
          </a:p>
          <a:p>
            <a:r>
              <a:rPr lang="en-IN" dirty="0"/>
              <a:t>%A- ending at A</a:t>
            </a:r>
          </a:p>
          <a:p>
            <a:r>
              <a:rPr lang="en-IN" dirty="0"/>
              <a:t>Raj---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_a% - second character a</a:t>
            </a:r>
          </a:p>
          <a:p>
            <a:r>
              <a:rPr lang="en-IN" dirty="0"/>
              <a:t>_ _a%</a:t>
            </a:r>
          </a:p>
          <a:p>
            <a:r>
              <a:rPr lang="en-IN" dirty="0"/>
              <a:t>%a%- name contains ‘a’</a:t>
            </a:r>
          </a:p>
        </p:txBody>
      </p:sp>
    </p:spTree>
    <p:extLst>
      <p:ext uri="{BB962C8B-B14F-4D97-AF65-F5344CB8AC3E}">
        <p14:creationId xmlns:p14="http://schemas.microsoft.com/office/powerpoint/2010/main" val="2904080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BA03-FF62-4C91-9D38-1C5C00EB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60B9-0689-45CF-9894-48A44A6BB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(user="root", password="</a:t>
            </a:r>
            <a:r>
              <a:rPr lang="en-IN" sz="2000" dirty="0" err="1"/>
              <a:t>scott</a:t>
            </a:r>
            <a:r>
              <a:rPr lang="en-IN" sz="2000" dirty="0"/>
              <a:t>",host='127.0.0.1')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("use python")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("Drop table employee")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19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9DA0-FC26-417C-8970-CAED3819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44C0-C05F-4240-B90C-A09C6975D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mysql.connector</a:t>
            </a:r>
            <a:r>
              <a:rPr lang="en-IN" sz="2000" dirty="0"/>
              <a:t> as </a:t>
            </a:r>
            <a:r>
              <a:rPr lang="en-IN" sz="2000" dirty="0" err="1"/>
              <a:t>mysql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conn = </a:t>
            </a:r>
            <a:r>
              <a:rPr lang="en-IN" sz="2000" dirty="0" err="1"/>
              <a:t>mysql.connect</a:t>
            </a:r>
            <a:r>
              <a:rPr lang="en-IN" sz="2000" dirty="0"/>
              <a:t>(user="root", password="</a:t>
            </a:r>
            <a:r>
              <a:rPr lang="en-IN" sz="2000" dirty="0" err="1"/>
              <a:t>scott</a:t>
            </a:r>
            <a:r>
              <a:rPr lang="en-IN" sz="2000" dirty="0"/>
              <a:t>",host='127.0.0.1')</a:t>
            </a:r>
          </a:p>
          <a:p>
            <a:pPr marL="0" indent="0">
              <a:buNone/>
            </a:pPr>
            <a:r>
              <a:rPr lang="en-IN" sz="2000" dirty="0"/>
              <a:t>c=</a:t>
            </a:r>
            <a:r>
              <a:rPr lang="en-IN" sz="2000" dirty="0" err="1"/>
              <a:t>conn.cursor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c.execute</a:t>
            </a:r>
            <a:r>
              <a:rPr lang="en-IN" sz="2000" dirty="0"/>
              <a:t>("Drop database python")</a:t>
            </a:r>
          </a:p>
          <a:p>
            <a:pPr marL="0" indent="0">
              <a:buNone/>
            </a:pPr>
            <a:r>
              <a:rPr lang="en-IN" sz="2000" dirty="0" err="1"/>
              <a:t>conn.close</a:t>
            </a:r>
            <a:r>
              <a:rPr lang="en-IN" sz="2000" dirty="0"/>
              <a:t>()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74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F50C-00B3-4D45-95EB-4F0749F8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Queries for student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1118-B674-4620-8C33-99A4FC8D9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Display name and marks of student with </a:t>
            </a:r>
            <a:r>
              <a:rPr lang="en-IN" dirty="0" err="1"/>
              <a:t>rollno</a:t>
            </a:r>
            <a:r>
              <a:rPr lang="en-IN" dirty="0"/>
              <a:t> 3.</a:t>
            </a:r>
          </a:p>
          <a:p>
            <a:r>
              <a:rPr lang="en-IN" dirty="0"/>
              <a:t>Delete the records of the student with name ‘</a:t>
            </a:r>
            <a:r>
              <a:rPr lang="en-IN" dirty="0" err="1"/>
              <a:t>priti</a:t>
            </a:r>
            <a:r>
              <a:rPr lang="en-IN" dirty="0"/>
              <a:t>’.</a:t>
            </a:r>
          </a:p>
          <a:p>
            <a:r>
              <a:rPr lang="en-IN" dirty="0"/>
              <a:t>Display all the records where marks </a:t>
            </a:r>
            <a:r>
              <a:rPr lang="en-IN"/>
              <a:t>are greater </a:t>
            </a:r>
            <a:r>
              <a:rPr lang="en-IN" dirty="0"/>
              <a:t>than 20 </a:t>
            </a:r>
          </a:p>
        </p:txBody>
      </p:sp>
    </p:spTree>
    <p:extLst>
      <p:ext uri="{BB962C8B-B14F-4D97-AF65-F5344CB8AC3E}">
        <p14:creationId xmlns:p14="http://schemas.microsoft.com/office/powerpoint/2010/main" val="2182587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587B-F136-4B9B-8F3E-43C787A1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2(a)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DEA44-DD8D-4EB7-BCC2-2EF8896B6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table Bike containing the following columns:- </a:t>
            </a:r>
            <a:r>
              <a:rPr lang="en-IN" dirty="0" err="1"/>
              <a:t>Bikeid</a:t>
            </a:r>
            <a:r>
              <a:rPr lang="en-IN" dirty="0"/>
              <a:t> integer primary key, </a:t>
            </a:r>
            <a:r>
              <a:rPr lang="en-IN" dirty="0" err="1"/>
              <a:t>Bikename</a:t>
            </a:r>
            <a:r>
              <a:rPr lang="en-IN" dirty="0"/>
              <a:t>, </a:t>
            </a:r>
            <a:r>
              <a:rPr lang="en-IN" dirty="0" err="1"/>
              <a:t>bikecost</a:t>
            </a:r>
            <a:r>
              <a:rPr lang="en-IN" dirty="0"/>
              <a:t>, </a:t>
            </a:r>
            <a:r>
              <a:rPr lang="en-IN" dirty="0" err="1"/>
              <a:t>prdt</a:t>
            </a:r>
            <a:r>
              <a:rPr lang="en-IN" dirty="0"/>
              <a:t>(purchase date).</a:t>
            </a:r>
          </a:p>
          <a:p>
            <a:r>
              <a:rPr lang="en-IN" dirty="0"/>
              <a:t>Insert 2 records</a:t>
            </a:r>
          </a:p>
          <a:p>
            <a:r>
              <a:rPr lang="en-IN" dirty="0"/>
              <a:t>Display the structure of the table.</a:t>
            </a:r>
          </a:p>
          <a:p>
            <a:r>
              <a:rPr lang="en-IN" dirty="0"/>
              <a:t>Add a new column </a:t>
            </a:r>
            <a:r>
              <a:rPr lang="en-IN" dirty="0" err="1"/>
              <a:t>sldt</a:t>
            </a:r>
            <a:r>
              <a:rPr lang="en-IN" dirty="0"/>
              <a:t>(sale date)</a:t>
            </a:r>
          </a:p>
          <a:p>
            <a:r>
              <a:rPr lang="en-IN" dirty="0"/>
              <a:t>Change the content of the column </a:t>
            </a:r>
            <a:r>
              <a:rPr lang="en-IN" dirty="0" err="1"/>
              <a:t>bikecost</a:t>
            </a:r>
            <a:r>
              <a:rPr lang="en-IN" dirty="0"/>
              <a:t> to 80,000 for </a:t>
            </a:r>
            <a:r>
              <a:rPr lang="en-IN" dirty="0" err="1"/>
              <a:t>bikeid</a:t>
            </a:r>
            <a:r>
              <a:rPr lang="en-IN" dirty="0"/>
              <a:t> 1</a:t>
            </a:r>
          </a:p>
          <a:p>
            <a:r>
              <a:rPr lang="en-IN" dirty="0"/>
              <a:t>Delete the row for </a:t>
            </a:r>
            <a:r>
              <a:rPr lang="en-IN" dirty="0" err="1"/>
              <a:t>bikename</a:t>
            </a:r>
            <a:r>
              <a:rPr lang="en-IN" dirty="0"/>
              <a:t> ‘Honda’</a:t>
            </a:r>
          </a:p>
          <a:p>
            <a:r>
              <a:rPr lang="en-IN" dirty="0"/>
              <a:t>Delete the table</a:t>
            </a:r>
          </a:p>
        </p:txBody>
      </p:sp>
    </p:spTree>
    <p:extLst>
      <p:ext uri="{BB962C8B-B14F-4D97-AF65-F5344CB8AC3E}">
        <p14:creationId xmlns:p14="http://schemas.microsoft.com/office/powerpoint/2010/main" val="480719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A3C0-DA6D-4F68-A0CB-CA51EED3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Practical 2(</a:t>
            </a:r>
            <a:r>
              <a:rPr lang="en-IN" dirty="0"/>
              <a:t>b)- Use EMP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F0E9-6477-4B70-86FC-37AB4B81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Display the details of all employees who are earning salary greater than 1000.</a:t>
            </a:r>
          </a:p>
          <a:p>
            <a:r>
              <a:rPr lang="en-IN" dirty="0"/>
              <a:t>List the employees in ascending order of their salary.</a:t>
            </a:r>
          </a:p>
          <a:p>
            <a:r>
              <a:rPr lang="en-IN" dirty="0"/>
              <a:t>List the employees whose name have character set ‘ll’ together.</a:t>
            </a:r>
          </a:p>
          <a:p>
            <a:r>
              <a:rPr lang="en-IN" dirty="0"/>
              <a:t>Display the details of all employees who are working as ‘Manager’</a:t>
            </a:r>
          </a:p>
          <a:p>
            <a:r>
              <a:rPr lang="en-IN" dirty="0"/>
              <a:t>List all the clerks of department 20.</a:t>
            </a:r>
          </a:p>
        </p:txBody>
      </p:sp>
    </p:spTree>
    <p:extLst>
      <p:ext uri="{BB962C8B-B14F-4D97-AF65-F5344CB8AC3E}">
        <p14:creationId xmlns:p14="http://schemas.microsoft.com/office/powerpoint/2010/main" val="2470873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E24E-BC9C-4E30-81E2-F7A316B9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Executing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9AF6-E803-4CF2-B4B4-FABAFEA0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193627" cy="435236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database transaction represents a single unit of work. Any operation which modifies the state of the MySQL database is a transaction. </a:t>
            </a:r>
          </a:p>
          <a:p>
            <a:r>
              <a:rPr lang="en-IN" dirty="0"/>
              <a:t>For example, take an example of Bank amount transfer Transaction,  it involves two major transactions.</a:t>
            </a:r>
          </a:p>
          <a:p>
            <a:r>
              <a:rPr lang="en-IN" dirty="0"/>
              <a:t>Withdrawal of money from account A</a:t>
            </a:r>
          </a:p>
          <a:p>
            <a:r>
              <a:rPr lang="en-IN" dirty="0"/>
              <a:t>Deposit Money to Account B</a:t>
            </a:r>
          </a:p>
          <a:p>
            <a:r>
              <a:rPr lang="en-IN" dirty="0"/>
              <a:t>If the first Transaction is executed successfully, but second failed, in this case, we need to re-deposit money back to account A. To manage such cases we need transaction management.</a:t>
            </a:r>
          </a:p>
          <a:p>
            <a:r>
              <a:rPr lang="en-IN" dirty="0"/>
              <a:t>Using ACID properties, we can study transaction management well. ACID stands for Atomicity, Consistency</a:t>
            </a:r>
            <a:r>
              <a:rPr lang="en-IN"/>
              <a:t>, Isolation</a:t>
            </a:r>
            <a:r>
              <a:rPr lang="en-IN" dirty="0"/>
              <a:t>, </a:t>
            </a:r>
            <a:r>
              <a:rPr lang="en-IN"/>
              <a:t>and Durability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84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FAA0-2452-44C5-9BF1-666E9B68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15872" cy="1400530"/>
          </a:xfrm>
        </p:spPr>
        <p:txBody>
          <a:bodyPr/>
          <a:lstStyle/>
          <a:p>
            <a:r>
              <a:rPr lang="en-IN" sz="3600" dirty="0"/>
              <a:t>Python MySQL Commit(), rollback() and </a:t>
            </a:r>
            <a:r>
              <a:rPr lang="en-IN" sz="3600" dirty="0" err="1"/>
              <a:t>setAutoCommit</a:t>
            </a:r>
            <a:r>
              <a:rPr lang="en-IN" sz="3600" dirty="0"/>
              <a:t>() to manage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7B07-9BE0-4F32-A366-2B949969F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52016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To manage MySQL transactions in python follow these steps: –</a:t>
            </a:r>
          </a:p>
          <a:p>
            <a:r>
              <a:rPr lang="en-IN" dirty="0"/>
              <a:t>Create </a:t>
            </a:r>
            <a:r>
              <a:rPr lang="en-IN" b="1" dirty="0"/>
              <a:t>MySQL database connections </a:t>
            </a:r>
            <a:r>
              <a:rPr lang="en-IN" dirty="0"/>
              <a:t>in python.</a:t>
            </a:r>
          </a:p>
          <a:p>
            <a:r>
              <a:rPr lang="en-IN" dirty="0"/>
              <a:t>Prepare the SQL queries that you want to run as a part of a transaction. For example for bank transfer, we can combine two SQL queries(withdrawal money and deposit money query) in a single transaction.</a:t>
            </a:r>
          </a:p>
          <a:p>
            <a:r>
              <a:rPr lang="en-IN" dirty="0"/>
              <a:t>Set an </a:t>
            </a:r>
            <a:r>
              <a:rPr lang="en-IN" b="1" dirty="0"/>
              <a:t>auto-commit</a:t>
            </a:r>
            <a:r>
              <a:rPr lang="en-IN" dirty="0"/>
              <a:t> property of MySQL connection to false.</a:t>
            </a:r>
          </a:p>
          <a:p>
            <a:r>
              <a:rPr lang="en-IN" dirty="0"/>
              <a:t>Execute all queries one by one using </a:t>
            </a:r>
            <a:r>
              <a:rPr lang="en-IN" dirty="0" err="1"/>
              <a:t>cursor.execute</a:t>
            </a:r>
            <a:r>
              <a:rPr lang="en-IN" dirty="0"/>
              <a:t>()</a:t>
            </a:r>
          </a:p>
          <a:p>
            <a:r>
              <a:rPr lang="en-IN" dirty="0"/>
              <a:t>If all queries execute successfully </a:t>
            </a:r>
            <a:r>
              <a:rPr lang="en-IN" b="1" dirty="0"/>
              <a:t>commit</a:t>
            </a:r>
            <a:r>
              <a:rPr lang="en-IN" dirty="0"/>
              <a:t> the changes to the database</a:t>
            </a:r>
          </a:p>
          <a:p>
            <a:r>
              <a:rPr lang="en-IN" dirty="0"/>
              <a:t>If one of the queries failed to execute </a:t>
            </a:r>
            <a:r>
              <a:rPr lang="en-IN" b="1" dirty="0"/>
              <a:t>rollback</a:t>
            </a:r>
            <a:r>
              <a:rPr lang="en-IN" dirty="0"/>
              <a:t> all the changes.</a:t>
            </a:r>
          </a:p>
          <a:p>
            <a:r>
              <a:rPr lang="en-IN" dirty="0"/>
              <a:t>Catch any SQL exceptions that may occur during this process</a:t>
            </a:r>
          </a:p>
          <a:p>
            <a:r>
              <a:rPr lang="en-IN" dirty="0"/>
              <a:t>Close the cursor object and MySQL database connection</a:t>
            </a:r>
          </a:p>
        </p:txBody>
      </p:sp>
    </p:spTree>
    <p:extLst>
      <p:ext uri="{BB962C8B-B14F-4D97-AF65-F5344CB8AC3E}">
        <p14:creationId xmlns:p14="http://schemas.microsoft.com/office/powerpoint/2010/main" val="1233341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1881-53F9-4F16-9F6F-3C782C8A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83E3E-C4BE-42D7-B6C7-EFADD6A3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MySQL Connector provides the following method to manage database transactions.</a:t>
            </a:r>
          </a:p>
          <a:p>
            <a:r>
              <a:rPr lang="en-IN" b="1" dirty="0">
                <a:solidFill>
                  <a:srgbClr val="FFC000"/>
                </a:solidFill>
              </a:rPr>
              <a:t>commit</a:t>
            </a:r>
            <a:r>
              <a:rPr lang="en-IN" dirty="0"/>
              <a:t> – </a:t>
            </a:r>
            <a:r>
              <a:rPr lang="en-IN" dirty="0" err="1"/>
              <a:t>MySQLConnection.commit</a:t>
            </a:r>
            <a:r>
              <a:rPr lang="en-IN" dirty="0"/>
              <a:t>() method sends a COMMIT statement to the MySQL server, committing the current transaction.</a:t>
            </a:r>
          </a:p>
          <a:p>
            <a:r>
              <a:rPr lang="en-IN" b="1" dirty="0">
                <a:solidFill>
                  <a:srgbClr val="FFC000"/>
                </a:solidFill>
              </a:rPr>
              <a:t>rollback</a:t>
            </a:r>
            <a:r>
              <a:rPr lang="en-IN" dirty="0"/>
              <a:t> –  </a:t>
            </a:r>
            <a:r>
              <a:rPr lang="en-IN" dirty="0" err="1"/>
              <a:t>MySQLConnection.rollback</a:t>
            </a:r>
            <a:r>
              <a:rPr lang="en-IN" dirty="0"/>
              <a:t>() revert the changes made by the current transaction.</a:t>
            </a:r>
          </a:p>
          <a:p>
            <a:r>
              <a:rPr lang="en-IN" b="1" dirty="0" err="1">
                <a:solidFill>
                  <a:srgbClr val="FFC000"/>
                </a:solidFill>
              </a:rPr>
              <a:t>autocommit</a:t>
            </a:r>
            <a:r>
              <a:rPr lang="en-IN" dirty="0"/>
              <a:t> – </a:t>
            </a:r>
            <a:r>
              <a:rPr lang="en-IN" dirty="0" err="1"/>
              <a:t>MySQLConnection.autocommit</a:t>
            </a:r>
            <a:r>
              <a:rPr lang="en-IN" dirty="0"/>
              <a:t>() value can be assigned as True or False to enable or disable the auto-commit feature of MySQL. By default its value is False.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524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5C34-EBAF-41F9-B34D-8143F923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8C37-9ED9-4CA3-B589-80DACA924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database bank;</a:t>
            </a:r>
          </a:p>
          <a:p>
            <a:r>
              <a:rPr lang="en-IN" dirty="0"/>
              <a:t>Use bank;</a:t>
            </a:r>
          </a:p>
          <a:p>
            <a:r>
              <a:rPr lang="en-IN" dirty="0"/>
              <a:t>Create table </a:t>
            </a:r>
            <a:r>
              <a:rPr lang="en-IN" dirty="0" err="1"/>
              <a:t>account_A</a:t>
            </a:r>
            <a:r>
              <a:rPr lang="en-IN" dirty="0"/>
              <a:t>(id int primary </a:t>
            </a:r>
            <a:r>
              <a:rPr lang="en-IN" dirty="0" err="1"/>
              <a:t>key,balance</a:t>
            </a:r>
            <a:r>
              <a:rPr lang="en-IN" dirty="0"/>
              <a:t> int);</a:t>
            </a:r>
          </a:p>
          <a:p>
            <a:r>
              <a:rPr lang="en-IN" dirty="0"/>
              <a:t>Similarly create </a:t>
            </a:r>
            <a:r>
              <a:rPr lang="en-IN" dirty="0" err="1"/>
              <a:t>account_B</a:t>
            </a:r>
            <a:endParaRPr lang="en-IN" dirty="0"/>
          </a:p>
          <a:p>
            <a:r>
              <a:rPr lang="en-IN" dirty="0"/>
              <a:t>Insert 2 records in both tables.</a:t>
            </a:r>
          </a:p>
        </p:txBody>
      </p:sp>
    </p:spTree>
    <p:extLst>
      <p:ext uri="{BB962C8B-B14F-4D97-AF65-F5344CB8AC3E}">
        <p14:creationId xmlns:p14="http://schemas.microsoft.com/office/powerpoint/2010/main" val="2848063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5EE4D-CEC4-46F3-BE3A-EB3DB23D9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0"/>
            <a:ext cx="9471923" cy="65863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dirty="0">
                <a:latin typeface="+mn-lt"/>
              </a:rPr>
              <a:t>import </a:t>
            </a:r>
            <a:r>
              <a:rPr lang="en-IN" sz="1800" dirty="0" err="1">
                <a:latin typeface="+mn-lt"/>
              </a:rPr>
              <a:t>mysql.connector</a:t>
            </a:r>
            <a:endParaRPr lang="en-IN" sz="1800" dirty="0">
              <a:latin typeface="+mn-lt"/>
            </a:endParaRP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from </a:t>
            </a:r>
            <a:r>
              <a:rPr lang="en-IN" sz="1800" dirty="0" err="1">
                <a:latin typeface="+mn-lt"/>
              </a:rPr>
              <a:t>mysql.connector</a:t>
            </a:r>
            <a:r>
              <a:rPr lang="en-IN" sz="1800" dirty="0">
                <a:latin typeface="+mn-lt"/>
              </a:rPr>
              <a:t> import Error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from </a:t>
            </a:r>
            <a:r>
              <a:rPr lang="en-IN" sz="1800" dirty="0" err="1">
                <a:latin typeface="+mn-lt"/>
              </a:rPr>
              <a:t>mysql.connector</a:t>
            </a:r>
            <a:r>
              <a:rPr lang="en-IN" sz="1800" dirty="0">
                <a:latin typeface="+mn-lt"/>
              </a:rPr>
              <a:t> import </a:t>
            </a:r>
            <a:r>
              <a:rPr lang="en-IN" sz="1800" dirty="0" err="1">
                <a:latin typeface="+mn-lt"/>
              </a:rPr>
              <a:t>errorcode</a:t>
            </a:r>
            <a:endParaRPr lang="en-IN" sz="1800" dirty="0">
              <a:latin typeface="+mn-lt"/>
            </a:endParaRP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try: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conn = </a:t>
            </a:r>
            <a:r>
              <a:rPr lang="en-IN" sz="1800" dirty="0" err="1">
                <a:latin typeface="+mn-lt"/>
              </a:rPr>
              <a:t>mysql.connector.connect</a:t>
            </a:r>
            <a:r>
              <a:rPr lang="en-IN" sz="1800" dirty="0">
                <a:latin typeface="+mn-lt"/>
              </a:rPr>
              <a:t>(host='localhost',  database=‘bank', user=‘root’, password=‘</a:t>
            </a:r>
            <a:r>
              <a:rPr lang="en-IN" sz="1800" dirty="0" err="1">
                <a:latin typeface="+mn-lt"/>
              </a:rPr>
              <a:t>scott</a:t>
            </a:r>
            <a:r>
              <a:rPr lang="en-IN" sz="1800" dirty="0">
                <a:latin typeface="+mn-lt"/>
              </a:rPr>
              <a:t>')</a:t>
            </a:r>
          </a:p>
          <a:p>
            <a:pPr marL="0" indent="0">
              <a:buNone/>
            </a:pPr>
            <a:endParaRPr lang="en-IN" sz="1800" dirty="0">
              <a:latin typeface="+mn-lt"/>
            </a:endParaRP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</a:t>
            </a:r>
            <a:r>
              <a:rPr lang="en-IN" sz="1800" dirty="0" err="1">
                <a:latin typeface="+mn-lt"/>
              </a:rPr>
              <a:t>conn.autocommit</a:t>
            </a:r>
            <a:r>
              <a:rPr lang="en-IN" sz="1800" dirty="0">
                <a:latin typeface="+mn-lt"/>
              </a:rPr>
              <a:t> = false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cursor = </a:t>
            </a:r>
            <a:r>
              <a:rPr lang="en-IN" sz="1800" dirty="0" err="1">
                <a:latin typeface="+mn-lt"/>
              </a:rPr>
              <a:t>conn.cursor</a:t>
            </a:r>
            <a:r>
              <a:rPr lang="en-IN" sz="1800" dirty="0"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# withdraw from account A 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</a:t>
            </a:r>
            <a:r>
              <a:rPr lang="en-IN" sz="1800" dirty="0" err="1">
                <a:latin typeface="+mn-lt"/>
              </a:rPr>
              <a:t>cursor.execute</a:t>
            </a:r>
            <a:r>
              <a:rPr lang="en-IN" sz="1800" dirty="0">
                <a:latin typeface="+mn-lt"/>
              </a:rPr>
              <a:t>(“Update </a:t>
            </a:r>
            <a:r>
              <a:rPr lang="en-IN" sz="1800" dirty="0" err="1">
                <a:latin typeface="+mn-lt"/>
              </a:rPr>
              <a:t>account_A</a:t>
            </a:r>
            <a:r>
              <a:rPr lang="en-IN" sz="1800" dirty="0">
                <a:latin typeface="+mn-lt"/>
              </a:rPr>
              <a:t> set balance = balance-500 where id = 1”)</a:t>
            </a:r>
          </a:p>
          <a:p>
            <a:pPr marL="0" indent="0">
              <a:buNone/>
            </a:pPr>
            <a:endParaRPr lang="en-IN" sz="1800" dirty="0">
              <a:latin typeface="+mn-lt"/>
            </a:endParaRP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# Deposit to account B 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</a:t>
            </a:r>
            <a:r>
              <a:rPr lang="en-IN" sz="1800" dirty="0" err="1">
                <a:latin typeface="+mn-lt"/>
              </a:rPr>
              <a:t>cursor.execute</a:t>
            </a:r>
            <a:r>
              <a:rPr lang="en-IN" sz="1800" dirty="0">
                <a:latin typeface="+mn-lt"/>
              </a:rPr>
              <a:t>(“Update </a:t>
            </a:r>
            <a:r>
              <a:rPr lang="en-IN" sz="1800" dirty="0" err="1">
                <a:latin typeface="+mn-lt"/>
              </a:rPr>
              <a:t>account_B</a:t>
            </a:r>
            <a:r>
              <a:rPr lang="en-IN" sz="1800" dirty="0">
                <a:latin typeface="+mn-lt"/>
              </a:rPr>
              <a:t> set balance = balance+500 where id = 2”)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print ("Record Updated successfully ")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#Commit your changes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</a:t>
            </a:r>
            <a:r>
              <a:rPr lang="en-IN" sz="1800" dirty="0" err="1">
                <a:latin typeface="+mn-lt"/>
              </a:rPr>
              <a:t>conn.commit</a:t>
            </a:r>
            <a:r>
              <a:rPr lang="en-IN" sz="1800" dirty="0">
                <a:latin typeface="+mn-lt"/>
              </a:rPr>
              <a:t>()</a:t>
            </a:r>
          </a:p>
          <a:p>
            <a:pPr marL="0" indent="0">
              <a:buNone/>
            </a:pP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3414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6E4B-099C-46AE-B153-86EEA887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2ACE-080C-426C-9F99-B69FB633E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>
                <a:latin typeface="+mn-lt"/>
              </a:rPr>
              <a:t>except </a:t>
            </a:r>
            <a:r>
              <a:rPr lang="en-IN" sz="1800" dirty="0" err="1">
                <a:latin typeface="+mn-lt"/>
              </a:rPr>
              <a:t>mysql.connector.Error</a:t>
            </a:r>
            <a:r>
              <a:rPr lang="en-IN" sz="1800" dirty="0">
                <a:latin typeface="+mn-lt"/>
              </a:rPr>
              <a:t> as error :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print("Failed to update record to database rollback: {}".format(error))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#reverting changes because of exception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</a:t>
            </a:r>
            <a:r>
              <a:rPr lang="en-IN" sz="1800" dirty="0" err="1">
                <a:latin typeface="+mn-lt"/>
              </a:rPr>
              <a:t>conn.rollback</a:t>
            </a:r>
            <a:r>
              <a:rPr lang="en-IN" sz="1800" dirty="0"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finally: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#closing database connection.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if(</a:t>
            </a:r>
            <a:r>
              <a:rPr lang="en-IN" sz="1800" dirty="0" err="1">
                <a:latin typeface="+mn-lt"/>
              </a:rPr>
              <a:t>conn.is_connected</a:t>
            </a:r>
            <a:r>
              <a:rPr lang="en-IN" sz="1800" dirty="0">
                <a:latin typeface="+mn-lt"/>
              </a:rPr>
              <a:t>()):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    </a:t>
            </a:r>
            <a:r>
              <a:rPr lang="en-IN" sz="1800" dirty="0" err="1">
                <a:latin typeface="+mn-lt"/>
              </a:rPr>
              <a:t>cursor.close</a:t>
            </a:r>
            <a:r>
              <a:rPr lang="en-IN" sz="1800" dirty="0"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    </a:t>
            </a:r>
            <a:r>
              <a:rPr lang="en-IN" sz="1800" dirty="0" err="1">
                <a:latin typeface="+mn-lt"/>
              </a:rPr>
              <a:t>conn.close</a:t>
            </a:r>
            <a:r>
              <a:rPr lang="en-IN" sz="1800" dirty="0"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        print("connection is closed")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470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E2DF-B86B-48C5-8AE0-3FC27D08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exceptions in database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E3070-C707-4734-B93E-A0DA5DEC2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two levels of error message severity in MySQL.</a:t>
            </a:r>
          </a:p>
          <a:p>
            <a:pPr marL="457200" indent="-457200">
              <a:buAutoNum type="arabicPeriod"/>
            </a:pPr>
            <a:r>
              <a:rPr lang="en-IN" dirty="0"/>
              <a:t>Error</a:t>
            </a:r>
          </a:p>
          <a:p>
            <a:pPr marL="457200" indent="-457200">
              <a:buAutoNum type="arabicPeriod"/>
            </a:pPr>
            <a:r>
              <a:rPr lang="en-IN" dirty="0"/>
              <a:t>Warning</a:t>
            </a:r>
          </a:p>
          <a:p>
            <a:pPr marL="0" indent="0">
              <a:buNone/>
            </a:pPr>
            <a:r>
              <a:rPr lang="en-IN" dirty="0"/>
              <a:t>An Error indicates a problem with query or command which prevented it from being executed.</a:t>
            </a:r>
          </a:p>
          <a:p>
            <a:pPr marL="0" indent="0">
              <a:buNone/>
            </a:pPr>
            <a:r>
              <a:rPr lang="en-IN" dirty="0"/>
              <a:t>Warning tells you some thing unexpected has happened that could cause problem down the line, but it is not severe enough to stop the statement from being executed.</a:t>
            </a:r>
          </a:p>
        </p:txBody>
      </p:sp>
    </p:spTree>
    <p:extLst>
      <p:ext uri="{BB962C8B-B14F-4D97-AF65-F5344CB8AC3E}">
        <p14:creationId xmlns:p14="http://schemas.microsoft.com/office/powerpoint/2010/main" val="3876644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E772-098D-4A6D-803E-3771497C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codes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3D05-CE8E-4CD4-8DC6-563038A6C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Errors and warnings in MySQL contains three pieces of information:</a:t>
            </a:r>
          </a:p>
          <a:p>
            <a:r>
              <a:rPr lang="en-IN" dirty="0"/>
              <a:t>There are hundreds of MySQL-specific error codes. Fortunately, you don't need to memorize them as the </a:t>
            </a:r>
            <a:r>
              <a:rPr lang="en-IN" b="1" i="0" dirty="0" err="1">
                <a:solidFill>
                  <a:srgbClr val="FFC000"/>
                </a:solidFill>
                <a:effectLst/>
                <a:latin typeface="Menlo"/>
              </a:rPr>
              <a:t>mysql.connector.errorcode</a:t>
            </a:r>
            <a:r>
              <a:rPr lang="en-IN" b="1" i="0" dirty="0">
                <a:solidFill>
                  <a:srgbClr val="FFC000"/>
                </a:solidFill>
                <a:effectLst/>
                <a:latin typeface="Menlo"/>
              </a:rPr>
              <a:t> </a:t>
            </a:r>
            <a:r>
              <a:rPr lang="en-IN" i="0" dirty="0">
                <a:effectLst/>
                <a:latin typeface="+mn-lt"/>
              </a:rPr>
              <a:t>module contains all the MySQL-specific error codes.</a:t>
            </a:r>
          </a:p>
          <a:p>
            <a:endParaRPr lang="en-IN" i="0" dirty="0">
              <a:effectLst/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977C0B-C702-4FF0-863E-47EBB0BAC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468" y="3654936"/>
            <a:ext cx="41214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mysql.connector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enlo"/>
              </a:rPr>
              <a:t>import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errorcode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829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9BCC-1E77-430D-A956-6CC0DEB0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Exceptions Classes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9BB7C-401D-4182-A99B-F67A60C09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the exception classes for dealing with error and warnings are defined in </a:t>
            </a:r>
            <a:r>
              <a:rPr lang="en-IN" b="1" i="0" dirty="0" err="1">
                <a:solidFill>
                  <a:srgbClr val="FFC000"/>
                </a:solidFill>
                <a:effectLst/>
                <a:latin typeface="Menlo"/>
              </a:rPr>
              <a:t>mysql.connector.errors</a:t>
            </a:r>
            <a:r>
              <a:rPr lang="en-IN" b="1" i="0" dirty="0">
                <a:solidFill>
                  <a:srgbClr val="FFC000"/>
                </a:solidFill>
                <a:effectLst/>
                <a:latin typeface="Menlo"/>
              </a:rPr>
              <a:t> </a:t>
            </a:r>
            <a:r>
              <a:rPr lang="en-IN" i="0" dirty="0">
                <a:effectLst/>
                <a:latin typeface="Menlo"/>
              </a:rPr>
              <a:t>module.</a:t>
            </a:r>
          </a:p>
          <a:p>
            <a:r>
              <a:rPr lang="en-IN" dirty="0"/>
              <a:t>The </a:t>
            </a:r>
            <a:r>
              <a:rPr lang="en-IN" b="1" i="0" dirty="0" err="1">
                <a:solidFill>
                  <a:srgbClr val="FFC000"/>
                </a:solidFill>
                <a:effectLst/>
                <a:latin typeface="Menlo"/>
              </a:rPr>
              <a:t>mysql.connector.errors.Error</a:t>
            </a:r>
            <a:r>
              <a:rPr lang="en-IN" b="1" i="0" dirty="0">
                <a:solidFill>
                  <a:srgbClr val="FFC000"/>
                </a:solidFill>
                <a:effectLst/>
                <a:latin typeface="Menlo"/>
              </a:rPr>
              <a:t> </a:t>
            </a:r>
            <a:r>
              <a:rPr lang="en-IN" b="0" i="0" dirty="0">
                <a:effectLst/>
                <a:latin typeface="Open Sans"/>
              </a:rPr>
              <a:t>is the base class for all the other exceptions. We can use it to catch any kind of exception.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5215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2035</TotalTime>
  <Words>2285</Words>
  <Application>Microsoft Office PowerPoint</Application>
  <PresentationFormat>Widescreen</PresentationFormat>
  <Paragraphs>244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Century Gothic</vt:lpstr>
      <vt:lpstr>Consolas</vt:lpstr>
      <vt:lpstr>Courier New</vt:lpstr>
      <vt:lpstr>Liberation Mono</vt:lpstr>
      <vt:lpstr>Menlo</vt:lpstr>
      <vt:lpstr>Open Sans</vt:lpstr>
      <vt:lpstr>Segoe UI</vt:lpstr>
      <vt:lpstr>Verdana</vt:lpstr>
      <vt:lpstr>Wingdings 3</vt:lpstr>
      <vt:lpstr>Ion</vt:lpstr>
      <vt:lpstr>Database Connectivity in Python</vt:lpstr>
      <vt:lpstr>Introduction </vt:lpstr>
      <vt:lpstr>Installing MySQL Connector/Python</vt:lpstr>
      <vt:lpstr>Establish connection with MySQL</vt:lpstr>
      <vt:lpstr>PowerPoint Presentation</vt:lpstr>
      <vt:lpstr>PowerPoint Presentation</vt:lpstr>
      <vt:lpstr>Creating database</vt:lpstr>
      <vt:lpstr>Display all available databases using fetchall()</vt:lpstr>
      <vt:lpstr>Display all available databases using for loop</vt:lpstr>
      <vt:lpstr>Use database</vt:lpstr>
      <vt:lpstr>OR</vt:lpstr>
      <vt:lpstr>Directly providing database name in connect</vt:lpstr>
      <vt:lpstr>To check if any table exist in the database</vt:lpstr>
      <vt:lpstr>Creating a table</vt:lpstr>
      <vt:lpstr>Alter table command</vt:lpstr>
      <vt:lpstr>Inserting data and displaying it</vt:lpstr>
      <vt:lpstr>Example </vt:lpstr>
      <vt:lpstr>Updating the table</vt:lpstr>
      <vt:lpstr>PowerPoint Presentation</vt:lpstr>
      <vt:lpstr>PowerPoint Presentation</vt:lpstr>
      <vt:lpstr>Deleting records</vt:lpstr>
      <vt:lpstr>PowerPoint Presentation</vt:lpstr>
      <vt:lpstr>Reading single &amp; multiple results of query execution- SELECT statement</vt:lpstr>
      <vt:lpstr>Sorting – asc/desc</vt:lpstr>
      <vt:lpstr>Pattern matching(LIKE operator)</vt:lpstr>
      <vt:lpstr>Deleting a table</vt:lpstr>
      <vt:lpstr>Deleting a database</vt:lpstr>
      <vt:lpstr>Queries for student table</vt:lpstr>
      <vt:lpstr>Practical 2(a)</vt:lpstr>
      <vt:lpstr>Practical 2(b)- Use EMP table</vt:lpstr>
      <vt:lpstr>Executing transactions</vt:lpstr>
      <vt:lpstr>Python MySQL Commit(), rollback() and setAutoCommit() to manage transactions</vt:lpstr>
      <vt:lpstr>PowerPoint Presentation</vt:lpstr>
      <vt:lpstr>MySQL</vt:lpstr>
      <vt:lpstr>PowerPoint Presentation</vt:lpstr>
      <vt:lpstr>PowerPoint Presentation</vt:lpstr>
      <vt:lpstr>Understanding exceptions in database connectivity</vt:lpstr>
      <vt:lpstr>Error codes </vt:lpstr>
      <vt:lpstr>Exceptions Classes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Connectivity in Python</dc:title>
  <dc:creator>Prathamesh Bagwe</dc:creator>
  <cp:lastModifiedBy>VISHAKHA BAGWE</cp:lastModifiedBy>
  <cp:revision>70</cp:revision>
  <dcterms:created xsi:type="dcterms:W3CDTF">2021-02-02T14:42:41Z</dcterms:created>
  <dcterms:modified xsi:type="dcterms:W3CDTF">2023-03-30T17:52:44Z</dcterms:modified>
</cp:coreProperties>
</file>